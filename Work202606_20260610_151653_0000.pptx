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Arial Unicode Bold" charset="1" panose="020B0704020202020204"/>
      <p:regular r:id="rId15"/>
    </p:embeddedFont>
    <p:embeddedFont>
      <p:font typeface="Open Sans Bold" charset="1" panose="00000000000000000000"/>
      <p:regular r:id="rId16"/>
    </p:embeddedFont>
    <p:embeddedFont>
      <p:font typeface="Open Sans" charset="1" panose="000000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png" Type="http://schemas.openxmlformats.org/officeDocument/2006/relationships/image"/><Relationship Id="rId12" Target="../media/image2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22.png" Type="http://schemas.openxmlformats.org/officeDocument/2006/relationships/image"/><Relationship Id="rId7" Target="../media/image3.png" Type="http://schemas.openxmlformats.org/officeDocument/2006/relationships/image"/><Relationship Id="rId8"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6.png" Type="http://schemas.openxmlformats.org/officeDocument/2006/relationships/image"/><Relationship Id="rId8" Target="../media/image2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11" Target="../media/image28.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24.pn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29.png" Type="http://schemas.openxmlformats.org/officeDocument/2006/relationships/image"/><Relationship Id="rId8" Target="../media/image30.png" Type="http://schemas.openxmlformats.org/officeDocument/2006/relationships/image"/><Relationship Id="rId9" Target="../media/image3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svg" Type="http://schemas.openxmlformats.org/officeDocument/2006/relationships/image"/><Relationship Id="rId2" Target="../media/image33.png" Type="http://schemas.openxmlformats.org/officeDocument/2006/relationships/image"/><Relationship Id="rId3" Target="../media/image34.png" Type="http://schemas.openxmlformats.org/officeDocument/2006/relationships/image"/><Relationship Id="rId4" Target="../media/image35.png" Type="http://schemas.openxmlformats.org/officeDocument/2006/relationships/image"/><Relationship Id="rId5" Target="../media/image6.png" Type="http://schemas.openxmlformats.org/officeDocument/2006/relationships/image"/><Relationship Id="rId6" Target="../media/image36.png" Type="http://schemas.openxmlformats.org/officeDocument/2006/relationships/image"/><Relationship Id="rId7" Target="../media/image37.png" Type="http://schemas.openxmlformats.org/officeDocument/2006/relationships/image"/><Relationship Id="rId8" Target="../media/image38.png" Type="http://schemas.openxmlformats.org/officeDocument/2006/relationships/image"/><Relationship Id="rId9"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3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40.png" Type="http://schemas.openxmlformats.org/officeDocument/2006/relationships/image"/><Relationship Id="rId9" Target="../media/image4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345479" y="5192036"/>
            <a:ext cx="31045746" cy="5574178"/>
          </a:xfrm>
          <a:custGeom>
            <a:avLst/>
            <a:gdLst/>
            <a:ahLst/>
            <a:cxnLst/>
            <a:rect r="r" b="b" t="t" l="l"/>
            <a:pathLst>
              <a:path h="5574178" w="31045746">
                <a:moveTo>
                  <a:pt x="0" y="0"/>
                </a:moveTo>
                <a:lnTo>
                  <a:pt x="31045746" y="0"/>
                </a:lnTo>
                <a:lnTo>
                  <a:pt x="31045746" y="5574178"/>
                </a:lnTo>
                <a:lnTo>
                  <a:pt x="0" y="5574178"/>
                </a:lnTo>
                <a:lnTo>
                  <a:pt x="0"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846065" y="6966906"/>
            <a:ext cx="2826469" cy="2966714"/>
          </a:xfrm>
          <a:custGeom>
            <a:avLst/>
            <a:gdLst/>
            <a:ahLst/>
            <a:cxnLst/>
            <a:rect r="r" b="b" t="t" l="l"/>
            <a:pathLst>
              <a:path h="2966714" w="2826469">
                <a:moveTo>
                  <a:pt x="0" y="0"/>
                </a:moveTo>
                <a:lnTo>
                  <a:pt x="2826470" y="0"/>
                </a:lnTo>
                <a:lnTo>
                  <a:pt x="2826470" y="2966714"/>
                </a:lnTo>
                <a:lnTo>
                  <a:pt x="0" y="2966714"/>
                </a:lnTo>
                <a:lnTo>
                  <a:pt x="0" y="0"/>
                </a:lnTo>
                <a:close/>
              </a:path>
            </a:pathLst>
          </a:custGeom>
          <a:blipFill>
            <a:blip r:embed="rId4">
              <a:alphaModFix amt="28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74553">
            <a:off x="-2850713" y="-2627802"/>
            <a:ext cx="10935162" cy="16994145"/>
          </a:xfrm>
          <a:custGeom>
            <a:avLst/>
            <a:gdLst/>
            <a:ahLst/>
            <a:cxnLst/>
            <a:rect r="r" b="b" t="t" l="l"/>
            <a:pathLst>
              <a:path h="16994145" w="10935162">
                <a:moveTo>
                  <a:pt x="0" y="0"/>
                </a:moveTo>
                <a:lnTo>
                  <a:pt x="10935163" y="0"/>
                </a:lnTo>
                <a:lnTo>
                  <a:pt x="10935163" y="16994146"/>
                </a:lnTo>
                <a:lnTo>
                  <a:pt x="0" y="16994146"/>
                </a:lnTo>
                <a:lnTo>
                  <a:pt x="0" y="0"/>
                </a:lnTo>
                <a:close/>
              </a:path>
            </a:pathLst>
          </a:custGeom>
          <a:blipFill>
            <a:blip r:embed="rId6"/>
            <a:stretch>
              <a:fillRect l="0" t="-46772" r="-34767" b="0"/>
            </a:stretch>
          </a:blipFill>
        </p:spPr>
      </p:sp>
      <p:sp>
        <p:nvSpPr>
          <p:cNvPr name="Freeform 5" id="5"/>
          <p:cNvSpPr/>
          <p:nvPr/>
        </p:nvSpPr>
        <p:spPr>
          <a:xfrm flipH="false" flipV="false" rot="0">
            <a:off x="4963683" y="401259"/>
            <a:ext cx="3242997" cy="3403909"/>
          </a:xfrm>
          <a:custGeom>
            <a:avLst/>
            <a:gdLst/>
            <a:ahLst/>
            <a:cxnLst/>
            <a:rect r="r" b="b" t="t" l="l"/>
            <a:pathLst>
              <a:path h="3403909" w="3242997">
                <a:moveTo>
                  <a:pt x="0" y="0"/>
                </a:moveTo>
                <a:lnTo>
                  <a:pt x="3242997" y="0"/>
                </a:lnTo>
                <a:lnTo>
                  <a:pt x="3242997" y="3403909"/>
                </a:lnTo>
                <a:lnTo>
                  <a:pt x="0" y="3403909"/>
                </a:lnTo>
                <a:lnTo>
                  <a:pt x="0" y="0"/>
                </a:lnTo>
                <a:close/>
              </a:path>
            </a:pathLst>
          </a:custGeom>
          <a:blipFill>
            <a:blip r:embed="rId4">
              <a:alphaModFix amt="28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true" rot="2506068">
            <a:off x="-667528" y="-4359305"/>
            <a:ext cx="6126527" cy="9521129"/>
          </a:xfrm>
          <a:custGeom>
            <a:avLst/>
            <a:gdLst/>
            <a:ahLst/>
            <a:cxnLst/>
            <a:rect r="r" b="b" t="t" l="l"/>
            <a:pathLst>
              <a:path h="9521129" w="6126527">
                <a:moveTo>
                  <a:pt x="0" y="9521128"/>
                </a:moveTo>
                <a:lnTo>
                  <a:pt x="6126527" y="9521128"/>
                </a:lnTo>
                <a:lnTo>
                  <a:pt x="6126527" y="0"/>
                </a:lnTo>
                <a:lnTo>
                  <a:pt x="0" y="0"/>
                </a:lnTo>
                <a:lnTo>
                  <a:pt x="0" y="9521128"/>
                </a:lnTo>
                <a:close/>
              </a:path>
            </a:pathLst>
          </a:custGeom>
          <a:blipFill>
            <a:blip r:embed="rId6"/>
            <a:stretch>
              <a:fillRect l="0" t="-46772" r="-34767" b="0"/>
            </a:stretch>
          </a:blipFill>
        </p:spPr>
      </p:sp>
      <p:sp>
        <p:nvSpPr>
          <p:cNvPr name="Freeform 7" id="7"/>
          <p:cNvSpPr/>
          <p:nvPr/>
        </p:nvSpPr>
        <p:spPr>
          <a:xfrm flipH="false" flipV="false" rot="0">
            <a:off x="-495368" y="1028700"/>
            <a:ext cx="8496974" cy="8481525"/>
          </a:xfrm>
          <a:custGeom>
            <a:avLst/>
            <a:gdLst/>
            <a:ahLst/>
            <a:cxnLst/>
            <a:rect r="r" b="b" t="t" l="l"/>
            <a:pathLst>
              <a:path h="8481525" w="8496974">
                <a:moveTo>
                  <a:pt x="0" y="0"/>
                </a:moveTo>
                <a:lnTo>
                  <a:pt x="8496974" y="0"/>
                </a:lnTo>
                <a:lnTo>
                  <a:pt x="8496974" y="8481525"/>
                </a:lnTo>
                <a:lnTo>
                  <a:pt x="0" y="8481525"/>
                </a:lnTo>
                <a:lnTo>
                  <a:pt x="0" y="0"/>
                </a:lnTo>
                <a:close/>
              </a:path>
            </a:pathLst>
          </a:custGeom>
          <a:blipFill>
            <a:blip r:embed="rId7"/>
            <a:stretch>
              <a:fillRect l="0" t="0" r="0" b="0"/>
            </a:stretch>
          </a:blipFill>
        </p:spPr>
      </p:sp>
      <p:grpSp>
        <p:nvGrpSpPr>
          <p:cNvPr name="Group 8" id="8"/>
          <p:cNvGrpSpPr/>
          <p:nvPr/>
        </p:nvGrpSpPr>
        <p:grpSpPr>
          <a:xfrm rot="0">
            <a:off x="110739" y="1549656"/>
            <a:ext cx="7284760" cy="728476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68B23">
                    <a:alpha val="100000"/>
                  </a:srgbClr>
                </a:gs>
                <a:gs pos="50000">
                  <a:srgbClr val="FBA911">
                    <a:alpha val="100000"/>
                  </a:srgbClr>
                </a:gs>
                <a:gs pos="100000">
                  <a:srgbClr val="FFD950">
                    <a:alpha val="100000"/>
                  </a:srgbClr>
                </a:gs>
              </a:gsLst>
              <a:lin ang="0"/>
            </a:gra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5400000">
            <a:off x="415473" y="1854391"/>
            <a:ext cx="6675291" cy="667529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68B23">
                    <a:alpha val="100000"/>
                  </a:srgbClr>
                </a:gs>
                <a:gs pos="50000">
                  <a:srgbClr val="FBA911">
                    <a:alpha val="100000"/>
                  </a:srgbClr>
                </a:gs>
                <a:gs pos="100000">
                  <a:srgbClr val="FFD950">
                    <a:alpha val="100000"/>
                  </a:srgbClr>
                </a:gs>
              </a:gsLst>
              <a:lin ang="0"/>
            </a:gra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4" id="14"/>
          <p:cNvGrpSpPr/>
          <p:nvPr/>
        </p:nvGrpSpPr>
        <p:grpSpPr>
          <a:xfrm rot="0">
            <a:off x="661303" y="2100220"/>
            <a:ext cx="6183633" cy="6183633"/>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l="0" t="0" r="0" b="0"/>
              </a:stretch>
            </a:blipFill>
          </p:spPr>
        </p:sp>
      </p:grpSp>
      <p:sp>
        <p:nvSpPr>
          <p:cNvPr name="Freeform 16" id="16"/>
          <p:cNvSpPr/>
          <p:nvPr/>
        </p:nvSpPr>
        <p:spPr>
          <a:xfrm flipH="false" flipV="false" rot="0">
            <a:off x="4146975" y="5642256"/>
            <a:ext cx="4423171" cy="4415129"/>
          </a:xfrm>
          <a:custGeom>
            <a:avLst/>
            <a:gdLst/>
            <a:ahLst/>
            <a:cxnLst/>
            <a:rect r="r" b="b" t="t" l="l"/>
            <a:pathLst>
              <a:path h="4415129" w="4423171">
                <a:moveTo>
                  <a:pt x="0" y="0"/>
                </a:moveTo>
                <a:lnTo>
                  <a:pt x="4423171" y="0"/>
                </a:lnTo>
                <a:lnTo>
                  <a:pt x="4423171" y="4415129"/>
                </a:lnTo>
                <a:lnTo>
                  <a:pt x="0" y="4415129"/>
                </a:lnTo>
                <a:lnTo>
                  <a:pt x="0" y="0"/>
                </a:lnTo>
                <a:close/>
              </a:path>
            </a:pathLst>
          </a:custGeom>
          <a:blipFill>
            <a:blip r:embed="rId7"/>
            <a:stretch>
              <a:fillRect l="0" t="0" r="0" b="0"/>
            </a:stretch>
          </a:blipFill>
        </p:spPr>
      </p:sp>
      <p:grpSp>
        <p:nvGrpSpPr>
          <p:cNvPr name="Group 17" id="17"/>
          <p:cNvGrpSpPr/>
          <p:nvPr/>
        </p:nvGrpSpPr>
        <p:grpSpPr>
          <a:xfrm rot="0">
            <a:off x="4510442" y="5962416"/>
            <a:ext cx="3696238" cy="3696238"/>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68B23">
                    <a:alpha val="100000"/>
                  </a:srgbClr>
                </a:gs>
                <a:gs pos="50000">
                  <a:srgbClr val="FBA911">
                    <a:alpha val="100000"/>
                  </a:srgbClr>
                </a:gs>
                <a:gs pos="100000">
                  <a:srgbClr val="FFD950">
                    <a:alpha val="100000"/>
                  </a:srgbClr>
                </a:gs>
              </a:gsLst>
              <a:lin ang="0"/>
            </a:gra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0" id="20"/>
          <p:cNvGrpSpPr/>
          <p:nvPr/>
        </p:nvGrpSpPr>
        <p:grpSpPr>
          <a:xfrm rot="5400000">
            <a:off x="4665062" y="6117037"/>
            <a:ext cx="3386997" cy="3386997"/>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68B23">
                    <a:alpha val="100000"/>
                  </a:srgbClr>
                </a:gs>
                <a:gs pos="50000">
                  <a:srgbClr val="FBA911">
                    <a:alpha val="100000"/>
                  </a:srgbClr>
                </a:gs>
                <a:gs pos="100000">
                  <a:srgbClr val="FFD950">
                    <a:alpha val="100000"/>
                  </a:srgbClr>
                </a:gs>
              </a:gsLst>
              <a:lin ang="0"/>
            </a:gra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3" id="23"/>
          <p:cNvGrpSpPr/>
          <p:nvPr/>
        </p:nvGrpSpPr>
        <p:grpSpPr>
          <a:xfrm rot="0">
            <a:off x="4789794" y="6241769"/>
            <a:ext cx="3137533" cy="3137533"/>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9"/>
              <a:stretch>
                <a:fillRect l="0" t="0" r="0" b="0"/>
              </a:stretch>
            </a:blipFill>
          </p:spPr>
        </p:sp>
      </p:grpSp>
      <p:sp>
        <p:nvSpPr>
          <p:cNvPr name="Freeform 25" id="25"/>
          <p:cNvSpPr/>
          <p:nvPr/>
        </p:nvSpPr>
        <p:spPr>
          <a:xfrm flipH="false" flipV="false" rot="0">
            <a:off x="16627134" y="1028700"/>
            <a:ext cx="632166" cy="589878"/>
          </a:xfrm>
          <a:custGeom>
            <a:avLst/>
            <a:gdLst/>
            <a:ahLst/>
            <a:cxnLst/>
            <a:rect r="r" b="b" t="t" l="l"/>
            <a:pathLst>
              <a:path h="589878" w="632166">
                <a:moveTo>
                  <a:pt x="0" y="0"/>
                </a:moveTo>
                <a:lnTo>
                  <a:pt x="632166" y="0"/>
                </a:lnTo>
                <a:lnTo>
                  <a:pt x="632166" y="589878"/>
                </a:lnTo>
                <a:lnTo>
                  <a:pt x="0" y="58987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6" id="26"/>
          <p:cNvGrpSpPr/>
          <p:nvPr/>
        </p:nvGrpSpPr>
        <p:grpSpPr>
          <a:xfrm rot="0">
            <a:off x="12177627" y="8450263"/>
            <a:ext cx="8899014" cy="808037"/>
            <a:chOff x="0" y="0"/>
            <a:chExt cx="4475736" cy="406400"/>
          </a:xfrm>
        </p:grpSpPr>
        <p:sp>
          <p:nvSpPr>
            <p:cNvPr name="Freeform 27" id="27"/>
            <p:cNvSpPr/>
            <p:nvPr/>
          </p:nvSpPr>
          <p:spPr>
            <a:xfrm flipH="false" flipV="false" rot="0">
              <a:off x="0" y="0"/>
              <a:ext cx="4475736" cy="406400"/>
            </a:xfrm>
            <a:custGeom>
              <a:avLst/>
              <a:gdLst/>
              <a:ahLst/>
              <a:cxnLst/>
              <a:rect r="r" b="b" t="t" l="l"/>
              <a:pathLst>
                <a:path h="406400" w="4475736">
                  <a:moveTo>
                    <a:pt x="4272536" y="0"/>
                  </a:moveTo>
                  <a:cubicBezTo>
                    <a:pt x="4384760" y="0"/>
                    <a:pt x="4475736" y="90976"/>
                    <a:pt x="4475736" y="203200"/>
                  </a:cubicBezTo>
                  <a:cubicBezTo>
                    <a:pt x="4475736" y="315424"/>
                    <a:pt x="4384760" y="406400"/>
                    <a:pt x="4272536"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68B23">
                    <a:alpha val="100000"/>
                  </a:srgbClr>
                </a:gs>
                <a:gs pos="50000">
                  <a:srgbClr val="FBA911">
                    <a:alpha val="100000"/>
                  </a:srgbClr>
                </a:gs>
                <a:gs pos="100000">
                  <a:srgbClr val="FFD950">
                    <a:alpha val="100000"/>
                  </a:srgbClr>
                </a:gs>
              </a:gsLst>
              <a:lin ang="0"/>
            </a:gradFill>
          </p:spPr>
        </p:sp>
        <p:sp>
          <p:nvSpPr>
            <p:cNvPr name="TextBox 28" id="28"/>
            <p:cNvSpPr txBox="true"/>
            <p:nvPr/>
          </p:nvSpPr>
          <p:spPr>
            <a:xfrm>
              <a:off x="0" y="-38100"/>
              <a:ext cx="4475736" cy="444500"/>
            </a:xfrm>
            <a:prstGeom prst="rect">
              <a:avLst/>
            </a:prstGeom>
          </p:spPr>
          <p:txBody>
            <a:bodyPr anchor="ctr" rtlCol="false" tIns="50800" lIns="50800" bIns="50800" rIns="50800"/>
            <a:lstStyle/>
            <a:p>
              <a:pPr algn="ctr" marL="0" indent="0" lvl="0">
                <a:lnSpc>
                  <a:spcPts val="2659"/>
                </a:lnSpc>
              </a:pPr>
            </a:p>
          </p:txBody>
        </p:sp>
      </p:grpSp>
      <p:sp>
        <p:nvSpPr>
          <p:cNvPr name="Freeform 29" id="29"/>
          <p:cNvSpPr/>
          <p:nvPr/>
        </p:nvSpPr>
        <p:spPr>
          <a:xfrm flipH="false" flipV="false" rot="0">
            <a:off x="16722203" y="8565868"/>
            <a:ext cx="537097" cy="537097"/>
          </a:xfrm>
          <a:custGeom>
            <a:avLst/>
            <a:gdLst/>
            <a:ahLst/>
            <a:cxnLst/>
            <a:rect r="r" b="b" t="t" l="l"/>
            <a:pathLst>
              <a:path h="537097" w="537097">
                <a:moveTo>
                  <a:pt x="0" y="0"/>
                </a:moveTo>
                <a:lnTo>
                  <a:pt x="537097" y="0"/>
                </a:lnTo>
                <a:lnTo>
                  <a:pt x="537097" y="537097"/>
                </a:lnTo>
                <a:lnTo>
                  <a:pt x="0" y="53709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0" id="30"/>
          <p:cNvSpPr/>
          <p:nvPr/>
        </p:nvSpPr>
        <p:spPr>
          <a:xfrm flipH="false" flipV="false" rot="0">
            <a:off x="9394718" y="7810535"/>
            <a:ext cx="717894" cy="719146"/>
          </a:xfrm>
          <a:custGeom>
            <a:avLst/>
            <a:gdLst/>
            <a:ahLst/>
            <a:cxnLst/>
            <a:rect r="r" b="b" t="t" l="l"/>
            <a:pathLst>
              <a:path h="719146" w="717894">
                <a:moveTo>
                  <a:pt x="0" y="0"/>
                </a:moveTo>
                <a:lnTo>
                  <a:pt x="717895" y="0"/>
                </a:lnTo>
                <a:lnTo>
                  <a:pt x="717895" y="719147"/>
                </a:lnTo>
                <a:lnTo>
                  <a:pt x="0" y="719147"/>
                </a:lnTo>
                <a:lnTo>
                  <a:pt x="0" y="0"/>
                </a:lnTo>
                <a:close/>
              </a:path>
            </a:pathLst>
          </a:custGeom>
          <a:blipFill>
            <a:blip r:embed="rId14">
              <a:extLst>
                <a:ext uri="{96DAC541-7B7A-43D3-8B79-37D633B846F1}">
                  <asvg:svgBlip xmlns:asvg="http://schemas.microsoft.com/office/drawing/2016/SVG/main" r:embed="rId15"/>
                </a:ext>
              </a:extLst>
            </a:blip>
            <a:stretch>
              <a:fillRect l="0" t="0" r="-109190" b="-110355"/>
            </a:stretch>
          </a:blipFill>
        </p:spPr>
      </p:sp>
      <p:sp>
        <p:nvSpPr>
          <p:cNvPr name="Freeform 31" id="31"/>
          <p:cNvSpPr/>
          <p:nvPr/>
        </p:nvSpPr>
        <p:spPr>
          <a:xfrm flipH="false" flipV="false" rot="0">
            <a:off x="10112613" y="1890217"/>
            <a:ext cx="1723909" cy="210003"/>
          </a:xfrm>
          <a:custGeom>
            <a:avLst/>
            <a:gdLst/>
            <a:ahLst/>
            <a:cxnLst/>
            <a:rect r="r" b="b" t="t" l="l"/>
            <a:pathLst>
              <a:path h="210003" w="1723909">
                <a:moveTo>
                  <a:pt x="0" y="0"/>
                </a:moveTo>
                <a:lnTo>
                  <a:pt x="1723909" y="0"/>
                </a:lnTo>
                <a:lnTo>
                  <a:pt x="1723909" y="210003"/>
                </a:lnTo>
                <a:lnTo>
                  <a:pt x="0" y="21000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32" id="32"/>
          <p:cNvGrpSpPr/>
          <p:nvPr/>
        </p:nvGrpSpPr>
        <p:grpSpPr>
          <a:xfrm rot="0">
            <a:off x="14056485" y="4798696"/>
            <a:ext cx="3202815" cy="1443073"/>
            <a:chOff x="0" y="0"/>
            <a:chExt cx="843540" cy="380069"/>
          </a:xfrm>
        </p:grpSpPr>
        <p:sp>
          <p:nvSpPr>
            <p:cNvPr name="Freeform 33" id="33"/>
            <p:cNvSpPr/>
            <p:nvPr/>
          </p:nvSpPr>
          <p:spPr>
            <a:xfrm flipH="false" flipV="false" rot="0">
              <a:off x="0" y="0"/>
              <a:ext cx="843540" cy="380069"/>
            </a:xfrm>
            <a:custGeom>
              <a:avLst/>
              <a:gdLst/>
              <a:ahLst/>
              <a:cxnLst/>
              <a:rect r="r" b="b" t="t" l="l"/>
              <a:pathLst>
                <a:path h="380069" w="843540">
                  <a:moveTo>
                    <a:pt x="43510" y="0"/>
                  </a:moveTo>
                  <a:lnTo>
                    <a:pt x="800030" y="0"/>
                  </a:lnTo>
                  <a:cubicBezTo>
                    <a:pt x="824060" y="0"/>
                    <a:pt x="843540" y="19480"/>
                    <a:pt x="843540" y="43510"/>
                  </a:cubicBezTo>
                  <a:lnTo>
                    <a:pt x="843540" y="336559"/>
                  </a:lnTo>
                  <a:cubicBezTo>
                    <a:pt x="843540" y="360589"/>
                    <a:pt x="824060" y="380069"/>
                    <a:pt x="800030" y="380069"/>
                  </a:cubicBezTo>
                  <a:lnTo>
                    <a:pt x="43510" y="380069"/>
                  </a:lnTo>
                  <a:cubicBezTo>
                    <a:pt x="31970" y="380069"/>
                    <a:pt x="20904" y="375485"/>
                    <a:pt x="12744" y="367325"/>
                  </a:cubicBezTo>
                  <a:cubicBezTo>
                    <a:pt x="4584" y="359165"/>
                    <a:pt x="0" y="348098"/>
                    <a:pt x="0" y="336559"/>
                  </a:cubicBezTo>
                  <a:lnTo>
                    <a:pt x="0" y="43510"/>
                  </a:lnTo>
                  <a:cubicBezTo>
                    <a:pt x="0" y="19480"/>
                    <a:pt x="19480" y="0"/>
                    <a:pt x="43510" y="0"/>
                  </a:cubicBezTo>
                  <a:close/>
                </a:path>
              </a:pathLst>
            </a:custGeom>
            <a:gradFill rotWithShape="true">
              <a:gsLst>
                <a:gs pos="0">
                  <a:srgbClr val="FF6C25">
                    <a:alpha val="100000"/>
                  </a:srgbClr>
                </a:gs>
                <a:gs pos="100000">
                  <a:srgbClr val="F89C22">
                    <a:alpha val="100000"/>
                  </a:srgbClr>
                </a:gs>
              </a:gsLst>
              <a:lin ang="0"/>
            </a:gradFill>
          </p:spPr>
        </p:sp>
        <p:sp>
          <p:nvSpPr>
            <p:cNvPr name="TextBox 34" id="34"/>
            <p:cNvSpPr txBox="true"/>
            <p:nvPr/>
          </p:nvSpPr>
          <p:spPr>
            <a:xfrm>
              <a:off x="0" y="-38100"/>
              <a:ext cx="843540" cy="418169"/>
            </a:xfrm>
            <a:prstGeom prst="rect">
              <a:avLst/>
            </a:prstGeom>
          </p:spPr>
          <p:txBody>
            <a:bodyPr anchor="ctr" rtlCol="false" tIns="50800" lIns="50800" bIns="50800" rIns="50800"/>
            <a:lstStyle/>
            <a:p>
              <a:pPr algn="ctr" marL="0" indent="0" lvl="0">
                <a:lnSpc>
                  <a:spcPts val="2659"/>
                </a:lnSpc>
              </a:pPr>
            </a:p>
          </p:txBody>
        </p:sp>
      </p:grpSp>
      <p:sp>
        <p:nvSpPr>
          <p:cNvPr name="TextBox 35" id="35"/>
          <p:cNvSpPr txBox="true"/>
          <p:nvPr/>
        </p:nvSpPr>
        <p:spPr>
          <a:xfrm rot="0">
            <a:off x="9156325" y="3005856"/>
            <a:ext cx="8102975" cy="1285887"/>
          </a:xfrm>
          <a:prstGeom prst="rect">
            <a:avLst/>
          </a:prstGeom>
        </p:spPr>
        <p:txBody>
          <a:bodyPr anchor="t" rtlCol="false" tIns="0" lIns="0" bIns="0" rIns="0">
            <a:spAutoFit/>
          </a:bodyPr>
          <a:lstStyle/>
          <a:p>
            <a:pPr algn="r" marL="0" indent="0" lvl="0">
              <a:lnSpc>
                <a:spcPts val="9984"/>
              </a:lnSpc>
            </a:pPr>
            <a:r>
              <a:rPr lang="en-US" b="true" sz="8758" spc="-481">
                <a:solidFill>
                  <a:srgbClr val="F45D14"/>
                </a:solidFill>
                <a:latin typeface="Arial Unicode Bold"/>
                <a:ea typeface="Arial Unicode Bold"/>
                <a:cs typeface="Arial Unicode Bold"/>
                <a:sym typeface="Arial Unicode Bold"/>
              </a:rPr>
              <a:t>ARCHITECTURE</a:t>
            </a:r>
          </a:p>
        </p:txBody>
      </p:sp>
      <p:sp>
        <p:nvSpPr>
          <p:cNvPr name="TextBox 36" id="36"/>
          <p:cNvSpPr txBox="true"/>
          <p:nvPr/>
        </p:nvSpPr>
        <p:spPr>
          <a:xfrm rot="0">
            <a:off x="7851548" y="4612741"/>
            <a:ext cx="6076503" cy="1285887"/>
          </a:xfrm>
          <a:prstGeom prst="rect">
            <a:avLst/>
          </a:prstGeom>
        </p:spPr>
        <p:txBody>
          <a:bodyPr anchor="t" rtlCol="false" tIns="0" lIns="0" bIns="0" rIns="0">
            <a:spAutoFit/>
          </a:bodyPr>
          <a:lstStyle/>
          <a:p>
            <a:pPr algn="r" marL="0" indent="0" lvl="0">
              <a:lnSpc>
                <a:spcPts val="9984"/>
              </a:lnSpc>
            </a:pPr>
            <a:r>
              <a:rPr lang="en-US" b="true" sz="8758" spc="-481">
                <a:solidFill>
                  <a:srgbClr val="2F3D47"/>
                </a:solidFill>
                <a:latin typeface="Arial Unicode Bold"/>
                <a:ea typeface="Arial Unicode Bold"/>
                <a:cs typeface="Arial Unicode Bold"/>
                <a:sym typeface="Arial Unicode Bold"/>
              </a:rPr>
              <a:t>DESIGN</a:t>
            </a:r>
          </a:p>
        </p:txBody>
      </p:sp>
      <p:sp>
        <p:nvSpPr>
          <p:cNvPr name="TextBox 37" id="37"/>
          <p:cNvSpPr txBox="true"/>
          <p:nvPr/>
        </p:nvSpPr>
        <p:spPr>
          <a:xfrm rot="0">
            <a:off x="14180391" y="5022650"/>
            <a:ext cx="2955004" cy="1034978"/>
          </a:xfrm>
          <a:prstGeom prst="rect">
            <a:avLst/>
          </a:prstGeom>
        </p:spPr>
        <p:txBody>
          <a:bodyPr anchor="t" rtlCol="false" tIns="0" lIns="0" bIns="0" rIns="0">
            <a:spAutoFit/>
          </a:bodyPr>
          <a:lstStyle/>
          <a:p>
            <a:pPr algn="ctr" marL="0" indent="0" lvl="0">
              <a:lnSpc>
                <a:spcPts val="3997"/>
              </a:lnSpc>
            </a:pPr>
            <a:r>
              <a:rPr lang="en-US" b="true" sz="3997" spc="-143">
                <a:solidFill>
                  <a:srgbClr val="000000"/>
                </a:solidFill>
                <a:latin typeface="Open Sans Bold"/>
                <a:ea typeface="Open Sans Bold"/>
                <a:cs typeface="Open Sans Bold"/>
                <a:sym typeface="Open Sans Bold"/>
              </a:rPr>
              <a:t>BAWAG</a:t>
            </a:r>
          </a:p>
          <a:p>
            <a:pPr algn="ctr" marL="0" indent="0" lvl="0">
              <a:lnSpc>
                <a:spcPts val="3997"/>
              </a:lnSpc>
            </a:pPr>
            <a:r>
              <a:rPr lang="en-US" b="true" sz="3997" spc="-143">
                <a:solidFill>
                  <a:srgbClr val="000000"/>
                </a:solidFill>
                <a:latin typeface="Open Sans Bold"/>
                <a:ea typeface="Open Sans Bold"/>
                <a:cs typeface="Open Sans Bold"/>
                <a:sym typeface="Open Sans Bold"/>
              </a:rPr>
              <a:t>2025 - 2026</a:t>
            </a:r>
          </a:p>
        </p:txBody>
      </p:sp>
      <p:sp>
        <p:nvSpPr>
          <p:cNvPr name="TextBox 38" id="38"/>
          <p:cNvSpPr txBox="true"/>
          <p:nvPr/>
        </p:nvSpPr>
        <p:spPr>
          <a:xfrm rot="0">
            <a:off x="13263544" y="1088689"/>
            <a:ext cx="3222642" cy="789588"/>
          </a:xfrm>
          <a:prstGeom prst="rect">
            <a:avLst/>
          </a:prstGeom>
        </p:spPr>
        <p:txBody>
          <a:bodyPr anchor="t" rtlCol="false" tIns="0" lIns="0" bIns="0" rIns="0">
            <a:spAutoFit/>
          </a:bodyPr>
          <a:lstStyle/>
          <a:p>
            <a:pPr algn="r" marL="0" indent="0" lvl="0">
              <a:lnSpc>
                <a:spcPts val="3204"/>
              </a:lnSpc>
              <a:spcBef>
                <a:spcPct val="0"/>
              </a:spcBef>
            </a:pPr>
            <a:r>
              <a:rPr lang="en-US" sz="2288">
                <a:solidFill>
                  <a:srgbClr val="2F3D47"/>
                </a:solidFill>
                <a:latin typeface="Open Sans"/>
                <a:ea typeface="Open Sans"/>
                <a:cs typeface="Open Sans"/>
                <a:sym typeface="Open Sans"/>
              </a:rPr>
              <a:t>Data Integration Framework</a:t>
            </a:r>
          </a:p>
        </p:txBody>
      </p:sp>
      <p:sp>
        <p:nvSpPr>
          <p:cNvPr name="TextBox 39" id="39"/>
          <p:cNvSpPr txBox="true"/>
          <p:nvPr/>
        </p:nvSpPr>
        <p:spPr>
          <a:xfrm rot="0">
            <a:off x="12348263" y="8599467"/>
            <a:ext cx="4223415" cy="389538"/>
          </a:xfrm>
          <a:prstGeom prst="rect">
            <a:avLst/>
          </a:prstGeom>
        </p:spPr>
        <p:txBody>
          <a:bodyPr anchor="t" rtlCol="false" tIns="0" lIns="0" bIns="0" rIns="0">
            <a:spAutoFit/>
          </a:bodyPr>
          <a:lstStyle/>
          <a:p>
            <a:pPr algn="r" marL="0" indent="0" lvl="0">
              <a:lnSpc>
                <a:spcPts val="3204"/>
              </a:lnSpc>
              <a:spcBef>
                <a:spcPct val="0"/>
              </a:spcBef>
            </a:pPr>
            <a:r>
              <a:rPr lang="en-US" b="true" sz="2288">
                <a:solidFill>
                  <a:srgbClr val="2F3D47"/>
                </a:solidFill>
                <a:latin typeface="Open Sans Bold"/>
                <a:ea typeface="Open Sans Bold"/>
                <a:cs typeface="Open Sans Bold"/>
                <a:sym typeface="Open Sans Bold"/>
              </a:rPr>
              <a:t>Nightly Files &amp; Reconciliation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211864" y="5320495"/>
            <a:ext cx="31045746" cy="5574178"/>
          </a:xfrm>
          <a:custGeom>
            <a:avLst/>
            <a:gdLst/>
            <a:ahLst/>
            <a:cxnLst/>
            <a:rect r="r" b="b" t="t" l="l"/>
            <a:pathLst>
              <a:path h="5574178" w="31045746">
                <a:moveTo>
                  <a:pt x="0" y="0"/>
                </a:moveTo>
                <a:lnTo>
                  <a:pt x="31045746" y="0"/>
                </a:lnTo>
                <a:lnTo>
                  <a:pt x="31045746" y="5574178"/>
                </a:lnTo>
                <a:lnTo>
                  <a:pt x="0" y="5574178"/>
                </a:lnTo>
                <a:lnTo>
                  <a:pt x="0"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75999">
            <a:off x="10025397" y="-4495944"/>
            <a:ext cx="10935162" cy="16994145"/>
          </a:xfrm>
          <a:custGeom>
            <a:avLst/>
            <a:gdLst/>
            <a:ahLst/>
            <a:cxnLst/>
            <a:rect r="r" b="b" t="t" l="l"/>
            <a:pathLst>
              <a:path h="16994145" w="10935162">
                <a:moveTo>
                  <a:pt x="10935162" y="16994145"/>
                </a:moveTo>
                <a:lnTo>
                  <a:pt x="0" y="16994145"/>
                </a:lnTo>
                <a:lnTo>
                  <a:pt x="0" y="0"/>
                </a:lnTo>
                <a:lnTo>
                  <a:pt x="10935162" y="0"/>
                </a:lnTo>
                <a:lnTo>
                  <a:pt x="10935162" y="16994145"/>
                </a:lnTo>
                <a:close/>
              </a:path>
            </a:pathLst>
          </a:custGeom>
          <a:blipFill>
            <a:blip r:embed="rId4"/>
            <a:stretch>
              <a:fillRect l="0" t="-46772" r="-34767" b="0"/>
            </a:stretch>
          </a:blipFill>
        </p:spPr>
      </p:sp>
      <p:sp>
        <p:nvSpPr>
          <p:cNvPr name="Freeform 4" id="4"/>
          <p:cNvSpPr/>
          <p:nvPr/>
        </p:nvSpPr>
        <p:spPr>
          <a:xfrm flipH="false" flipV="false" rot="0">
            <a:off x="10810190" y="2260888"/>
            <a:ext cx="10042439" cy="10024180"/>
          </a:xfrm>
          <a:custGeom>
            <a:avLst/>
            <a:gdLst/>
            <a:ahLst/>
            <a:cxnLst/>
            <a:rect r="r" b="b" t="t" l="l"/>
            <a:pathLst>
              <a:path h="10024180" w="10042439">
                <a:moveTo>
                  <a:pt x="0" y="0"/>
                </a:moveTo>
                <a:lnTo>
                  <a:pt x="10042439" y="0"/>
                </a:lnTo>
                <a:lnTo>
                  <a:pt x="10042439" y="10024180"/>
                </a:lnTo>
                <a:lnTo>
                  <a:pt x="0" y="10024180"/>
                </a:lnTo>
                <a:lnTo>
                  <a:pt x="0" y="0"/>
                </a:lnTo>
                <a:close/>
              </a:path>
            </a:pathLst>
          </a:custGeom>
          <a:blipFill>
            <a:blip r:embed="rId5"/>
            <a:stretch>
              <a:fillRect l="0" t="0" r="0" b="0"/>
            </a:stretch>
          </a:blipFill>
        </p:spPr>
      </p:sp>
      <p:grpSp>
        <p:nvGrpSpPr>
          <p:cNvPr name="Group 5" id="5"/>
          <p:cNvGrpSpPr/>
          <p:nvPr/>
        </p:nvGrpSpPr>
        <p:grpSpPr>
          <a:xfrm rot="0">
            <a:off x="11526538" y="2876598"/>
            <a:ext cx="8609743" cy="860974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68B23">
                    <a:alpha val="100000"/>
                  </a:srgbClr>
                </a:gs>
                <a:gs pos="50000">
                  <a:srgbClr val="FBA911">
                    <a:alpha val="100000"/>
                  </a:srgbClr>
                </a:gs>
                <a:gs pos="100000">
                  <a:srgbClr val="FFD950">
                    <a:alpha val="100000"/>
                  </a:srgbClr>
                </a:gs>
              </a:gsLst>
              <a:lin ang="0"/>
            </a:gra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5400000">
            <a:off x="11886699" y="3236759"/>
            <a:ext cx="7889420" cy="788942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68B23">
                    <a:alpha val="100000"/>
                  </a:srgbClr>
                </a:gs>
                <a:gs pos="50000">
                  <a:srgbClr val="FBA911">
                    <a:alpha val="100000"/>
                  </a:srgbClr>
                </a:gs>
                <a:gs pos="100000">
                  <a:srgbClr val="FFD950">
                    <a:alpha val="100000"/>
                  </a:srgbClr>
                </a:gs>
              </a:gsLst>
              <a:lin ang="0"/>
            </a:gra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12177241" y="3527301"/>
            <a:ext cx="7308337" cy="730833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0" t="0" r="0" b="0"/>
              </a:stretch>
            </a:blipFill>
          </p:spPr>
        </p:sp>
      </p:grpSp>
      <p:sp>
        <p:nvSpPr>
          <p:cNvPr name="Freeform 13" id="13"/>
          <p:cNvSpPr/>
          <p:nvPr/>
        </p:nvSpPr>
        <p:spPr>
          <a:xfrm flipH="false" flipV="false" rot="0">
            <a:off x="12671200" y="262640"/>
            <a:ext cx="5237438" cy="5227915"/>
          </a:xfrm>
          <a:custGeom>
            <a:avLst/>
            <a:gdLst/>
            <a:ahLst/>
            <a:cxnLst/>
            <a:rect r="r" b="b" t="t" l="l"/>
            <a:pathLst>
              <a:path h="5227915" w="5237438">
                <a:moveTo>
                  <a:pt x="0" y="0"/>
                </a:moveTo>
                <a:lnTo>
                  <a:pt x="5237438" y="0"/>
                </a:lnTo>
                <a:lnTo>
                  <a:pt x="5237438" y="5227916"/>
                </a:lnTo>
                <a:lnTo>
                  <a:pt x="0" y="5227916"/>
                </a:lnTo>
                <a:lnTo>
                  <a:pt x="0" y="0"/>
                </a:lnTo>
                <a:close/>
              </a:path>
            </a:pathLst>
          </a:custGeom>
          <a:blipFill>
            <a:blip r:embed="rId5"/>
            <a:stretch>
              <a:fillRect l="0" t="0" r="0" b="0"/>
            </a:stretch>
          </a:blipFill>
          <a:ln cap="sq">
            <a:noFill/>
            <a:prstDash val="solid"/>
            <a:miter/>
          </a:ln>
        </p:spPr>
      </p:sp>
      <p:grpSp>
        <p:nvGrpSpPr>
          <p:cNvPr name="Group 14" id="14"/>
          <p:cNvGrpSpPr/>
          <p:nvPr/>
        </p:nvGrpSpPr>
        <p:grpSpPr>
          <a:xfrm rot="0">
            <a:off x="13044797" y="583752"/>
            <a:ext cx="4490243" cy="4490243"/>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68B23">
                    <a:alpha val="100000"/>
                  </a:srgbClr>
                </a:gs>
                <a:gs pos="50000">
                  <a:srgbClr val="FBA911">
                    <a:alpha val="100000"/>
                  </a:srgbClr>
                </a:gs>
                <a:gs pos="100000">
                  <a:srgbClr val="FFD950">
                    <a:alpha val="100000"/>
                  </a:srgbClr>
                </a:gs>
              </a:gsLst>
              <a:lin ang="0"/>
            </a:gra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7" id="17"/>
          <p:cNvGrpSpPr/>
          <p:nvPr/>
        </p:nvGrpSpPr>
        <p:grpSpPr>
          <a:xfrm rot="5400000">
            <a:off x="13232632" y="771587"/>
            <a:ext cx="4114573" cy="4114573"/>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68B23">
                    <a:alpha val="100000"/>
                  </a:srgbClr>
                </a:gs>
                <a:gs pos="50000">
                  <a:srgbClr val="FBA911">
                    <a:alpha val="100000"/>
                  </a:srgbClr>
                </a:gs>
                <a:gs pos="100000">
                  <a:srgbClr val="FFD950">
                    <a:alpha val="100000"/>
                  </a:srgbClr>
                </a:gs>
              </a:gsLst>
              <a:lin ang="0"/>
            </a:gra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0" id="20"/>
          <p:cNvGrpSpPr/>
          <p:nvPr/>
        </p:nvGrpSpPr>
        <p:grpSpPr>
          <a:xfrm rot="0">
            <a:off x="13384158" y="923113"/>
            <a:ext cx="3811521" cy="3811521"/>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0" t="0" r="0" b="0"/>
              </a:stretch>
            </a:blipFill>
          </p:spPr>
        </p:sp>
      </p:grpSp>
      <p:sp>
        <p:nvSpPr>
          <p:cNvPr name="Freeform 22" id="22"/>
          <p:cNvSpPr/>
          <p:nvPr/>
        </p:nvSpPr>
        <p:spPr>
          <a:xfrm flipH="false" flipV="false" rot="0">
            <a:off x="-255455" y="-576286"/>
            <a:ext cx="2568310" cy="2695746"/>
          </a:xfrm>
          <a:custGeom>
            <a:avLst/>
            <a:gdLst/>
            <a:ahLst/>
            <a:cxnLst/>
            <a:rect r="r" b="b" t="t" l="l"/>
            <a:pathLst>
              <a:path h="2695746" w="2568310">
                <a:moveTo>
                  <a:pt x="0" y="0"/>
                </a:moveTo>
                <a:lnTo>
                  <a:pt x="2568310" y="0"/>
                </a:lnTo>
                <a:lnTo>
                  <a:pt x="2568310" y="2695746"/>
                </a:lnTo>
                <a:lnTo>
                  <a:pt x="0" y="2695746"/>
                </a:lnTo>
                <a:lnTo>
                  <a:pt x="0" y="0"/>
                </a:lnTo>
                <a:close/>
              </a:path>
            </a:pathLst>
          </a:custGeom>
          <a:blipFill>
            <a:blip r:embed="rId8">
              <a:alphaModFix amt="28000"/>
              <a:extLst>
                <a:ext uri="{96DAC541-7B7A-43D3-8B79-37D633B846F1}">
                  <asvg:svgBlip xmlns:asvg="http://schemas.microsoft.com/office/drawing/2016/SVG/main" r:embed="rId9"/>
                </a:ext>
              </a:extLst>
            </a:blip>
            <a:stretch>
              <a:fillRect l="0" t="0" r="0" b="0"/>
            </a:stretch>
          </a:blipFill>
        </p:spPr>
      </p:sp>
      <p:grpSp>
        <p:nvGrpSpPr>
          <p:cNvPr name="Group 23" id="23"/>
          <p:cNvGrpSpPr/>
          <p:nvPr/>
        </p:nvGrpSpPr>
        <p:grpSpPr>
          <a:xfrm rot="0">
            <a:off x="1028700" y="4486110"/>
            <a:ext cx="1439216" cy="1439216"/>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6C25">
                    <a:alpha val="100000"/>
                  </a:srgbClr>
                </a:gs>
                <a:gs pos="100000">
                  <a:srgbClr val="F89C22">
                    <a:alpha val="100000"/>
                  </a:srgbClr>
                </a:gs>
              </a:gsLst>
              <a:lin ang="0"/>
            </a:gradFill>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26" id="26"/>
          <p:cNvGrpSpPr/>
          <p:nvPr/>
        </p:nvGrpSpPr>
        <p:grpSpPr>
          <a:xfrm rot="0">
            <a:off x="1028700" y="6136177"/>
            <a:ext cx="1439216" cy="1439216"/>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6C25">
                    <a:alpha val="100000"/>
                  </a:srgbClr>
                </a:gs>
                <a:gs pos="100000">
                  <a:srgbClr val="F89C22">
                    <a:alpha val="100000"/>
                  </a:srgbClr>
                </a:gs>
              </a:gsLst>
              <a:lin ang="0"/>
            </a:gradFill>
          </p:spPr>
        </p:sp>
        <p:sp>
          <p:nvSpPr>
            <p:cNvPr name="TextBox 28" id="28"/>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29" id="29"/>
          <p:cNvGrpSpPr/>
          <p:nvPr/>
        </p:nvGrpSpPr>
        <p:grpSpPr>
          <a:xfrm rot="0">
            <a:off x="1028700" y="7786244"/>
            <a:ext cx="1439216" cy="1439216"/>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6C25">
                    <a:alpha val="100000"/>
                  </a:srgbClr>
                </a:gs>
                <a:gs pos="100000">
                  <a:srgbClr val="F89C22">
                    <a:alpha val="100000"/>
                  </a:srgbClr>
                </a:gs>
              </a:gsLst>
              <a:lin ang="0"/>
            </a:gradFill>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32" id="32"/>
          <p:cNvSpPr/>
          <p:nvPr/>
        </p:nvSpPr>
        <p:spPr>
          <a:xfrm flipH="false" flipV="false" rot="0">
            <a:off x="1296693" y="6245371"/>
            <a:ext cx="964136" cy="1064949"/>
          </a:xfrm>
          <a:custGeom>
            <a:avLst/>
            <a:gdLst/>
            <a:ahLst/>
            <a:cxnLst/>
            <a:rect r="r" b="b" t="t" l="l"/>
            <a:pathLst>
              <a:path h="1064949" w="964136">
                <a:moveTo>
                  <a:pt x="0" y="0"/>
                </a:moveTo>
                <a:lnTo>
                  <a:pt x="964136" y="0"/>
                </a:lnTo>
                <a:lnTo>
                  <a:pt x="964136" y="1064949"/>
                </a:lnTo>
                <a:lnTo>
                  <a:pt x="0" y="1064949"/>
                </a:lnTo>
                <a:lnTo>
                  <a:pt x="0" y="0"/>
                </a:lnTo>
                <a:close/>
              </a:path>
            </a:pathLst>
          </a:custGeom>
          <a:blipFill>
            <a:blip r:embed="rId10"/>
            <a:stretch>
              <a:fillRect l="0" t="0" r="0" b="0"/>
            </a:stretch>
          </a:blipFill>
        </p:spPr>
      </p:sp>
      <p:sp>
        <p:nvSpPr>
          <p:cNvPr name="Freeform 33" id="33"/>
          <p:cNvSpPr/>
          <p:nvPr/>
        </p:nvSpPr>
        <p:spPr>
          <a:xfrm flipH="false" flipV="false" rot="0">
            <a:off x="1291059" y="4775706"/>
            <a:ext cx="942896" cy="949911"/>
          </a:xfrm>
          <a:custGeom>
            <a:avLst/>
            <a:gdLst/>
            <a:ahLst/>
            <a:cxnLst/>
            <a:rect r="r" b="b" t="t" l="l"/>
            <a:pathLst>
              <a:path h="949911" w="942896">
                <a:moveTo>
                  <a:pt x="0" y="0"/>
                </a:moveTo>
                <a:lnTo>
                  <a:pt x="942895" y="0"/>
                </a:lnTo>
                <a:lnTo>
                  <a:pt x="942895" y="949911"/>
                </a:lnTo>
                <a:lnTo>
                  <a:pt x="0" y="949911"/>
                </a:lnTo>
                <a:lnTo>
                  <a:pt x="0" y="0"/>
                </a:lnTo>
                <a:close/>
              </a:path>
            </a:pathLst>
          </a:custGeom>
          <a:blipFill>
            <a:blip r:embed="rId11"/>
            <a:stretch>
              <a:fillRect l="0" t="0" r="0" b="0"/>
            </a:stretch>
          </a:blipFill>
        </p:spPr>
      </p:sp>
      <p:sp>
        <p:nvSpPr>
          <p:cNvPr name="Freeform 34" id="34"/>
          <p:cNvSpPr/>
          <p:nvPr/>
        </p:nvSpPr>
        <p:spPr>
          <a:xfrm flipH="false" flipV="false" rot="0">
            <a:off x="1361924" y="8141952"/>
            <a:ext cx="765331" cy="750870"/>
          </a:xfrm>
          <a:custGeom>
            <a:avLst/>
            <a:gdLst/>
            <a:ahLst/>
            <a:cxnLst/>
            <a:rect r="r" b="b" t="t" l="l"/>
            <a:pathLst>
              <a:path h="750870" w="765331">
                <a:moveTo>
                  <a:pt x="0" y="0"/>
                </a:moveTo>
                <a:lnTo>
                  <a:pt x="765331" y="0"/>
                </a:lnTo>
                <a:lnTo>
                  <a:pt x="765331" y="750870"/>
                </a:lnTo>
                <a:lnTo>
                  <a:pt x="0" y="750870"/>
                </a:lnTo>
                <a:lnTo>
                  <a:pt x="0" y="0"/>
                </a:lnTo>
                <a:close/>
              </a:path>
            </a:pathLst>
          </a:custGeom>
          <a:blipFill>
            <a:blip r:embed="rId12"/>
            <a:stretch>
              <a:fillRect l="0" t="0" r="0" b="0"/>
            </a:stretch>
          </a:blipFill>
        </p:spPr>
      </p:sp>
      <p:sp>
        <p:nvSpPr>
          <p:cNvPr name="TextBox 35" id="35"/>
          <p:cNvSpPr txBox="true"/>
          <p:nvPr/>
        </p:nvSpPr>
        <p:spPr>
          <a:xfrm rot="0">
            <a:off x="3889207" y="1638418"/>
            <a:ext cx="2553121" cy="1105614"/>
          </a:xfrm>
          <a:prstGeom prst="rect">
            <a:avLst/>
          </a:prstGeom>
        </p:spPr>
        <p:txBody>
          <a:bodyPr anchor="t" rtlCol="false" tIns="0" lIns="0" bIns="0" rIns="0">
            <a:spAutoFit/>
          </a:bodyPr>
          <a:lstStyle/>
          <a:p>
            <a:pPr algn="r" marL="0" indent="0" lvl="0">
              <a:lnSpc>
                <a:spcPts val="4381"/>
              </a:lnSpc>
            </a:pPr>
            <a:r>
              <a:rPr lang="en-US" b="true" sz="3843" spc="-161">
                <a:solidFill>
                  <a:srgbClr val="F45D14"/>
                </a:solidFill>
                <a:latin typeface="Arial Unicode Bold"/>
                <a:ea typeface="Arial Unicode Bold"/>
                <a:cs typeface="Arial Unicode Bold"/>
                <a:sym typeface="Arial Unicode Bold"/>
              </a:rPr>
              <a:t>Data Transfer</a:t>
            </a:r>
          </a:p>
        </p:txBody>
      </p:sp>
      <p:sp>
        <p:nvSpPr>
          <p:cNvPr name="TextBox 36" id="36"/>
          <p:cNvSpPr txBox="true"/>
          <p:nvPr/>
        </p:nvSpPr>
        <p:spPr>
          <a:xfrm rot="0">
            <a:off x="5976079" y="1638418"/>
            <a:ext cx="4561045" cy="553164"/>
          </a:xfrm>
          <a:prstGeom prst="rect">
            <a:avLst/>
          </a:prstGeom>
        </p:spPr>
        <p:txBody>
          <a:bodyPr anchor="t" rtlCol="false" tIns="0" lIns="0" bIns="0" rIns="0">
            <a:spAutoFit/>
          </a:bodyPr>
          <a:lstStyle/>
          <a:p>
            <a:pPr algn="r" marL="0" indent="0" lvl="0">
              <a:lnSpc>
                <a:spcPts val="4381"/>
              </a:lnSpc>
            </a:pPr>
            <a:r>
              <a:rPr lang="en-US" b="true" sz="3843" spc="-161">
                <a:solidFill>
                  <a:srgbClr val="2F3D47"/>
                </a:solidFill>
                <a:latin typeface="Arial Unicode Bold"/>
                <a:ea typeface="Arial Unicode Bold"/>
                <a:cs typeface="Arial Unicode Bold"/>
                <a:sym typeface="Arial Unicode Bold"/>
              </a:rPr>
              <a:t>Mechanism</a:t>
            </a:r>
          </a:p>
        </p:txBody>
      </p:sp>
      <p:sp>
        <p:nvSpPr>
          <p:cNvPr name="TextBox 37" id="37"/>
          <p:cNvSpPr txBox="true"/>
          <p:nvPr/>
        </p:nvSpPr>
        <p:spPr>
          <a:xfrm rot="0">
            <a:off x="2748945" y="4543498"/>
            <a:ext cx="4309864" cy="432457"/>
          </a:xfrm>
          <a:prstGeom prst="rect">
            <a:avLst/>
          </a:prstGeom>
        </p:spPr>
        <p:txBody>
          <a:bodyPr anchor="t" rtlCol="false" tIns="0" lIns="0" bIns="0" rIns="0">
            <a:spAutoFit/>
          </a:bodyPr>
          <a:lstStyle/>
          <a:p>
            <a:pPr algn="l" marL="0" indent="0" lvl="0">
              <a:lnSpc>
                <a:spcPts val="3423"/>
              </a:lnSpc>
            </a:pPr>
            <a:r>
              <a:rPr lang="en-US" b="true" sz="3002" spc="-126">
                <a:solidFill>
                  <a:srgbClr val="2F3D47"/>
                </a:solidFill>
                <a:latin typeface="Arial Unicode Bold"/>
                <a:ea typeface="Arial Unicode Bold"/>
                <a:cs typeface="Arial Unicode Bold"/>
                <a:sym typeface="Arial Unicode Bold"/>
              </a:rPr>
              <a:t>SFTP Channel</a:t>
            </a:r>
          </a:p>
        </p:txBody>
      </p:sp>
      <p:sp>
        <p:nvSpPr>
          <p:cNvPr name="TextBox 38" id="38"/>
          <p:cNvSpPr txBox="true"/>
          <p:nvPr/>
        </p:nvSpPr>
        <p:spPr>
          <a:xfrm rot="0">
            <a:off x="2748945" y="6193565"/>
            <a:ext cx="4309864" cy="432457"/>
          </a:xfrm>
          <a:prstGeom prst="rect">
            <a:avLst/>
          </a:prstGeom>
        </p:spPr>
        <p:txBody>
          <a:bodyPr anchor="t" rtlCol="false" tIns="0" lIns="0" bIns="0" rIns="0">
            <a:spAutoFit/>
          </a:bodyPr>
          <a:lstStyle/>
          <a:p>
            <a:pPr algn="l" marL="0" indent="0" lvl="0">
              <a:lnSpc>
                <a:spcPts val="3423"/>
              </a:lnSpc>
            </a:pPr>
            <a:r>
              <a:rPr lang="en-US" b="true" sz="3002" spc="-126">
                <a:solidFill>
                  <a:srgbClr val="2F3D47"/>
                </a:solidFill>
                <a:latin typeface="Arial Unicode Bold"/>
                <a:ea typeface="Arial Unicode Bold"/>
                <a:cs typeface="Arial Unicode Bold"/>
                <a:sym typeface="Arial Unicode Bold"/>
              </a:rPr>
              <a:t>Amazon S3 Channel</a:t>
            </a:r>
          </a:p>
        </p:txBody>
      </p:sp>
      <p:sp>
        <p:nvSpPr>
          <p:cNvPr name="TextBox 39" id="39"/>
          <p:cNvSpPr txBox="true"/>
          <p:nvPr/>
        </p:nvSpPr>
        <p:spPr>
          <a:xfrm rot="0">
            <a:off x="2748945" y="7843632"/>
            <a:ext cx="5935973" cy="432457"/>
          </a:xfrm>
          <a:prstGeom prst="rect">
            <a:avLst/>
          </a:prstGeom>
        </p:spPr>
        <p:txBody>
          <a:bodyPr anchor="t" rtlCol="false" tIns="0" lIns="0" bIns="0" rIns="0">
            <a:spAutoFit/>
          </a:bodyPr>
          <a:lstStyle/>
          <a:p>
            <a:pPr algn="l" marL="0" indent="0" lvl="0">
              <a:lnSpc>
                <a:spcPts val="3423"/>
              </a:lnSpc>
            </a:pPr>
            <a:r>
              <a:rPr lang="en-US" b="true" sz="3002" spc="-126">
                <a:solidFill>
                  <a:srgbClr val="2F3D47"/>
                </a:solidFill>
                <a:latin typeface="Arial Unicode Bold"/>
                <a:ea typeface="Arial Unicode Bold"/>
                <a:cs typeface="Arial Unicode Bold"/>
                <a:sym typeface="Arial Unicode Bold"/>
              </a:rPr>
              <a:t>Parallel Reconciliation &amp; Resilience</a:t>
            </a:r>
          </a:p>
        </p:txBody>
      </p:sp>
      <p:sp>
        <p:nvSpPr>
          <p:cNvPr name="TextBox 40" id="40"/>
          <p:cNvSpPr txBox="true"/>
          <p:nvPr/>
        </p:nvSpPr>
        <p:spPr>
          <a:xfrm rot="0">
            <a:off x="1028700" y="2973048"/>
            <a:ext cx="9508424" cy="844265"/>
          </a:xfrm>
          <a:prstGeom prst="rect">
            <a:avLst/>
          </a:prstGeom>
        </p:spPr>
        <p:txBody>
          <a:bodyPr anchor="t" rtlCol="false" tIns="0" lIns="0" bIns="0" rIns="0">
            <a:spAutoFit/>
          </a:bodyPr>
          <a:lstStyle/>
          <a:p>
            <a:pPr algn="r" marL="0" indent="0" lvl="0">
              <a:lnSpc>
                <a:spcPts val="2290"/>
              </a:lnSpc>
              <a:spcBef>
                <a:spcPct val="0"/>
              </a:spcBef>
            </a:pPr>
            <a:r>
              <a:rPr lang="en-US" sz="1636">
                <a:solidFill>
                  <a:srgbClr val="000000"/>
                </a:solidFill>
                <a:latin typeface="Open Sans"/>
                <a:ea typeface="Open Sans"/>
                <a:cs typeface="Open Sans"/>
                <a:sym typeface="Open Sans"/>
              </a:rPr>
              <a:t>BAWAG nightly file delivery operates via dual-channel architecture — SFTP and Amazon S3 running in parallel. This ensures resilience, auditability, and flexibility across tranche-based file ingestion aligned to core entity reconciliation.</a:t>
            </a:r>
          </a:p>
        </p:txBody>
      </p:sp>
      <p:sp>
        <p:nvSpPr>
          <p:cNvPr name="TextBox 41" id="41"/>
          <p:cNvSpPr txBox="true"/>
          <p:nvPr/>
        </p:nvSpPr>
        <p:spPr>
          <a:xfrm rot="0">
            <a:off x="2748945" y="5213888"/>
            <a:ext cx="7788179" cy="478210"/>
          </a:xfrm>
          <a:prstGeom prst="rect">
            <a:avLst/>
          </a:prstGeom>
        </p:spPr>
        <p:txBody>
          <a:bodyPr anchor="t" rtlCol="false" tIns="0" lIns="0" bIns="0" rIns="0">
            <a:spAutoFit/>
          </a:bodyPr>
          <a:lstStyle/>
          <a:p>
            <a:pPr algn="l" marL="0" indent="0" lvl="0">
              <a:lnSpc>
                <a:spcPts val="1991"/>
              </a:lnSpc>
              <a:spcBef>
                <a:spcPct val="0"/>
              </a:spcBef>
            </a:pPr>
            <a:r>
              <a:rPr lang="en-US" sz="1422">
                <a:solidFill>
                  <a:srgbClr val="000000"/>
                </a:solidFill>
                <a:latin typeface="Open Sans"/>
                <a:ea typeface="Open Sans"/>
                <a:cs typeface="Open Sans"/>
                <a:sym typeface="Open Sans"/>
              </a:rPr>
              <a:t>Secure File Transfer Protocol provides a managed, encrypted nightly push of tranche files. Supports structured delivery schedules with acknowledgement and retry handling.</a:t>
            </a:r>
          </a:p>
        </p:txBody>
      </p:sp>
      <p:sp>
        <p:nvSpPr>
          <p:cNvPr name="TextBox 42" id="42"/>
          <p:cNvSpPr txBox="true"/>
          <p:nvPr/>
        </p:nvSpPr>
        <p:spPr>
          <a:xfrm rot="0">
            <a:off x="2748945" y="6863955"/>
            <a:ext cx="7788179" cy="478210"/>
          </a:xfrm>
          <a:prstGeom prst="rect">
            <a:avLst/>
          </a:prstGeom>
        </p:spPr>
        <p:txBody>
          <a:bodyPr anchor="t" rtlCol="false" tIns="0" lIns="0" bIns="0" rIns="0">
            <a:spAutoFit/>
          </a:bodyPr>
          <a:lstStyle/>
          <a:p>
            <a:pPr algn="l" marL="0" indent="0" lvl="0">
              <a:lnSpc>
                <a:spcPts val="1991"/>
              </a:lnSpc>
              <a:spcBef>
                <a:spcPct val="0"/>
              </a:spcBef>
            </a:pPr>
            <a:r>
              <a:rPr lang="en-US" sz="1422">
                <a:solidFill>
                  <a:srgbClr val="000000"/>
                </a:solidFill>
                <a:latin typeface="Open Sans"/>
                <a:ea typeface="Open Sans"/>
                <a:cs typeface="Open Sans"/>
                <a:sym typeface="Open Sans"/>
              </a:rPr>
              <a:t>Parallel S3 bucket delivery enables scalable, cloud-native ingestion. Event-driven triggers allow downstream processing pipelines to initiate reconciliation automatically on file arrival.</a:t>
            </a:r>
          </a:p>
        </p:txBody>
      </p:sp>
      <p:sp>
        <p:nvSpPr>
          <p:cNvPr name="TextBox 43" id="43"/>
          <p:cNvSpPr txBox="true"/>
          <p:nvPr/>
        </p:nvSpPr>
        <p:spPr>
          <a:xfrm rot="0">
            <a:off x="2748945" y="8514023"/>
            <a:ext cx="7788179" cy="725860"/>
          </a:xfrm>
          <a:prstGeom prst="rect">
            <a:avLst/>
          </a:prstGeom>
        </p:spPr>
        <p:txBody>
          <a:bodyPr anchor="t" rtlCol="false" tIns="0" lIns="0" bIns="0" rIns="0">
            <a:spAutoFit/>
          </a:bodyPr>
          <a:lstStyle/>
          <a:p>
            <a:pPr algn="l" marL="0" indent="0" lvl="0">
              <a:lnSpc>
                <a:spcPts val="1991"/>
              </a:lnSpc>
              <a:spcBef>
                <a:spcPct val="0"/>
              </a:spcBef>
            </a:pPr>
            <a:r>
              <a:rPr lang="en-US" sz="1422">
                <a:solidFill>
                  <a:srgbClr val="000000"/>
                </a:solidFill>
                <a:latin typeface="Open Sans"/>
                <a:ea typeface="Open Sans"/>
                <a:cs typeface="Open Sans"/>
                <a:sym typeface="Open Sans"/>
              </a:rPr>
              <a:t>Both channels operate simultaneously. Central reconciles received tranches back to core entities: Party, Agreement, Collateral and Link tables — ensuring completeness before downstream processing.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8471056" y="5320495"/>
            <a:ext cx="31045746" cy="5574178"/>
          </a:xfrm>
          <a:custGeom>
            <a:avLst/>
            <a:gdLst/>
            <a:ahLst/>
            <a:cxnLst/>
            <a:rect r="r" b="b" t="t" l="l"/>
            <a:pathLst>
              <a:path h="5574178" w="31045746">
                <a:moveTo>
                  <a:pt x="31045746" y="0"/>
                </a:moveTo>
                <a:lnTo>
                  <a:pt x="0" y="0"/>
                </a:lnTo>
                <a:lnTo>
                  <a:pt x="0" y="5574178"/>
                </a:lnTo>
                <a:lnTo>
                  <a:pt x="31045746" y="5574178"/>
                </a:lnTo>
                <a:lnTo>
                  <a:pt x="31045746"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4115999">
            <a:off x="11134242" y="-2669549"/>
            <a:ext cx="11909854" cy="18399100"/>
          </a:xfrm>
          <a:custGeom>
            <a:avLst/>
            <a:gdLst/>
            <a:ahLst/>
            <a:cxnLst/>
            <a:rect r="r" b="b" t="t" l="l"/>
            <a:pathLst>
              <a:path h="18399100" w="11909854">
                <a:moveTo>
                  <a:pt x="11909854" y="18399101"/>
                </a:moveTo>
                <a:lnTo>
                  <a:pt x="0" y="18399101"/>
                </a:lnTo>
                <a:lnTo>
                  <a:pt x="0" y="0"/>
                </a:lnTo>
                <a:lnTo>
                  <a:pt x="11909854" y="0"/>
                </a:lnTo>
                <a:lnTo>
                  <a:pt x="11909854" y="18399101"/>
                </a:lnTo>
                <a:close/>
              </a:path>
            </a:pathLst>
          </a:custGeom>
          <a:blipFill>
            <a:blip r:embed="rId4"/>
            <a:stretch>
              <a:fillRect l="0" t="-47648" r="-34767" b="0"/>
            </a:stretch>
          </a:blipFill>
        </p:spPr>
      </p:sp>
      <p:sp>
        <p:nvSpPr>
          <p:cNvPr name="Freeform 4" id="4"/>
          <p:cNvSpPr/>
          <p:nvPr/>
        </p:nvSpPr>
        <p:spPr>
          <a:xfrm flipH="true" flipV="true" rot="-2418000">
            <a:off x="12927855" y="-4916773"/>
            <a:ext cx="7486778" cy="11566051"/>
          </a:xfrm>
          <a:custGeom>
            <a:avLst/>
            <a:gdLst/>
            <a:ahLst/>
            <a:cxnLst/>
            <a:rect r="r" b="b" t="t" l="l"/>
            <a:pathLst>
              <a:path h="11566051" w="7486778">
                <a:moveTo>
                  <a:pt x="7486777" y="11566051"/>
                </a:moveTo>
                <a:lnTo>
                  <a:pt x="0" y="11566051"/>
                </a:lnTo>
                <a:lnTo>
                  <a:pt x="0" y="0"/>
                </a:lnTo>
                <a:lnTo>
                  <a:pt x="7486777" y="0"/>
                </a:lnTo>
                <a:lnTo>
                  <a:pt x="7486777" y="11566051"/>
                </a:lnTo>
                <a:close/>
              </a:path>
            </a:pathLst>
          </a:custGeom>
          <a:blipFill>
            <a:blip r:embed="rId4"/>
            <a:stretch>
              <a:fillRect l="0" t="-47648" r="-34767" b="0"/>
            </a:stretch>
          </a:blipFill>
        </p:spPr>
      </p:sp>
      <p:grpSp>
        <p:nvGrpSpPr>
          <p:cNvPr name="Group 5" id="5"/>
          <p:cNvGrpSpPr/>
          <p:nvPr/>
        </p:nvGrpSpPr>
        <p:grpSpPr>
          <a:xfrm rot="0">
            <a:off x="11495132" y="1278884"/>
            <a:ext cx="9024524" cy="9008116"/>
            <a:chOff x="0" y="0"/>
            <a:chExt cx="12032699" cy="12010821"/>
          </a:xfrm>
        </p:grpSpPr>
        <p:sp>
          <p:nvSpPr>
            <p:cNvPr name="Freeform 6" id="6"/>
            <p:cNvSpPr/>
            <p:nvPr/>
          </p:nvSpPr>
          <p:spPr>
            <a:xfrm flipH="false" flipV="false" rot="0">
              <a:off x="0" y="0"/>
              <a:ext cx="12032699" cy="12010821"/>
            </a:xfrm>
            <a:custGeom>
              <a:avLst/>
              <a:gdLst/>
              <a:ahLst/>
              <a:cxnLst/>
              <a:rect r="r" b="b" t="t" l="l"/>
              <a:pathLst>
                <a:path h="12010821" w="12032699">
                  <a:moveTo>
                    <a:pt x="0" y="0"/>
                  </a:moveTo>
                  <a:lnTo>
                    <a:pt x="12032699" y="0"/>
                  </a:lnTo>
                  <a:lnTo>
                    <a:pt x="12032699" y="12010821"/>
                  </a:lnTo>
                  <a:lnTo>
                    <a:pt x="0" y="12010821"/>
                  </a:lnTo>
                  <a:lnTo>
                    <a:pt x="0" y="0"/>
                  </a:lnTo>
                  <a:close/>
                </a:path>
              </a:pathLst>
            </a:custGeom>
            <a:blipFill>
              <a:blip r:embed="rId5"/>
              <a:stretch>
                <a:fillRect l="0" t="0" r="0" b="0"/>
              </a:stretch>
            </a:blipFill>
          </p:spPr>
        </p:sp>
        <p:grpSp>
          <p:nvGrpSpPr>
            <p:cNvPr name="Group 7" id="7"/>
            <p:cNvGrpSpPr/>
            <p:nvPr/>
          </p:nvGrpSpPr>
          <p:grpSpPr>
            <a:xfrm rot="0">
              <a:off x="858317" y="737734"/>
              <a:ext cx="10316064" cy="10316064"/>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68B23">
                      <a:alpha val="100000"/>
                    </a:srgbClr>
                  </a:gs>
                  <a:gs pos="50000">
                    <a:srgbClr val="FBA911">
                      <a:alpha val="100000"/>
                    </a:srgbClr>
                  </a:gs>
                  <a:gs pos="100000">
                    <a:srgbClr val="FFD950">
                      <a:alpha val="100000"/>
                    </a:srgbClr>
                  </a:gs>
                </a:gsLst>
                <a:lin ang="0"/>
              </a:gra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5400000">
              <a:off x="1289857" y="1169274"/>
              <a:ext cx="9452984" cy="945298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68B23">
                      <a:alpha val="100000"/>
                    </a:srgbClr>
                  </a:gs>
                  <a:gs pos="50000">
                    <a:srgbClr val="FBA911">
                      <a:alpha val="100000"/>
                    </a:srgbClr>
                  </a:gs>
                  <a:gs pos="100000">
                    <a:srgbClr val="FFD950">
                      <a:alpha val="100000"/>
                    </a:srgbClr>
                  </a:gs>
                </a:gsLst>
                <a:lin ang="0"/>
              </a:gra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3" id="13"/>
            <p:cNvGrpSpPr/>
            <p:nvPr/>
          </p:nvGrpSpPr>
          <p:grpSpPr>
            <a:xfrm rot="0">
              <a:off x="1637980" y="1517397"/>
              <a:ext cx="8756739" cy="875673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0" t="0" r="0" b="0"/>
                </a:stretch>
              </a:blipFill>
            </p:spPr>
          </p:sp>
        </p:grpSp>
      </p:grpSp>
      <p:sp>
        <p:nvSpPr>
          <p:cNvPr name="Freeform 15" id="15"/>
          <p:cNvSpPr/>
          <p:nvPr/>
        </p:nvSpPr>
        <p:spPr>
          <a:xfrm flipH="false" flipV="false" rot="0">
            <a:off x="10696528" y="5782942"/>
            <a:ext cx="2568310" cy="2695746"/>
          </a:xfrm>
          <a:custGeom>
            <a:avLst/>
            <a:gdLst/>
            <a:ahLst/>
            <a:cxnLst/>
            <a:rect r="r" b="b" t="t" l="l"/>
            <a:pathLst>
              <a:path h="2695746" w="2568310">
                <a:moveTo>
                  <a:pt x="0" y="0"/>
                </a:moveTo>
                <a:lnTo>
                  <a:pt x="2568311" y="0"/>
                </a:lnTo>
                <a:lnTo>
                  <a:pt x="2568311" y="2695746"/>
                </a:lnTo>
                <a:lnTo>
                  <a:pt x="0" y="2695746"/>
                </a:lnTo>
                <a:lnTo>
                  <a:pt x="0" y="0"/>
                </a:lnTo>
                <a:close/>
              </a:path>
            </a:pathLst>
          </a:custGeom>
          <a:blipFill>
            <a:blip r:embed="rId7">
              <a:alphaModFix amt="28000"/>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true" flipV="false" rot="0">
            <a:off x="-384689" y="524747"/>
            <a:ext cx="1800429" cy="1889764"/>
          </a:xfrm>
          <a:custGeom>
            <a:avLst/>
            <a:gdLst/>
            <a:ahLst/>
            <a:cxnLst/>
            <a:rect r="r" b="b" t="t" l="l"/>
            <a:pathLst>
              <a:path h="1889764" w="1800429">
                <a:moveTo>
                  <a:pt x="1800429" y="0"/>
                </a:moveTo>
                <a:lnTo>
                  <a:pt x="0" y="0"/>
                </a:lnTo>
                <a:lnTo>
                  <a:pt x="0" y="1889763"/>
                </a:lnTo>
                <a:lnTo>
                  <a:pt x="1800429" y="1889763"/>
                </a:lnTo>
                <a:lnTo>
                  <a:pt x="1800429" y="0"/>
                </a:lnTo>
                <a:close/>
              </a:path>
            </a:pathLst>
          </a:custGeom>
          <a:blipFill>
            <a:blip r:embed="rId7">
              <a:alphaModFix amt="28000"/>
              <a:extLst>
                <a:ext uri="{96DAC541-7B7A-43D3-8B79-37D633B846F1}">
                  <asvg:svgBlip xmlns:asvg="http://schemas.microsoft.com/office/drawing/2016/SVG/main" r:embed="rId8"/>
                </a:ext>
              </a:extLst>
            </a:blip>
            <a:stretch>
              <a:fillRect l="0" t="0" r="0" b="0"/>
            </a:stretch>
          </a:blipFill>
        </p:spPr>
      </p:sp>
      <p:sp>
        <p:nvSpPr>
          <p:cNvPr name="TextBox 17" id="17"/>
          <p:cNvSpPr txBox="true"/>
          <p:nvPr/>
        </p:nvSpPr>
        <p:spPr>
          <a:xfrm rot="0">
            <a:off x="3012191" y="1611532"/>
            <a:ext cx="4840916" cy="774002"/>
          </a:xfrm>
          <a:prstGeom prst="rect">
            <a:avLst/>
          </a:prstGeom>
        </p:spPr>
        <p:txBody>
          <a:bodyPr anchor="t" rtlCol="false" tIns="0" lIns="0" bIns="0" rIns="0">
            <a:spAutoFit/>
          </a:bodyPr>
          <a:lstStyle/>
          <a:p>
            <a:pPr algn="r" marL="0" indent="0" lvl="0">
              <a:lnSpc>
                <a:spcPts val="6070"/>
              </a:lnSpc>
            </a:pPr>
            <a:r>
              <a:rPr lang="en-US" b="true" sz="5325" spc="-223">
                <a:solidFill>
                  <a:srgbClr val="F45D14"/>
                </a:solidFill>
                <a:latin typeface="Arial Unicode Bold"/>
                <a:ea typeface="Arial Unicode Bold"/>
                <a:cs typeface="Arial Unicode Bold"/>
                <a:sym typeface="Arial Unicode Bold"/>
              </a:rPr>
              <a:t>Core Model</a:t>
            </a:r>
          </a:p>
        </p:txBody>
      </p:sp>
      <p:sp>
        <p:nvSpPr>
          <p:cNvPr name="TextBox 18" id="18"/>
          <p:cNvSpPr txBox="true"/>
          <p:nvPr/>
        </p:nvSpPr>
        <p:spPr>
          <a:xfrm rot="0">
            <a:off x="6981701" y="1611532"/>
            <a:ext cx="4200826" cy="774002"/>
          </a:xfrm>
          <a:prstGeom prst="rect">
            <a:avLst/>
          </a:prstGeom>
        </p:spPr>
        <p:txBody>
          <a:bodyPr anchor="t" rtlCol="false" tIns="0" lIns="0" bIns="0" rIns="0">
            <a:spAutoFit/>
          </a:bodyPr>
          <a:lstStyle/>
          <a:p>
            <a:pPr algn="r" marL="0" indent="0" lvl="0">
              <a:lnSpc>
                <a:spcPts val="6070"/>
              </a:lnSpc>
            </a:pPr>
            <a:r>
              <a:rPr lang="en-US" b="true" sz="5325" spc="-223">
                <a:solidFill>
                  <a:srgbClr val="2F3D47"/>
                </a:solidFill>
                <a:latin typeface="Arial Unicode Bold"/>
                <a:ea typeface="Arial Unicode Bold"/>
                <a:cs typeface="Arial Unicode Bold"/>
                <a:sym typeface="Arial Unicode Bold"/>
              </a:rPr>
              <a:t>Requirements</a:t>
            </a:r>
          </a:p>
        </p:txBody>
      </p:sp>
      <p:sp>
        <p:nvSpPr>
          <p:cNvPr name="TextBox 19" id="19"/>
          <p:cNvSpPr txBox="true"/>
          <p:nvPr/>
        </p:nvSpPr>
        <p:spPr>
          <a:xfrm rot="0">
            <a:off x="1028700" y="2947274"/>
            <a:ext cx="10153827" cy="762209"/>
          </a:xfrm>
          <a:prstGeom prst="rect">
            <a:avLst/>
          </a:prstGeom>
        </p:spPr>
        <p:txBody>
          <a:bodyPr anchor="t" rtlCol="false" tIns="0" lIns="0" bIns="0" rIns="0">
            <a:spAutoFit/>
          </a:bodyPr>
          <a:lstStyle/>
          <a:p>
            <a:pPr algn="r" marL="0" indent="0" lvl="0">
              <a:lnSpc>
                <a:spcPts val="2088"/>
              </a:lnSpc>
              <a:spcBef>
                <a:spcPct val="0"/>
              </a:spcBef>
            </a:pPr>
            <a:r>
              <a:rPr lang="en-US" sz="1491">
                <a:solidFill>
                  <a:srgbClr val="000000"/>
                </a:solidFill>
                <a:latin typeface="Open Sans"/>
                <a:ea typeface="Open Sans"/>
                <a:cs typeface="Open Sans"/>
                <a:sym typeface="Open Sans"/>
              </a:rPr>
              <a:t>The BAWAG nightly file architecture is anchored on four core pillar entities. Each entity is designed for extensibility — the model supports additional attributes and relationships beyond the core definition, enabling future-proof integration and reporting flexibility.</a:t>
            </a:r>
          </a:p>
        </p:txBody>
      </p:sp>
      <p:grpSp>
        <p:nvGrpSpPr>
          <p:cNvPr name="Group 20" id="20"/>
          <p:cNvGrpSpPr/>
          <p:nvPr/>
        </p:nvGrpSpPr>
        <p:grpSpPr>
          <a:xfrm rot="0">
            <a:off x="1028700" y="4498579"/>
            <a:ext cx="5887006" cy="2228962"/>
            <a:chOff x="0" y="0"/>
            <a:chExt cx="1550487" cy="587052"/>
          </a:xfrm>
        </p:grpSpPr>
        <p:sp>
          <p:nvSpPr>
            <p:cNvPr name="Freeform 21" id="21"/>
            <p:cNvSpPr/>
            <p:nvPr/>
          </p:nvSpPr>
          <p:spPr>
            <a:xfrm flipH="false" flipV="false" rot="0">
              <a:off x="0" y="0"/>
              <a:ext cx="1550487" cy="587052"/>
            </a:xfrm>
            <a:custGeom>
              <a:avLst/>
              <a:gdLst/>
              <a:ahLst/>
              <a:cxnLst/>
              <a:rect r="r" b="b" t="t" l="l"/>
              <a:pathLst>
                <a:path h="587052" w="1550487">
                  <a:moveTo>
                    <a:pt x="46028" y="0"/>
                  </a:moveTo>
                  <a:lnTo>
                    <a:pt x="1504459" y="0"/>
                  </a:lnTo>
                  <a:cubicBezTo>
                    <a:pt x="1516667" y="0"/>
                    <a:pt x="1528374" y="4849"/>
                    <a:pt x="1537006" y="13481"/>
                  </a:cubicBezTo>
                  <a:cubicBezTo>
                    <a:pt x="1545638" y="22113"/>
                    <a:pt x="1550487" y="33821"/>
                    <a:pt x="1550487" y="46028"/>
                  </a:cubicBezTo>
                  <a:lnTo>
                    <a:pt x="1550487" y="541024"/>
                  </a:lnTo>
                  <a:cubicBezTo>
                    <a:pt x="1550487" y="566444"/>
                    <a:pt x="1529880" y="587052"/>
                    <a:pt x="1504459" y="587052"/>
                  </a:cubicBezTo>
                  <a:lnTo>
                    <a:pt x="46028" y="587052"/>
                  </a:lnTo>
                  <a:cubicBezTo>
                    <a:pt x="33821" y="587052"/>
                    <a:pt x="22113" y="582202"/>
                    <a:pt x="13481" y="573571"/>
                  </a:cubicBezTo>
                  <a:cubicBezTo>
                    <a:pt x="4849" y="564939"/>
                    <a:pt x="0" y="553231"/>
                    <a:pt x="0" y="541024"/>
                  </a:cubicBezTo>
                  <a:lnTo>
                    <a:pt x="0" y="46028"/>
                  </a:lnTo>
                  <a:cubicBezTo>
                    <a:pt x="0" y="33821"/>
                    <a:pt x="4849" y="22113"/>
                    <a:pt x="13481" y="13481"/>
                  </a:cubicBezTo>
                  <a:cubicBezTo>
                    <a:pt x="22113" y="4849"/>
                    <a:pt x="33821" y="0"/>
                    <a:pt x="46028" y="0"/>
                  </a:cubicBezTo>
                  <a:close/>
                </a:path>
              </a:pathLst>
            </a:custGeom>
            <a:gradFill rotWithShape="true">
              <a:gsLst>
                <a:gs pos="0">
                  <a:srgbClr val="FF6C25">
                    <a:alpha val="100000"/>
                  </a:srgbClr>
                </a:gs>
                <a:gs pos="100000">
                  <a:srgbClr val="F89C22">
                    <a:alpha val="100000"/>
                  </a:srgbClr>
                </a:gs>
              </a:gsLst>
              <a:lin ang="0"/>
            </a:gradFill>
          </p:spPr>
        </p:sp>
        <p:sp>
          <p:nvSpPr>
            <p:cNvPr name="TextBox 22" id="22"/>
            <p:cNvSpPr txBox="true"/>
            <p:nvPr/>
          </p:nvSpPr>
          <p:spPr>
            <a:xfrm>
              <a:off x="0" y="-38100"/>
              <a:ext cx="1550487" cy="625152"/>
            </a:xfrm>
            <a:prstGeom prst="rect">
              <a:avLst/>
            </a:prstGeom>
          </p:spPr>
          <p:txBody>
            <a:bodyPr anchor="ctr" rtlCol="false" tIns="50800" lIns="50800" bIns="50800" rIns="50800"/>
            <a:lstStyle/>
            <a:p>
              <a:pPr algn="ctr" marL="0" indent="0" lvl="0">
                <a:lnSpc>
                  <a:spcPts val="2659"/>
                </a:lnSpc>
              </a:pPr>
            </a:p>
          </p:txBody>
        </p:sp>
      </p:grpSp>
      <p:grpSp>
        <p:nvGrpSpPr>
          <p:cNvPr name="Group 23" id="23"/>
          <p:cNvGrpSpPr/>
          <p:nvPr/>
        </p:nvGrpSpPr>
        <p:grpSpPr>
          <a:xfrm rot="0">
            <a:off x="7089736" y="4498579"/>
            <a:ext cx="5887006" cy="2228962"/>
            <a:chOff x="0" y="0"/>
            <a:chExt cx="1550487" cy="587052"/>
          </a:xfrm>
        </p:grpSpPr>
        <p:sp>
          <p:nvSpPr>
            <p:cNvPr name="Freeform 24" id="24"/>
            <p:cNvSpPr/>
            <p:nvPr/>
          </p:nvSpPr>
          <p:spPr>
            <a:xfrm flipH="false" flipV="false" rot="0">
              <a:off x="0" y="0"/>
              <a:ext cx="1550487" cy="587052"/>
            </a:xfrm>
            <a:custGeom>
              <a:avLst/>
              <a:gdLst/>
              <a:ahLst/>
              <a:cxnLst/>
              <a:rect r="r" b="b" t="t" l="l"/>
              <a:pathLst>
                <a:path h="587052" w="1550487">
                  <a:moveTo>
                    <a:pt x="46028" y="0"/>
                  </a:moveTo>
                  <a:lnTo>
                    <a:pt x="1504459" y="0"/>
                  </a:lnTo>
                  <a:cubicBezTo>
                    <a:pt x="1516667" y="0"/>
                    <a:pt x="1528374" y="4849"/>
                    <a:pt x="1537006" y="13481"/>
                  </a:cubicBezTo>
                  <a:cubicBezTo>
                    <a:pt x="1545638" y="22113"/>
                    <a:pt x="1550487" y="33821"/>
                    <a:pt x="1550487" y="46028"/>
                  </a:cubicBezTo>
                  <a:lnTo>
                    <a:pt x="1550487" y="541024"/>
                  </a:lnTo>
                  <a:cubicBezTo>
                    <a:pt x="1550487" y="566444"/>
                    <a:pt x="1529880" y="587052"/>
                    <a:pt x="1504459" y="587052"/>
                  </a:cubicBezTo>
                  <a:lnTo>
                    <a:pt x="46028" y="587052"/>
                  </a:lnTo>
                  <a:cubicBezTo>
                    <a:pt x="33821" y="587052"/>
                    <a:pt x="22113" y="582202"/>
                    <a:pt x="13481" y="573571"/>
                  </a:cubicBezTo>
                  <a:cubicBezTo>
                    <a:pt x="4849" y="564939"/>
                    <a:pt x="0" y="553231"/>
                    <a:pt x="0" y="541024"/>
                  </a:cubicBezTo>
                  <a:lnTo>
                    <a:pt x="0" y="46028"/>
                  </a:lnTo>
                  <a:cubicBezTo>
                    <a:pt x="0" y="33821"/>
                    <a:pt x="4849" y="22113"/>
                    <a:pt x="13481" y="13481"/>
                  </a:cubicBezTo>
                  <a:cubicBezTo>
                    <a:pt x="22113" y="4849"/>
                    <a:pt x="33821" y="0"/>
                    <a:pt x="46028" y="0"/>
                  </a:cubicBezTo>
                  <a:close/>
                </a:path>
              </a:pathLst>
            </a:custGeom>
            <a:solidFill>
              <a:srgbClr val="2F3D47"/>
            </a:solidFill>
          </p:spPr>
        </p:sp>
        <p:sp>
          <p:nvSpPr>
            <p:cNvPr name="TextBox 25" id="25"/>
            <p:cNvSpPr txBox="true"/>
            <p:nvPr/>
          </p:nvSpPr>
          <p:spPr>
            <a:xfrm>
              <a:off x="0" y="-38100"/>
              <a:ext cx="1550487" cy="625152"/>
            </a:xfrm>
            <a:prstGeom prst="rect">
              <a:avLst/>
            </a:prstGeom>
          </p:spPr>
          <p:txBody>
            <a:bodyPr anchor="ctr" rtlCol="false" tIns="50800" lIns="50800" bIns="50800" rIns="50800"/>
            <a:lstStyle/>
            <a:p>
              <a:pPr algn="ctr" marL="0" indent="0" lvl="0">
                <a:lnSpc>
                  <a:spcPts val="2659"/>
                </a:lnSpc>
              </a:pPr>
            </a:p>
          </p:txBody>
        </p:sp>
      </p:grpSp>
      <p:grpSp>
        <p:nvGrpSpPr>
          <p:cNvPr name="Group 26" id="26"/>
          <p:cNvGrpSpPr/>
          <p:nvPr/>
        </p:nvGrpSpPr>
        <p:grpSpPr>
          <a:xfrm rot="0">
            <a:off x="1028700" y="7029338"/>
            <a:ext cx="5887006" cy="2228962"/>
            <a:chOff x="0" y="0"/>
            <a:chExt cx="1550487" cy="587052"/>
          </a:xfrm>
        </p:grpSpPr>
        <p:sp>
          <p:nvSpPr>
            <p:cNvPr name="Freeform 27" id="27"/>
            <p:cNvSpPr/>
            <p:nvPr/>
          </p:nvSpPr>
          <p:spPr>
            <a:xfrm flipH="false" flipV="false" rot="0">
              <a:off x="0" y="0"/>
              <a:ext cx="1550487" cy="587052"/>
            </a:xfrm>
            <a:custGeom>
              <a:avLst/>
              <a:gdLst/>
              <a:ahLst/>
              <a:cxnLst/>
              <a:rect r="r" b="b" t="t" l="l"/>
              <a:pathLst>
                <a:path h="587052" w="1550487">
                  <a:moveTo>
                    <a:pt x="46028" y="0"/>
                  </a:moveTo>
                  <a:lnTo>
                    <a:pt x="1504459" y="0"/>
                  </a:lnTo>
                  <a:cubicBezTo>
                    <a:pt x="1516667" y="0"/>
                    <a:pt x="1528374" y="4849"/>
                    <a:pt x="1537006" y="13481"/>
                  </a:cubicBezTo>
                  <a:cubicBezTo>
                    <a:pt x="1545638" y="22113"/>
                    <a:pt x="1550487" y="33821"/>
                    <a:pt x="1550487" y="46028"/>
                  </a:cubicBezTo>
                  <a:lnTo>
                    <a:pt x="1550487" y="541024"/>
                  </a:lnTo>
                  <a:cubicBezTo>
                    <a:pt x="1550487" y="566444"/>
                    <a:pt x="1529880" y="587052"/>
                    <a:pt x="1504459" y="587052"/>
                  </a:cubicBezTo>
                  <a:lnTo>
                    <a:pt x="46028" y="587052"/>
                  </a:lnTo>
                  <a:cubicBezTo>
                    <a:pt x="33821" y="587052"/>
                    <a:pt x="22113" y="582202"/>
                    <a:pt x="13481" y="573571"/>
                  </a:cubicBezTo>
                  <a:cubicBezTo>
                    <a:pt x="4849" y="564939"/>
                    <a:pt x="0" y="553231"/>
                    <a:pt x="0" y="541024"/>
                  </a:cubicBezTo>
                  <a:lnTo>
                    <a:pt x="0" y="46028"/>
                  </a:lnTo>
                  <a:cubicBezTo>
                    <a:pt x="0" y="33821"/>
                    <a:pt x="4849" y="22113"/>
                    <a:pt x="13481" y="13481"/>
                  </a:cubicBezTo>
                  <a:cubicBezTo>
                    <a:pt x="22113" y="4849"/>
                    <a:pt x="33821" y="0"/>
                    <a:pt x="46028" y="0"/>
                  </a:cubicBezTo>
                  <a:close/>
                </a:path>
              </a:pathLst>
            </a:custGeom>
            <a:solidFill>
              <a:srgbClr val="2F3D47"/>
            </a:solidFill>
          </p:spPr>
        </p:sp>
        <p:sp>
          <p:nvSpPr>
            <p:cNvPr name="TextBox 28" id="28"/>
            <p:cNvSpPr txBox="true"/>
            <p:nvPr/>
          </p:nvSpPr>
          <p:spPr>
            <a:xfrm>
              <a:off x="0" y="-38100"/>
              <a:ext cx="1550487" cy="625152"/>
            </a:xfrm>
            <a:prstGeom prst="rect">
              <a:avLst/>
            </a:prstGeom>
          </p:spPr>
          <p:txBody>
            <a:bodyPr anchor="ctr" rtlCol="false" tIns="50800" lIns="50800" bIns="50800" rIns="50800"/>
            <a:lstStyle/>
            <a:p>
              <a:pPr algn="ctr" marL="0" indent="0" lvl="0">
                <a:lnSpc>
                  <a:spcPts val="2659"/>
                </a:lnSpc>
              </a:pPr>
            </a:p>
          </p:txBody>
        </p:sp>
      </p:grpSp>
      <p:grpSp>
        <p:nvGrpSpPr>
          <p:cNvPr name="Group 29" id="29"/>
          <p:cNvGrpSpPr/>
          <p:nvPr/>
        </p:nvGrpSpPr>
        <p:grpSpPr>
          <a:xfrm rot="0">
            <a:off x="7089736" y="7029338"/>
            <a:ext cx="5887006" cy="2228962"/>
            <a:chOff x="0" y="0"/>
            <a:chExt cx="1550487" cy="587052"/>
          </a:xfrm>
        </p:grpSpPr>
        <p:sp>
          <p:nvSpPr>
            <p:cNvPr name="Freeform 30" id="30"/>
            <p:cNvSpPr/>
            <p:nvPr/>
          </p:nvSpPr>
          <p:spPr>
            <a:xfrm flipH="false" flipV="false" rot="0">
              <a:off x="0" y="0"/>
              <a:ext cx="1550487" cy="587052"/>
            </a:xfrm>
            <a:custGeom>
              <a:avLst/>
              <a:gdLst/>
              <a:ahLst/>
              <a:cxnLst/>
              <a:rect r="r" b="b" t="t" l="l"/>
              <a:pathLst>
                <a:path h="587052" w="1550487">
                  <a:moveTo>
                    <a:pt x="46028" y="0"/>
                  </a:moveTo>
                  <a:lnTo>
                    <a:pt x="1504459" y="0"/>
                  </a:lnTo>
                  <a:cubicBezTo>
                    <a:pt x="1516667" y="0"/>
                    <a:pt x="1528374" y="4849"/>
                    <a:pt x="1537006" y="13481"/>
                  </a:cubicBezTo>
                  <a:cubicBezTo>
                    <a:pt x="1545638" y="22113"/>
                    <a:pt x="1550487" y="33821"/>
                    <a:pt x="1550487" y="46028"/>
                  </a:cubicBezTo>
                  <a:lnTo>
                    <a:pt x="1550487" y="541024"/>
                  </a:lnTo>
                  <a:cubicBezTo>
                    <a:pt x="1550487" y="566444"/>
                    <a:pt x="1529880" y="587052"/>
                    <a:pt x="1504459" y="587052"/>
                  </a:cubicBezTo>
                  <a:lnTo>
                    <a:pt x="46028" y="587052"/>
                  </a:lnTo>
                  <a:cubicBezTo>
                    <a:pt x="33821" y="587052"/>
                    <a:pt x="22113" y="582202"/>
                    <a:pt x="13481" y="573571"/>
                  </a:cubicBezTo>
                  <a:cubicBezTo>
                    <a:pt x="4849" y="564939"/>
                    <a:pt x="0" y="553231"/>
                    <a:pt x="0" y="541024"/>
                  </a:cubicBezTo>
                  <a:lnTo>
                    <a:pt x="0" y="46028"/>
                  </a:lnTo>
                  <a:cubicBezTo>
                    <a:pt x="0" y="33821"/>
                    <a:pt x="4849" y="22113"/>
                    <a:pt x="13481" y="13481"/>
                  </a:cubicBezTo>
                  <a:cubicBezTo>
                    <a:pt x="22113" y="4849"/>
                    <a:pt x="33821" y="0"/>
                    <a:pt x="46028" y="0"/>
                  </a:cubicBezTo>
                  <a:close/>
                </a:path>
              </a:pathLst>
            </a:custGeom>
            <a:gradFill rotWithShape="true">
              <a:gsLst>
                <a:gs pos="0">
                  <a:srgbClr val="FF6C25">
                    <a:alpha val="100000"/>
                  </a:srgbClr>
                </a:gs>
                <a:gs pos="100000">
                  <a:srgbClr val="F89C22">
                    <a:alpha val="100000"/>
                  </a:srgbClr>
                </a:gs>
              </a:gsLst>
              <a:lin ang="0"/>
            </a:gradFill>
          </p:spPr>
        </p:sp>
        <p:sp>
          <p:nvSpPr>
            <p:cNvPr name="TextBox 31" id="31"/>
            <p:cNvSpPr txBox="true"/>
            <p:nvPr/>
          </p:nvSpPr>
          <p:spPr>
            <a:xfrm>
              <a:off x="0" y="-38100"/>
              <a:ext cx="1550487" cy="625152"/>
            </a:xfrm>
            <a:prstGeom prst="rect">
              <a:avLst/>
            </a:prstGeom>
          </p:spPr>
          <p:txBody>
            <a:bodyPr anchor="ctr" rtlCol="false" tIns="50800" lIns="50800" bIns="50800" rIns="50800"/>
            <a:lstStyle/>
            <a:p>
              <a:pPr algn="ctr" marL="0" indent="0" lvl="0">
                <a:lnSpc>
                  <a:spcPts val="2659"/>
                </a:lnSpc>
              </a:pPr>
            </a:p>
          </p:txBody>
        </p:sp>
      </p:grpSp>
      <p:sp>
        <p:nvSpPr>
          <p:cNvPr name="TextBox 32" id="32"/>
          <p:cNvSpPr txBox="true"/>
          <p:nvPr/>
        </p:nvSpPr>
        <p:spPr>
          <a:xfrm rot="0">
            <a:off x="1593346" y="4906267"/>
            <a:ext cx="4757714" cy="502901"/>
          </a:xfrm>
          <a:prstGeom prst="rect">
            <a:avLst/>
          </a:prstGeom>
        </p:spPr>
        <p:txBody>
          <a:bodyPr anchor="t" rtlCol="false" tIns="0" lIns="0" bIns="0" rIns="0">
            <a:spAutoFit/>
          </a:bodyPr>
          <a:lstStyle/>
          <a:p>
            <a:pPr algn="ctr" marL="0" indent="0" lvl="0">
              <a:lnSpc>
                <a:spcPts val="3987"/>
              </a:lnSpc>
            </a:pPr>
            <a:r>
              <a:rPr lang="en-US" b="true" sz="3497" spc="-146">
                <a:solidFill>
                  <a:srgbClr val="000000"/>
                </a:solidFill>
                <a:latin typeface="Arial Unicode Bold"/>
                <a:ea typeface="Arial Unicode Bold"/>
                <a:cs typeface="Arial Unicode Bold"/>
                <a:sym typeface="Arial Unicode Bold"/>
              </a:rPr>
              <a:t>Agreement / Account</a:t>
            </a:r>
          </a:p>
        </p:txBody>
      </p:sp>
      <p:sp>
        <p:nvSpPr>
          <p:cNvPr name="TextBox 33" id="33"/>
          <p:cNvSpPr txBox="true"/>
          <p:nvPr/>
        </p:nvSpPr>
        <p:spPr>
          <a:xfrm rot="0">
            <a:off x="1593346" y="7399292"/>
            <a:ext cx="4757714" cy="502901"/>
          </a:xfrm>
          <a:prstGeom prst="rect">
            <a:avLst/>
          </a:prstGeom>
        </p:spPr>
        <p:txBody>
          <a:bodyPr anchor="t" rtlCol="false" tIns="0" lIns="0" bIns="0" rIns="0">
            <a:spAutoFit/>
          </a:bodyPr>
          <a:lstStyle/>
          <a:p>
            <a:pPr algn="ctr" marL="0" indent="0" lvl="0">
              <a:lnSpc>
                <a:spcPts val="3987"/>
              </a:lnSpc>
            </a:pPr>
            <a:r>
              <a:rPr lang="en-US" b="true" sz="3497" spc="-146">
                <a:solidFill>
                  <a:srgbClr val="FFFFFF"/>
                </a:solidFill>
                <a:latin typeface="Arial Unicode Bold"/>
                <a:ea typeface="Arial Unicode Bold"/>
                <a:cs typeface="Arial Unicode Bold"/>
                <a:sym typeface="Arial Unicode Bold"/>
              </a:rPr>
              <a:t>Collateral</a:t>
            </a:r>
          </a:p>
        </p:txBody>
      </p:sp>
      <p:sp>
        <p:nvSpPr>
          <p:cNvPr name="TextBox 34" id="34"/>
          <p:cNvSpPr txBox="true"/>
          <p:nvPr/>
        </p:nvSpPr>
        <p:spPr>
          <a:xfrm rot="0">
            <a:off x="7681611" y="4902580"/>
            <a:ext cx="4788534" cy="502901"/>
          </a:xfrm>
          <a:prstGeom prst="rect">
            <a:avLst/>
          </a:prstGeom>
        </p:spPr>
        <p:txBody>
          <a:bodyPr anchor="t" rtlCol="false" tIns="0" lIns="0" bIns="0" rIns="0">
            <a:spAutoFit/>
          </a:bodyPr>
          <a:lstStyle/>
          <a:p>
            <a:pPr algn="ctr" marL="0" indent="0" lvl="0">
              <a:lnSpc>
                <a:spcPts val="3987"/>
              </a:lnSpc>
            </a:pPr>
            <a:r>
              <a:rPr lang="en-US" b="true" sz="3497" spc="-146">
                <a:solidFill>
                  <a:srgbClr val="FFFFFF"/>
                </a:solidFill>
                <a:latin typeface="Arial Unicode Bold"/>
                <a:ea typeface="Arial Unicode Bold"/>
                <a:cs typeface="Arial Unicode Bold"/>
                <a:sym typeface="Arial Unicode Bold"/>
              </a:rPr>
              <a:t>Party</a:t>
            </a:r>
          </a:p>
        </p:txBody>
      </p:sp>
      <p:sp>
        <p:nvSpPr>
          <p:cNvPr name="TextBox 35" id="35"/>
          <p:cNvSpPr txBox="true"/>
          <p:nvPr/>
        </p:nvSpPr>
        <p:spPr>
          <a:xfrm rot="0">
            <a:off x="7794935" y="7399292"/>
            <a:ext cx="4476609" cy="502901"/>
          </a:xfrm>
          <a:prstGeom prst="rect">
            <a:avLst/>
          </a:prstGeom>
        </p:spPr>
        <p:txBody>
          <a:bodyPr anchor="t" rtlCol="false" tIns="0" lIns="0" bIns="0" rIns="0">
            <a:spAutoFit/>
          </a:bodyPr>
          <a:lstStyle/>
          <a:p>
            <a:pPr algn="ctr" marL="0" indent="0" lvl="0">
              <a:lnSpc>
                <a:spcPts val="3987"/>
              </a:lnSpc>
            </a:pPr>
            <a:r>
              <a:rPr lang="en-US" b="true" sz="3497" spc="-146">
                <a:solidFill>
                  <a:srgbClr val="000000"/>
                </a:solidFill>
                <a:latin typeface="Arial Unicode Bold"/>
                <a:ea typeface="Arial Unicode Bold"/>
                <a:cs typeface="Arial Unicode Bold"/>
                <a:sym typeface="Arial Unicode Bold"/>
              </a:rPr>
              <a:t>Link Tables</a:t>
            </a:r>
          </a:p>
        </p:txBody>
      </p:sp>
      <p:sp>
        <p:nvSpPr>
          <p:cNvPr name="TextBox 36" id="36"/>
          <p:cNvSpPr txBox="true"/>
          <p:nvPr/>
        </p:nvSpPr>
        <p:spPr>
          <a:xfrm rot="0">
            <a:off x="1417667" y="5659964"/>
            <a:ext cx="5109073" cy="690951"/>
          </a:xfrm>
          <a:prstGeom prst="rect">
            <a:avLst/>
          </a:prstGeom>
        </p:spPr>
        <p:txBody>
          <a:bodyPr anchor="t" rtlCol="false" tIns="0" lIns="0" bIns="0" rIns="0">
            <a:spAutoFit/>
          </a:bodyPr>
          <a:lstStyle/>
          <a:p>
            <a:pPr algn="ctr" marL="0" indent="0" lvl="0">
              <a:lnSpc>
                <a:spcPts val="1816"/>
              </a:lnSpc>
              <a:spcBef>
                <a:spcPct val="0"/>
              </a:spcBef>
            </a:pPr>
            <a:r>
              <a:rPr lang="en-US" sz="1297">
                <a:solidFill>
                  <a:srgbClr val="000000"/>
                </a:solidFill>
                <a:latin typeface="Open Sans"/>
                <a:ea typeface="Open Sans"/>
                <a:cs typeface="Open Sans"/>
                <a:sym typeface="Open Sans"/>
              </a:rPr>
              <a:t>Central pillar for all financial products. Supports account-level reporting, credit card agreement structures and access device linkage. Extensible beyond core fields.</a:t>
            </a:r>
          </a:p>
        </p:txBody>
      </p:sp>
      <p:sp>
        <p:nvSpPr>
          <p:cNvPr name="TextBox 37" id="37"/>
          <p:cNvSpPr txBox="true"/>
          <p:nvPr/>
        </p:nvSpPr>
        <p:spPr>
          <a:xfrm rot="0">
            <a:off x="1417667" y="8152302"/>
            <a:ext cx="5109073" cy="690951"/>
          </a:xfrm>
          <a:prstGeom prst="rect">
            <a:avLst/>
          </a:prstGeom>
        </p:spPr>
        <p:txBody>
          <a:bodyPr anchor="t" rtlCol="false" tIns="0" lIns="0" bIns="0" rIns="0">
            <a:spAutoFit/>
          </a:bodyPr>
          <a:lstStyle/>
          <a:p>
            <a:pPr algn="ctr" marL="0" indent="0" lvl="0">
              <a:lnSpc>
                <a:spcPts val="1816"/>
              </a:lnSpc>
              <a:spcBef>
                <a:spcPct val="0"/>
              </a:spcBef>
            </a:pPr>
            <a:r>
              <a:rPr lang="en-US" sz="1297">
                <a:solidFill>
                  <a:srgbClr val="FFFFFF"/>
                </a:solidFill>
                <a:latin typeface="Open Sans"/>
                <a:ea typeface="Open Sans"/>
                <a:cs typeface="Open Sans"/>
                <a:sym typeface="Open Sans"/>
              </a:rPr>
              <a:t>Collateral records linked to agreements and parties. Supports secured lending structures. Extensible to hold additional collateral attributes and valuation metadata per tranche.</a:t>
            </a:r>
          </a:p>
        </p:txBody>
      </p:sp>
      <p:sp>
        <p:nvSpPr>
          <p:cNvPr name="TextBox 38" id="38"/>
          <p:cNvSpPr txBox="true"/>
          <p:nvPr/>
        </p:nvSpPr>
        <p:spPr>
          <a:xfrm rot="0">
            <a:off x="7478703" y="5659964"/>
            <a:ext cx="5109073" cy="690951"/>
          </a:xfrm>
          <a:prstGeom prst="rect">
            <a:avLst/>
          </a:prstGeom>
        </p:spPr>
        <p:txBody>
          <a:bodyPr anchor="t" rtlCol="false" tIns="0" lIns="0" bIns="0" rIns="0">
            <a:spAutoFit/>
          </a:bodyPr>
          <a:lstStyle/>
          <a:p>
            <a:pPr algn="ctr" marL="0" indent="0" lvl="0">
              <a:lnSpc>
                <a:spcPts val="1816"/>
              </a:lnSpc>
            </a:pPr>
            <a:r>
              <a:rPr lang="en-US" sz="1297">
                <a:solidFill>
                  <a:srgbClr val="FFFFFF"/>
                </a:solidFill>
                <a:latin typeface="Open Sans"/>
                <a:ea typeface="Open Sans"/>
                <a:cs typeface="Open Sans"/>
                <a:sym typeface="Open Sans"/>
              </a:rPr>
              <a:t>Counterparty and customer entity. Reconciled centrally across all nightly tranches. Supports individual and corporate party types with extensible attribute sets for reporting.</a:t>
            </a:r>
          </a:p>
        </p:txBody>
      </p:sp>
      <p:sp>
        <p:nvSpPr>
          <p:cNvPr name="TextBox 39" id="39"/>
          <p:cNvSpPr txBox="true"/>
          <p:nvPr/>
        </p:nvSpPr>
        <p:spPr>
          <a:xfrm rot="0">
            <a:off x="7478703" y="8152302"/>
            <a:ext cx="5109073" cy="690951"/>
          </a:xfrm>
          <a:prstGeom prst="rect">
            <a:avLst/>
          </a:prstGeom>
        </p:spPr>
        <p:txBody>
          <a:bodyPr anchor="t" rtlCol="false" tIns="0" lIns="0" bIns="0" rIns="0">
            <a:spAutoFit/>
          </a:bodyPr>
          <a:lstStyle/>
          <a:p>
            <a:pPr algn="ctr" marL="0" indent="0" lvl="0">
              <a:lnSpc>
                <a:spcPts val="1816"/>
              </a:lnSpc>
              <a:spcBef>
                <a:spcPct val="0"/>
              </a:spcBef>
            </a:pPr>
            <a:r>
              <a:rPr lang="en-US" sz="1297">
                <a:solidFill>
                  <a:srgbClr val="000000"/>
                </a:solidFill>
                <a:latin typeface="Open Sans"/>
                <a:ea typeface="Open Sans"/>
                <a:cs typeface="Open Sans"/>
                <a:sym typeface="Open Sans"/>
              </a:rPr>
              <a:t>Relational bridge tables connecting Agreement, Party and Collateral. Enable many-to-many relationships and cross-entity reconciliation. Critical for consolidated reporting across tranches.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0982255" y="5143500"/>
            <a:ext cx="31045746" cy="5574178"/>
          </a:xfrm>
          <a:custGeom>
            <a:avLst/>
            <a:gdLst/>
            <a:ahLst/>
            <a:cxnLst/>
            <a:rect r="r" b="b" t="t" l="l"/>
            <a:pathLst>
              <a:path h="5574178" w="31045746">
                <a:moveTo>
                  <a:pt x="31045746" y="0"/>
                </a:moveTo>
                <a:lnTo>
                  <a:pt x="0" y="0"/>
                </a:lnTo>
                <a:lnTo>
                  <a:pt x="0" y="5574178"/>
                </a:lnTo>
                <a:lnTo>
                  <a:pt x="31045746" y="5574178"/>
                </a:lnTo>
                <a:lnTo>
                  <a:pt x="31045746"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1483172">
            <a:off x="-1973571" y="-2412248"/>
            <a:ext cx="7371980" cy="8275758"/>
          </a:xfrm>
          <a:custGeom>
            <a:avLst/>
            <a:gdLst/>
            <a:ahLst/>
            <a:cxnLst/>
            <a:rect r="r" b="b" t="t" l="l"/>
            <a:pathLst>
              <a:path h="8275758" w="7371980">
                <a:moveTo>
                  <a:pt x="0" y="8275758"/>
                </a:moveTo>
                <a:lnTo>
                  <a:pt x="7371980" y="8275758"/>
                </a:lnTo>
                <a:lnTo>
                  <a:pt x="7371980" y="0"/>
                </a:lnTo>
                <a:lnTo>
                  <a:pt x="0" y="0"/>
                </a:lnTo>
                <a:lnTo>
                  <a:pt x="0" y="8275758"/>
                </a:lnTo>
                <a:close/>
              </a:path>
            </a:pathLst>
          </a:custGeom>
          <a:blipFill>
            <a:blip r:embed="rId4"/>
            <a:stretch>
              <a:fillRect l="0" t="-74203" r="-15543" b="0"/>
            </a:stretch>
          </a:blipFill>
        </p:spPr>
      </p:sp>
      <p:sp>
        <p:nvSpPr>
          <p:cNvPr name="Freeform 4" id="4"/>
          <p:cNvSpPr/>
          <p:nvPr/>
        </p:nvSpPr>
        <p:spPr>
          <a:xfrm flipH="true" flipV="true" rot="-1481999">
            <a:off x="12890347" y="-2412248"/>
            <a:ext cx="7371980" cy="8275758"/>
          </a:xfrm>
          <a:custGeom>
            <a:avLst/>
            <a:gdLst/>
            <a:ahLst/>
            <a:cxnLst/>
            <a:rect r="r" b="b" t="t" l="l"/>
            <a:pathLst>
              <a:path h="8275758" w="7371980">
                <a:moveTo>
                  <a:pt x="7371980" y="8275758"/>
                </a:moveTo>
                <a:lnTo>
                  <a:pt x="0" y="8275758"/>
                </a:lnTo>
                <a:lnTo>
                  <a:pt x="0" y="0"/>
                </a:lnTo>
                <a:lnTo>
                  <a:pt x="7371980" y="0"/>
                </a:lnTo>
                <a:lnTo>
                  <a:pt x="7371980" y="8275758"/>
                </a:lnTo>
                <a:close/>
              </a:path>
            </a:pathLst>
          </a:custGeom>
          <a:blipFill>
            <a:blip r:embed="rId4"/>
            <a:stretch>
              <a:fillRect l="0" t="-74203" r="-15543" b="0"/>
            </a:stretch>
          </a:blipFill>
        </p:spPr>
      </p:sp>
      <p:sp>
        <p:nvSpPr>
          <p:cNvPr name="Freeform 5" id="5"/>
          <p:cNvSpPr/>
          <p:nvPr/>
        </p:nvSpPr>
        <p:spPr>
          <a:xfrm flipH="false" flipV="false" rot="0">
            <a:off x="16281586" y="6199032"/>
            <a:ext cx="2914648" cy="3059268"/>
          </a:xfrm>
          <a:custGeom>
            <a:avLst/>
            <a:gdLst/>
            <a:ahLst/>
            <a:cxnLst/>
            <a:rect r="r" b="b" t="t" l="l"/>
            <a:pathLst>
              <a:path h="3059268" w="2914648">
                <a:moveTo>
                  <a:pt x="0" y="0"/>
                </a:moveTo>
                <a:lnTo>
                  <a:pt x="2914649" y="0"/>
                </a:lnTo>
                <a:lnTo>
                  <a:pt x="2914649" y="3059268"/>
                </a:lnTo>
                <a:lnTo>
                  <a:pt x="0" y="3059268"/>
                </a:lnTo>
                <a:lnTo>
                  <a:pt x="0" y="0"/>
                </a:lnTo>
                <a:close/>
              </a:path>
            </a:pathLst>
          </a:custGeom>
          <a:blipFill>
            <a:blip r:embed="rId5">
              <a:alphaModFix amt="28000"/>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733503" y="6400955"/>
            <a:ext cx="2914648" cy="3059268"/>
          </a:xfrm>
          <a:custGeom>
            <a:avLst/>
            <a:gdLst/>
            <a:ahLst/>
            <a:cxnLst/>
            <a:rect r="r" b="b" t="t" l="l"/>
            <a:pathLst>
              <a:path h="3059268" w="2914648">
                <a:moveTo>
                  <a:pt x="2914648" y="0"/>
                </a:moveTo>
                <a:lnTo>
                  <a:pt x="0" y="0"/>
                </a:lnTo>
                <a:lnTo>
                  <a:pt x="0" y="3059268"/>
                </a:lnTo>
                <a:lnTo>
                  <a:pt x="2914648" y="3059268"/>
                </a:lnTo>
                <a:lnTo>
                  <a:pt x="2914648" y="0"/>
                </a:lnTo>
                <a:close/>
              </a:path>
            </a:pathLst>
          </a:custGeom>
          <a:blipFill>
            <a:blip r:embed="rId5">
              <a:alphaModFix amt="28000"/>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6877393" y="1458734"/>
            <a:ext cx="4533215" cy="1085810"/>
          </a:xfrm>
          <a:prstGeom prst="rect">
            <a:avLst/>
          </a:prstGeom>
        </p:spPr>
        <p:txBody>
          <a:bodyPr anchor="t" rtlCol="false" tIns="0" lIns="0" bIns="0" rIns="0">
            <a:spAutoFit/>
          </a:bodyPr>
          <a:lstStyle/>
          <a:p>
            <a:pPr algn="ctr" marL="0" indent="0" lvl="0">
              <a:lnSpc>
                <a:spcPts val="8543"/>
              </a:lnSpc>
            </a:pPr>
            <a:r>
              <a:rPr lang="en-US" b="true" sz="7494" spc="-314">
                <a:solidFill>
                  <a:srgbClr val="F45D14"/>
                </a:solidFill>
                <a:latin typeface="Arial Unicode Bold"/>
                <a:ea typeface="Arial Unicode Bold"/>
                <a:cs typeface="Arial Unicode Bold"/>
                <a:sym typeface="Arial Unicode Bold"/>
              </a:rPr>
              <a:t>Tranche</a:t>
            </a:r>
          </a:p>
        </p:txBody>
      </p:sp>
      <p:sp>
        <p:nvSpPr>
          <p:cNvPr name="TextBox 8" id="8"/>
          <p:cNvSpPr txBox="true"/>
          <p:nvPr/>
        </p:nvSpPr>
        <p:spPr>
          <a:xfrm rot="0">
            <a:off x="6038741" y="2285138"/>
            <a:ext cx="6210517" cy="1085810"/>
          </a:xfrm>
          <a:prstGeom prst="rect">
            <a:avLst/>
          </a:prstGeom>
        </p:spPr>
        <p:txBody>
          <a:bodyPr anchor="t" rtlCol="false" tIns="0" lIns="0" bIns="0" rIns="0">
            <a:spAutoFit/>
          </a:bodyPr>
          <a:lstStyle/>
          <a:p>
            <a:pPr algn="ctr" marL="0" indent="0" lvl="0">
              <a:lnSpc>
                <a:spcPts val="8543"/>
              </a:lnSpc>
            </a:pPr>
            <a:r>
              <a:rPr lang="en-US" b="true" sz="7494" spc="-314">
                <a:solidFill>
                  <a:srgbClr val="2F3D47"/>
                </a:solidFill>
                <a:latin typeface="Arial Unicode Bold"/>
                <a:ea typeface="Arial Unicode Bold"/>
                <a:cs typeface="Arial Unicode Bold"/>
                <a:sym typeface="Arial Unicode Bold"/>
              </a:rPr>
              <a:t>Reconciliation</a:t>
            </a:r>
          </a:p>
        </p:txBody>
      </p:sp>
      <p:sp>
        <p:nvSpPr>
          <p:cNvPr name="TextBox 9" id="9"/>
          <p:cNvSpPr txBox="true"/>
          <p:nvPr/>
        </p:nvSpPr>
        <p:spPr>
          <a:xfrm rot="0">
            <a:off x="8100621" y="3676089"/>
            <a:ext cx="8771639" cy="1166891"/>
          </a:xfrm>
          <a:prstGeom prst="rect">
            <a:avLst/>
          </a:prstGeom>
        </p:spPr>
        <p:txBody>
          <a:bodyPr anchor="t" rtlCol="false" tIns="0" lIns="0" bIns="0" rIns="0">
            <a:spAutoFit/>
          </a:bodyPr>
          <a:lstStyle/>
          <a:p>
            <a:pPr algn="l" marL="0" indent="0" lvl="0">
              <a:lnSpc>
                <a:spcPts val="2358"/>
              </a:lnSpc>
              <a:spcBef>
                <a:spcPct val="0"/>
              </a:spcBef>
            </a:pPr>
            <a:r>
              <a:rPr lang="en-US" sz="1684">
                <a:solidFill>
                  <a:srgbClr val="000000"/>
                </a:solidFill>
                <a:latin typeface="Open Sans"/>
                <a:ea typeface="Open Sans"/>
                <a:cs typeface="Open Sans"/>
                <a:sym typeface="Open Sans"/>
              </a:rPr>
              <a:t>Nightly file series are delivered in tranches from BAWAG. Central reconciliation maps each tranche back to core pillar entities — ensuring data integrity, completeness, and consistency across Party, Agreement, Collateral, and Link Tables before downstream processing begins.</a:t>
            </a:r>
          </a:p>
        </p:txBody>
      </p:sp>
      <p:grpSp>
        <p:nvGrpSpPr>
          <p:cNvPr name="Group 10" id="10"/>
          <p:cNvGrpSpPr/>
          <p:nvPr/>
        </p:nvGrpSpPr>
        <p:grpSpPr>
          <a:xfrm rot="0">
            <a:off x="8100621" y="5352148"/>
            <a:ext cx="7523741" cy="634029"/>
            <a:chOff x="0" y="0"/>
            <a:chExt cx="4822569" cy="406400"/>
          </a:xfrm>
        </p:grpSpPr>
        <p:sp>
          <p:nvSpPr>
            <p:cNvPr name="Freeform 11" id="11"/>
            <p:cNvSpPr/>
            <p:nvPr/>
          </p:nvSpPr>
          <p:spPr>
            <a:xfrm flipH="false" flipV="false" rot="0">
              <a:off x="0" y="0"/>
              <a:ext cx="4822570" cy="406400"/>
            </a:xfrm>
            <a:custGeom>
              <a:avLst/>
              <a:gdLst/>
              <a:ahLst/>
              <a:cxnLst/>
              <a:rect r="r" b="b" t="t" l="l"/>
              <a:pathLst>
                <a:path h="406400" w="4822570">
                  <a:moveTo>
                    <a:pt x="4619370" y="0"/>
                  </a:moveTo>
                  <a:cubicBezTo>
                    <a:pt x="4731594" y="0"/>
                    <a:pt x="4822570" y="90976"/>
                    <a:pt x="4822570" y="203200"/>
                  </a:cubicBezTo>
                  <a:cubicBezTo>
                    <a:pt x="4822570" y="315424"/>
                    <a:pt x="4731594" y="406400"/>
                    <a:pt x="4619370" y="406400"/>
                  </a:cubicBezTo>
                  <a:lnTo>
                    <a:pt x="203200" y="406400"/>
                  </a:lnTo>
                  <a:cubicBezTo>
                    <a:pt x="90976" y="406400"/>
                    <a:pt x="0" y="315424"/>
                    <a:pt x="0" y="203200"/>
                  </a:cubicBezTo>
                  <a:cubicBezTo>
                    <a:pt x="0" y="90976"/>
                    <a:pt x="90976" y="0"/>
                    <a:pt x="203200" y="0"/>
                  </a:cubicBezTo>
                  <a:close/>
                </a:path>
              </a:pathLst>
            </a:custGeom>
            <a:solidFill>
              <a:srgbClr val="2F3D47"/>
            </a:solidFill>
          </p:spPr>
        </p:sp>
        <p:sp>
          <p:nvSpPr>
            <p:cNvPr name="TextBox 12" id="12"/>
            <p:cNvSpPr txBox="true"/>
            <p:nvPr/>
          </p:nvSpPr>
          <p:spPr>
            <a:xfrm>
              <a:off x="0" y="-38100"/>
              <a:ext cx="4822569" cy="444500"/>
            </a:xfrm>
            <a:prstGeom prst="rect">
              <a:avLst/>
            </a:prstGeom>
          </p:spPr>
          <p:txBody>
            <a:bodyPr anchor="ctr" rtlCol="false" tIns="50800" lIns="50800" bIns="50800" rIns="50800"/>
            <a:lstStyle/>
            <a:p>
              <a:pPr algn="ctr" marL="0" indent="0" lvl="0">
                <a:lnSpc>
                  <a:spcPts val="2659"/>
                </a:lnSpc>
              </a:pPr>
            </a:p>
          </p:txBody>
        </p:sp>
      </p:grpSp>
      <p:grpSp>
        <p:nvGrpSpPr>
          <p:cNvPr name="Group 13" id="13"/>
          <p:cNvGrpSpPr/>
          <p:nvPr/>
        </p:nvGrpSpPr>
        <p:grpSpPr>
          <a:xfrm rot="0">
            <a:off x="8100621" y="6319552"/>
            <a:ext cx="7523741" cy="634029"/>
            <a:chOff x="0" y="0"/>
            <a:chExt cx="4822569" cy="406400"/>
          </a:xfrm>
        </p:grpSpPr>
        <p:sp>
          <p:nvSpPr>
            <p:cNvPr name="Freeform 14" id="14"/>
            <p:cNvSpPr/>
            <p:nvPr/>
          </p:nvSpPr>
          <p:spPr>
            <a:xfrm flipH="false" flipV="false" rot="0">
              <a:off x="0" y="0"/>
              <a:ext cx="4822570" cy="406400"/>
            </a:xfrm>
            <a:custGeom>
              <a:avLst/>
              <a:gdLst/>
              <a:ahLst/>
              <a:cxnLst/>
              <a:rect r="r" b="b" t="t" l="l"/>
              <a:pathLst>
                <a:path h="406400" w="4822570">
                  <a:moveTo>
                    <a:pt x="4619370" y="0"/>
                  </a:moveTo>
                  <a:cubicBezTo>
                    <a:pt x="4731594" y="0"/>
                    <a:pt x="4822570" y="90976"/>
                    <a:pt x="4822570" y="203200"/>
                  </a:cubicBezTo>
                  <a:cubicBezTo>
                    <a:pt x="4822570" y="315424"/>
                    <a:pt x="4731594" y="406400"/>
                    <a:pt x="4619370"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F6C25">
                    <a:alpha val="100000"/>
                  </a:srgbClr>
                </a:gs>
                <a:gs pos="100000">
                  <a:srgbClr val="F89C22">
                    <a:alpha val="100000"/>
                  </a:srgbClr>
                </a:gs>
              </a:gsLst>
              <a:lin ang="0"/>
            </a:gradFill>
          </p:spPr>
        </p:sp>
        <p:sp>
          <p:nvSpPr>
            <p:cNvPr name="TextBox 15" id="15"/>
            <p:cNvSpPr txBox="true"/>
            <p:nvPr/>
          </p:nvSpPr>
          <p:spPr>
            <a:xfrm>
              <a:off x="0" y="-38100"/>
              <a:ext cx="4822569" cy="444500"/>
            </a:xfrm>
            <a:prstGeom prst="rect">
              <a:avLst/>
            </a:prstGeom>
          </p:spPr>
          <p:txBody>
            <a:bodyPr anchor="ctr" rtlCol="false" tIns="50800" lIns="50800" bIns="50800" rIns="50800"/>
            <a:lstStyle/>
            <a:p>
              <a:pPr algn="ctr" marL="0" indent="0" lvl="0">
                <a:lnSpc>
                  <a:spcPts val="2659"/>
                </a:lnSpc>
              </a:pPr>
            </a:p>
          </p:txBody>
        </p:sp>
      </p:grpSp>
      <p:sp>
        <p:nvSpPr>
          <p:cNvPr name="TextBox 16" id="16"/>
          <p:cNvSpPr txBox="true"/>
          <p:nvPr/>
        </p:nvSpPr>
        <p:spPr>
          <a:xfrm rot="0">
            <a:off x="9575786" y="5412940"/>
            <a:ext cx="4618636" cy="371957"/>
          </a:xfrm>
          <a:prstGeom prst="rect">
            <a:avLst/>
          </a:prstGeom>
        </p:spPr>
        <p:txBody>
          <a:bodyPr anchor="t" rtlCol="false" tIns="0" lIns="0" bIns="0" rIns="0">
            <a:spAutoFit/>
          </a:bodyPr>
          <a:lstStyle/>
          <a:p>
            <a:pPr algn="ctr" marL="0" indent="0" lvl="0">
              <a:lnSpc>
                <a:spcPts val="2922"/>
              </a:lnSpc>
            </a:pPr>
            <a:r>
              <a:rPr lang="en-US" b="true" sz="2563" spc="-107">
                <a:solidFill>
                  <a:srgbClr val="FFFFFF"/>
                </a:solidFill>
                <a:latin typeface="Arial Unicode Bold"/>
                <a:ea typeface="Arial Unicode Bold"/>
                <a:cs typeface="Arial Unicode Bold"/>
                <a:sym typeface="Arial Unicode Bold"/>
              </a:rPr>
              <a:t>Party Entity Reconciliation</a:t>
            </a:r>
          </a:p>
        </p:txBody>
      </p:sp>
      <p:sp>
        <p:nvSpPr>
          <p:cNvPr name="TextBox 17" id="17"/>
          <p:cNvSpPr txBox="true"/>
          <p:nvPr/>
        </p:nvSpPr>
        <p:spPr>
          <a:xfrm rot="0">
            <a:off x="9575786" y="6380344"/>
            <a:ext cx="4618636" cy="371957"/>
          </a:xfrm>
          <a:prstGeom prst="rect">
            <a:avLst/>
          </a:prstGeom>
        </p:spPr>
        <p:txBody>
          <a:bodyPr anchor="t" rtlCol="false" tIns="0" lIns="0" bIns="0" rIns="0">
            <a:spAutoFit/>
          </a:bodyPr>
          <a:lstStyle/>
          <a:p>
            <a:pPr algn="ctr" marL="0" indent="0" lvl="0">
              <a:lnSpc>
                <a:spcPts val="2922"/>
              </a:lnSpc>
            </a:pPr>
            <a:r>
              <a:rPr lang="en-US" b="true" sz="2563" spc="-107">
                <a:solidFill>
                  <a:srgbClr val="000000"/>
                </a:solidFill>
                <a:latin typeface="Arial Unicode Bold"/>
                <a:ea typeface="Arial Unicode Bold"/>
                <a:cs typeface="Arial Unicode Bold"/>
                <a:sym typeface="Arial Unicode Bold"/>
              </a:rPr>
              <a:t>Agreement &amp; Account Matching</a:t>
            </a:r>
          </a:p>
        </p:txBody>
      </p:sp>
      <p:sp>
        <p:nvSpPr>
          <p:cNvPr name="Freeform 18" id="18"/>
          <p:cNvSpPr/>
          <p:nvPr/>
        </p:nvSpPr>
        <p:spPr>
          <a:xfrm flipH="false" flipV="false" rot="0">
            <a:off x="-1155080" y="2544584"/>
            <a:ext cx="9255701" cy="9238872"/>
          </a:xfrm>
          <a:custGeom>
            <a:avLst/>
            <a:gdLst/>
            <a:ahLst/>
            <a:cxnLst/>
            <a:rect r="r" b="b" t="t" l="l"/>
            <a:pathLst>
              <a:path h="9238872" w="9255701">
                <a:moveTo>
                  <a:pt x="0" y="0"/>
                </a:moveTo>
                <a:lnTo>
                  <a:pt x="9255701" y="0"/>
                </a:lnTo>
                <a:lnTo>
                  <a:pt x="9255701" y="9238872"/>
                </a:lnTo>
                <a:lnTo>
                  <a:pt x="0" y="9238872"/>
                </a:lnTo>
                <a:lnTo>
                  <a:pt x="0" y="0"/>
                </a:lnTo>
                <a:close/>
              </a:path>
            </a:pathLst>
          </a:custGeom>
          <a:blipFill>
            <a:blip r:embed="rId7"/>
            <a:stretch>
              <a:fillRect l="0" t="0" r="0" b="0"/>
            </a:stretch>
          </a:blipFill>
        </p:spPr>
      </p:sp>
      <p:grpSp>
        <p:nvGrpSpPr>
          <p:cNvPr name="Group 19" id="19"/>
          <p:cNvGrpSpPr/>
          <p:nvPr/>
        </p:nvGrpSpPr>
        <p:grpSpPr>
          <a:xfrm rot="0">
            <a:off x="-494852" y="3112058"/>
            <a:ext cx="7935244" cy="7935244"/>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68B23">
                    <a:alpha val="100000"/>
                  </a:srgbClr>
                </a:gs>
                <a:gs pos="50000">
                  <a:srgbClr val="FBA911">
                    <a:alpha val="100000"/>
                  </a:srgbClr>
                </a:gs>
                <a:gs pos="100000">
                  <a:srgbClr val="FFD950">
                    <a:alpha val="100000"/>
                  </a:srgbClr>
                </a:gs>
              </a:gsLst>
              <a:lin ang="0"/>
            </a:gra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2" id="22"/>
          <p:cNvGrpSpPr/>
          <p:nvPr/>
        </p:nvGrpSpPr>
        <p:grpSpPr>
          <a:xfrm rot="5400000">
            <a:off x="-162906" y="3444004"/>
            <a:ext cx="7271352" cy="7271352"/>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68B23">
                    <a:alpha val="100000"/>
                  </a:srgbClr>
                </a:gs>
                <a:gs pos="50000">
                  <a:srgbClr val="FBA911">
                    <a:alpha val="100000"/>
                  </a:srgbClr>
                </a:gs>
                <a:gs pos="100000">
                  <a:srgbClr val="FFD950">
                    <a:alpha val="100000"/>
                  </a:srgbClr>
                </a:gs>
              </a:gsLst>
              <a:lin ang="0"/>
            </a:gra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5" id="25"/>
          <p:cNvGrpSpPr/>
          <p:nvPr/>
        </p:nvGrpSpPr>
        <p:grpSpPr>
          <a:xfrm rot="0">
            <a:off x="104874" y="3711784"/>
            <a:ext cx="6735792" cy="6735792"/>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l="0" t="0" r="0" b="0"/>
              </a:stretch>
            </a:blipFill>
          </p:spPr>
        </p:sp>
      </p:grpSp>
      <p:grpSp>
        <p:nvGrpSpPr>
          <p:cNvPr name="Group 27" id="27"/>
          <p:cNvGrpSpPr/>
          <p:nvPr/>
        </p:nvGrpSpPr>
        <p:grpSpPr>
          <a:xfrm rot="0">
            <a:off x="8100621" y="7286956"/>
            <a:ext cx="7523741" cy="634029"/>
            <a:chOff x="0" y="0"/>
            <a:chExt cx="4822569" cy="406400"/>
          </a:xfrm>
        </p:grpSpPr>
        <p:sp>
          <p:nvSpPr>
            <p:cNvPr name="Freeform 28" id="28"/>
            <p:cNvSpPr/>
            <p:nvPr/>
          </p:nvSpPr>
          <p:spPr>
            <a:xfrm flipH="false" flipV="false" rot="0">
              <a:off x="0" y="0"/>
              <a:ext cx="4822570" cy="406400"/>
            </a:xfrm>
            <a:custGeom>
              <a:avLst/>
              <a:gdLst/>
              <a:ahLst/>
              <a:cxnLst/>
              <a:rect r="r" b="b" t="t" l="l"/>
              <a:pathLst>
                <a:path h="406400" w="4822570">
                  <a:moveTo>
                    <a:pt x="4619370" y="0"/>
                  </a:moveTo>
                  <a:cubicBezTo>
                    <a:pt x="4731594" y="0"/>
                    <a:pt x="4822570" y="90976"/>
                    <a:pt x="4822570" y="203200"/>
                  </a:cubicBezTo>
                  <a:cubicBezTo>
                    <a:pt x="4822570" y="315424"/>
                    <a:pt x="4731594" y="406400"/>
                    <a:pt x="4619370" y="406400"/>
                  </a:cubicBezTo>
                  <a:lnTo>
                    <a:pt x="203200" y="406400"/>
                  </a:lnTo>
                  <a:cubicBezTo>
                    <a:pt x="90976" y="406400"/>
                    <a:pt x="0" y="315424"/>
                    <a:pt x="0" y="203200"/>
                  </a:cubicBezTo>
                  <a:cubicBezTo>
                    <a:pt x="0" y="90976"/>
                    <a:pt x="90976" y="0"/>
                    <a:pt x="203200" y="0"/>
                  </a:cubicBezTo>
                  <a:close/>
                </a:path>
              </a:pathLst>
            </a:custGeom>
            <a:solidFill>
              <a:srgbClr val="2F3D47"/>
            </a:solidFill>
          </p:spPr>
        </p:sp>
        <p:sp>
          <p:nvSpPr>
            <p:cNvPr name="TextBox 29" id="29"/>
            <p:cNvSpPr txBox="true"/>
            <p:nvPr/>
          </p:nvSpPr>
          <p:spPr>
            <a:xfrm>
              <a:off x="0" y="-38100"/>
              <a:ext cx="4822569" cy="444500"/>
            </a:xfrm>
            <a:prstGeom prst="rect">
              <a:avLst/>
            </a:prstGeom>
          </p:spPr>
          <p:txBody>
            <a:bodyPr anchor="ctr" rtlCol="false" tIns="50800" lIns="50800" bIns="50800" rIns="50800"/>
            <a:lstStyle/>
            <a:p>
              <a:pPr algn="ctr" marL="0" indent="0" lvl="0">
                <a:lnSpc>
                  <a:spcPts val="2659"/>
                </a:lnSpc>
              </a:pPr>
            </a:p>
          </p:txBody>
        </p:sp>
      </p:grpSp>
      <p:sp>
        <p:nvSpPr>
          <p:cNvPr name="TextBox 30" id="30"/>
          <p:cNvSpPr txBox="true"/>
          <p:nvPr/>
        </p:nvSpPr>
        <p:spPr>
          <a:xfrm rot="0">
            <a:off x="8911251" y="7347748"/>
            <a:ext cx="5947706" cy="371957"/>
          </a:xfrm>
          <a:prstGeom prst="rect">
            <a:avLst/>
          </a:prstGeom>
        </p:spPr>
        <p:txBody>
          <a:bodyPr anchor="t" rtlCol="false" tIns="0" lIns="0" bIns="0" rIns="0">
            <a:spAutoFit/>
          </a:bodyPr>
          <a:lstStyle/>
          <a:p>
            <a:pPr algn="ctr" marL="0" indent="0" lvl="0">
              <a:lnSpc>
                <a:spcPts val="2922"/>
              </a:lnSpc>
            </a:pPr>
            <a:r>
              <a:rPr lang="en-US" b="true" sz="2563" spc="-107">
                <a:solidFill>
                  <a:srgbClr val="FFFFFF"/>
                </a:solidFill>
                <a:latin typeface="Arial Unicode Bold"/>
                <a:ea typeface="Arial Unicode Bold"/>
                <a:cs typeface="Arial Unicode Bold"/>
                <a:sym typeface="Arial Unicode Bold"/>
              </a:rPr>
              <a:t>Collateral &amp; Link Table Validation</a:t>
            </a:r>
          </a:p>
        </p:txBody>
      </p:sp>
      <p:grpSp>
        <p:nvGrpSpPr>
          <p:cNvPr name="Group 31" id="31"/>
          <p:cNvGrpSpPr/>
          <p:nvPr/>
        </p:nvGrpSpPr>
        <p:grpSpPr>
          <a:xfrm rot="0">
            <a:off x="8100621" y="8254360"/>
            <a:ext cx="7523741" cy="634029"/>
            <a:chOff x="0" y="0"/>
            <a:chExt cx="4822569" cy="406400"/>
          </a:xfrm>
        </p:grpSpPr>
        <p:sp>
          <p:nvSpPr>
            <p:cNvPr name="Freeform 32" id="32"/>
            <p:cNvSpPr/>
            <p:nvPr/>
          </p:nvSpPr>
          <p:spPr>
            <a:xfrm flipH="false" flipV="false" rot="0">
              <a:off x="0" y="0"/>
              <a:ext cx="4822570" cy="406400"/>
            </a:xfrm>
            <a:custGeom>
              <a:avLst/>
              <a:gdLst/>
              <a:ahLst/>
              <a:cxnLst/>
              <a:rect r="r" b="b" t="t" l="l"/>
              <a:pathLst>
                <a:path h="406400" w="4822570">
                  <a:moveTo>
                    <a:pt x="4619370" y="0"/>
                  </a:moveTo>
                  <a:cubicBezTo>
                    <a:pt x="4731594" y="0"/>
                    <a:pt x="4822570" y="90976"/>
                    <a:pt x="4822570" y="203200"/>
                  </a:cubicBezTo>
                  <a:cubicBezTo>
                    <a:pt x="4822570" y="315424"/>
                    <a:pt x="4731594" y="406400"/>
                    <a:pt x="4619370"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F6C25">
                    <a:alpha val="100000"/>
                  </a:srgbClr>
                </a:gs>
                <a:gs pos="100000">
                  <a:srgbClr val="F89C22">
                    <a:alpha val="100000"/>
                  </a:srgbClr>
                </a:gs>
              </a:gsLst>
              <a:lin ang="0"/>
            </a:gradFill>
          </p:spPr>
        </p:sp>
        <p:sp>
          <p:nvSpPr>
            <p:cNvPr name="TextBox 33" id="33"/>
            <p:cNvSpPr txBox="true"/>
            <p:nvPr/>
          </p:nvSpPr>
          <p:spPr>
            <a:xfrm>
              <a:off x="0" y="-38100"/>
              <a:ext cx="4822569" cy="444500"/>
            </a:xfrm>
            <a:prstGeom prst="rect">
              <a:avLst/>
            </a:prstGeom>
          </p:spPr>
          <p:txBody>
            <a:bodyPr anchor="ctr" rtlCol="false" tIns="50800" lIns="50800" bIns="50800" rIns="50800"/>
            <a:lstStyle/>
            <a:p>
              <a:pPr algn="ctr" marL="0" indent="0" lvl="0">
                <a:lnSpc>
                  <a:spcPts val="2659"/>
                </a:lnSpc>
              </a:pPr>
            </a:p>
          </p:txBody>
        </p:sp>
      </p:grpSp>
      <p:sp>
        <p:nvSpPr>
          <p:cNvPr name="TextBox 34" id="34"/>
          <p:cNvSpPr txBox="true"/>
          <p:nvPr/>
        </p:nvSpPr>
        <p:spPr>
          <a:xfrm rot="0">
            <a:off x="9070620" y="8315152"/>
            <a:ext cx="5628967" cy="371957"/>
          </a:xfrm>
          <a:prstGeom prst="rect">
            <a:avLst/>
          </a:prstGeom>
        </p:spPr>
        <p:txBody>
          <a:bodyPr anchor="t" rtlCol="false" tIns="0" lIns="0" bIns="0" rIns="0">
            <a:spAutoFit/>
          </a:bodyPr>
          <a:lstStyle/>
          <a:p>
            <a:pPr algn="ctr" marL="0" indent="0" lvl="0">
              <a:lnSpc>
                <a:spcPts val="2922"/>
              </a:lnSpc>
            </a:pPr>
            <a:r>
              <a:rPr lang="en-US" b="true" sz="2563" spc="-107">
                <a:solidFill>
                  <a:srgbClr val="000000"/>
                </a:solidFill>
                <a:latin typeface="Arial Unicode Bold"/>
                <a:ea typeface="Arial Unicode Bold"/>
                <a:cs typeface="Arial Unicode Bold"/>
                <a:sym typeface="Arial Unicode Bold"/>
              </a:rPr>
              <a:t>Tranche Completeness Check</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9472807" y="5320495"/>
            <a:ext cx="31045746" cy="5574178"/>
          </a:xfrm>
          <a:custGeom>
            <a:avLst/>
            <a:gdLst/>
            <a:ahLst/>
            <a:cxnLst/>
            <a:rect r="r" b="b" t="t" l="l"/>
            <a:pathLst>
              <a:path h="5574178" w="31045746">
                <a:moveTo>
                  <a:pt x="31045746" y="0"/>
                </a:moveTo>
                <a:lnTo>
                  <a:pt x="0" y="0"/>
                </a:lnTo>
                <a:lnTo>
                  <a:pt x="0" y="5574178"/>
                </a:lnTo>
                <a:lnTo>
                  <a:pt x="31045746" y="5574178"/>
                </a:lnTo>
                <a:lnTo>
                  <a:pt x="31045746"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4115999">
            <a:off x="-5421513" y="-1537541"/>
            <a:ext cx="11909854" cy="18399100"/>
          </a:xfrm>
          <a:custGeom>
            <a:avLst/>
            <a:gdLst/>
            <a:ahLst/>
            <a:cxnLst/>
            <a:rect r="r" b="b" t="t" l="l"/>
            <a:pathLst>
              <a:path h="18399100" w="11909854">
                <a:moveTo>
                  <a:pt x="0" y="18399100"/>
                </a:moveTo>
                <a:lnTo>
                  <a:pt x="11909854" y="18399100"/>
                </a:lnTo>
                <a:lnTo>
                  <a:pt x="11909854" y="0"/>
                </a:lnTo>
                <a:lnTo>
                  <a:pt x="0" y="0"/>
                </a:lnTo>
                <a:lnTo>
                  <a:pt x="0" y="18399100"/>
                </a:lnTo>
                <a:close/>
              </a:path>
            </a:pathLst>
          </a:custGeom>
          <a:blipFill>
            <a:blip r:embed="rId4"/>
            <a:stretch>
              <a:fillRect l="0" t="-47648" r="-34767" b="0"/>
            </a:stretch>
          </a:blipFill>
        </p:spPr>
      </p:sp>
      <p:sp>
        <p:nvSpPr>
          <p:cNvPr name="Freeform 4" id="4"/>
          <p:cNvSpPr/>
          <p:nvPr/>
        </p:nvSpPr>
        <p:spPr>
          <a:xfrm flipH="false" flipV="true" rot="1211078">
            <a:off x="-1391746" y="-4304684"/>
            <a:ext cx="7486778" cy="11566051"/>
          </a:xfrm>
          <a:custGeom>
            <a:avLst/>
            <a:gdLst/>
            <a:ahLst/>
            <a:cxnLst/>
            <a:rect r="r" b="b" t="t" l="l"/>
            <a:pathLst>
              <a:path h="11566051" w="7486778">
                <a:moveTo>
                  <a:pt x="0" y="11566051"/>
                </a:moveTo>
                <a:lnTo>
                  <a:pt x="7486778" y="11566051"/>
                </a:lnTo>
                <a:lnTo>
                  <a:pt x="7486778" y="0"/>
                </a:lnTo>
                <a:lnTo>
                  <a:pt x="0" y="0"/>
                </a:lnTo>
                <a:lnTo>
                  <a:pt x="0" y="11566051"/>
                </a:lnTo>
                <a:close/>
              </a:path>
            </a:pathLst>
          </a:custGeom>
          <a:blipFill>
            <a:blip r:embed="rId4"/>
            <a:stretch>
              <a:fillRect l="0" t="-47648" r="-34767" b="0"/>
            </a:stretch>
          </a:blipFill>
        </p:spPr>
      </p:sp>
      <p:sp>
        <p:nvSpPr>
          <p:cNvPr name="Freeform 5" id="5"/>
          <p:cNvSpPr/>
          <p:nvPr/>
        </p:nvSpPr>
        <p:spPr>
          <a:xfrm flipH="true" flipV="false" rot="0">
            <a:off x="17003845" y="4099879"/>
            <a:ext cx="2568310" cy="2695746"/>
          </a:xfrm>
          <a:custGeom>
            <a:avLst/>
            <a:gdLst/>
            <a:ahLst/>
            <a:cxnLst/>
            <a:rect r="r" b="b" t="t" l="l"/>
            <a:pathLst>
              <a:path h="2695746" w="2568310">
                <a:moveTo>
                  <a:pt x="2568310" y="0"/>
                </a:moveTo>
                <a:lnTo>
                  <a:pt x="0" y="0"/>
                </a:lnTo>
                <a:lnTo>
                  <a:pt x="0" y="2695745"/>
                </a:lnTo>
                <a:lnTo>
                  <a:pt x="2568310" y="2695745"/>
                </a:lnTo>
                <a:lnTo>
                  <a:pt x="2568310" y="0"/>
                </a:lnTo>
                <a:close/>
              </a:path>
            </a:pathLst>
          </a:custGeom>
          <a:blipFill>
            <a:blip r:embed="rId5">
              <a:alphaModFix amt="28000"/>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1028700" y="1890771"/>
            <a:ext cx="1800429" cy="1889764"/>
          </a:xfrm>
          <a:custGeom>
            <a:avLst/>
            <a:gdLst/>
            <a:ahLst/>
            <a:cxnLst/>
            <a:rect r="r" b="b" t="t" l="l"/>
            <a:pathLst>
              <a:path h="1889764" w="1800429">
                <a:moveTo>
                  <a:pt x="1800429" y="0"/>
                </a:moveTo>
                <a:lnTo>
                  <a:pt x="0" y="0"/>
                </a:lnTo>
                <a:lnTo>
                  <a:pt x="0" y="1889763"/>
                </a:lnTo>
                <a:lnTo>
                  <a:pt x="1800429" y="1889763"/>
                </a:lnTo>
                <a:lnTo>
                  <a:pt x="1800429" y="0"/>
                </a:lnTo>
                <a:close/>
              </a:path>
            </a:pathLst>
          </a:custGeom>
          <a:blipFill>
            <a:blip r:embed="rId5">
              <a:alphaModFix amt="28000"/>
              <a:extLst>
                <a:ext uri="{96DAC541-7B7A-43D3-8B79-37D633B846F1}">
                  <asvg:svgBlip xmlns:asvg="http://schemas.microsoft.com/office/drawing/2016/SVG/main" r:embed="rId6"/>
                </a:ext>
              </a:extLst>
            </a:blip>
            <a:stretch>
              <a:fillRect l="0" t="0" r="0" b="0"/>
            </a:stretch>
          </a:blipFill>
        </p:spPr>
      </p:sp>
      <p:grpSp>
        <p:nvGrpSpPr>
          <p:cNvPr name="Group 7" id="7"/>
          <p:cNvGrpSpPr/>
          <p:nvPr/>
        </p:nvGrpSpPr>
        <p:grpSpPr>
          <a:xfrm rot="0">
            <a:off x="3705760" y="5548226"/>
            <a:ext cx="6253744" cy="1325608"/>
            <a:chOff x="0" y="0"/>
            <a:chExt cx="1917250" cy="406400"/>
          </a:xfrm>
        </p:grpSpPr>
        <p:sp>
          <p:nvSpPr>
            <p:cNvPr name="Freeform 8" id="8"/>
            <p:cNvSpPr/>
            <p:nvPr/>
          </p:nvSpPr>
          <p:spPr>
            <a:xfrm flipH="false" flipV="false" rot="0">
              <a:off x="0" y="0"/>
              <a:ext cx="1917250" cy="406400"/>
            </a:xfrm>
            <a:custGeom>
              <a:avLst/>
              <a:gdLst/>
              <a:ahLst/>
              <a:cxnLst/>
              <a:rect r="r" b="b" t="t" l="l"/>
              <a:pathLst>
                <a:path h="406400" w="1917250">
                  <a:moveTo>
                    <a:pt x="1714050" y="0"/>
                  </a:moveTo>
                  <a:cubicBezTo>
                    <a:pt x="1826275" y="0"/>
                    <a:pt x="1917250" y="90976"/>
                    <a:pt x="1917250" y="203200"/>
                  </a:cubicBezTo>
                  <a:cubicBezTo>
                    <a:pt x="1917250" y="315424"/>
                    <a:pt x="1826275" y="406400"/>
                    <a:pt x="1714050" y="406400"/>
                  </a:cubicBezTo>
                  <a:lnTo>
                    <a:pt x="203200" y="406400"/>
                  </a:lnTo>
                  <a:cubicBezTo>
                    <a:pt x="90976" y="406400"/>
                    <a:pt x="0" y="315424"/>
                    <a:pt x="0" y="203200"/>
                  </a:cubicBezTo>
                  <a:cubicBezTo>
                    <a:pt x="0" y="90976"/>
                    <a:pt x="90976" y="0"/>
                    <a:pt x="203200" y="0"/>
                  </a:cubicBezTo>
                  <a:close/>
                </a:path>
              </a:pathLst>
            </a:custGeom>
            <a:solidFill>
              <a:srgbClr val="2F3D47"/>
            </a:solidFill>
          </p:spPr>
        </p:sp>
        <p:sp>
          <p:nvSpPr>
            <p:cNvPr name="TextBox 9" id="9"/>
            <p:cNvSpPr txBox="true"/>
            <p:nvPr/>
          </p:nvSpPr>
          <p:spPr>
            <a:xfrm>
              <a:off x="0" y="-38100"/>
              <a:ext cx="1917250" cy="444500"/>
            </a:xfrm>
            <a:prstGeom prst="rect">
              <a:avLst/>
            </a:prstGeom>
          </p:spPr>
          <p:txBody>
            <a:bodyPr anchor="ctr" rtlCol="false" tIns="50800" lIns="50800" bIns="50800" rIns="50800"/>
            <a:lstStyle/>
            <a:p>
              <a:pPr algn="ctr" marL="0" indent="0" lvl="0">
                <a:lnSpc>
                  <a:spcPts val="2659"/>
                </a:lnSpc>
              </a:pPr>
            </a:p>
          </p:txBody>
        </p:sp>
      </p:grpSp>
      <p:grpSp>
        <p:nvGrpSpPr>
          <p:cNvPr name="Group 10" id="10"/>
          <p:cNvGrpSpPr/>
          <p:nvPr/>
        </p:nvGrpSpPr>
        <p:grpSpPr>
          <a:xfrm rot="0">
            <a:off x="11005556" y="5548226"/>
            <a:ext cx="6253744" cy="1325608"/>
            <a:chOff x="0" y="0"/>
            <a:chExt cx="1917250" cy="406400"/>
          </a:xfrm>
        </p:grpSpPr>
        <p:sp>
          <p:nvSpPr>
            <p:cNvPr name="Freeform 11" id="11"/>
            <p:cNvSpPr/>
            <p:nvPr/>
          </p:nvSpPr>
          <p:spPr>
            <a:xfrm flipH="false" flipV="false" rot="0">
              <a:off x="0" y="0"/>
              <a:ext cx="1917250" cy="406400"/>
            </a:xfrm>
            <a:custGeom>
              <a:avLst/>
              <a:gdLst/>
              <a:ahLst/>
              <a:cxnLst/>
              <a:rect r="r" b="b" t="t" l="l"/>
              <a:pathLst>
                <a:path h="406400" w="1917250">
                  <a:moveTo>
                    <a:pt x="1714050" y="0"/>
                  </a:moveTo>
                  <a:cubicBezTo>
                    <a:pt x="1826275" y="0"/>
                    <a:pt x="1917250" y="90976"/>
                    <a:pt x="1917250" y="203200"/>
                  </a:cubicBezTo>
                  <a:cubicBezTo>
                    <a:pt x="1917250" y="315424"/>
                    <a:pt x="1826275" y="406400"/>
                    <a:pt x="1714050" y="406400"/>
                  </a:cubicBezTo>
                  <a:lnTo>
                    <a:pt x="203200" y="406400"/>
                  </a:lnTo>
                  <a:cubicBezTo>
                    <a:pt x="90976" y="406400"/>
                    <a:pt x="0" y="315424"/>
                    <a:pt x="0" y="203200"/>
                  </a:cubicBezTo>
                  <a:cubicBezTo>
                    <a:pt x="0" y="90976"/>
                    <a:pt x="90976" y="0"/>
                    <a:pt x="203200" y="0"/>
                  </a:cubicBezTo>
                  <a:close/>
                </a:path>
              </a:pathLst>
            </a:custGeom>
            <a:solidFill>
              <a:srgbClr val="2F3D47"/>
            </a:solidFill>
          </p:spPr>
        </p:sp>
        <p:sp>
          <p:nvSpPr>
            <p:cNvPr name="TextBox 12" id="12"/>
            <p:cNvSpPr txBox="true"/>
            <p:nvPr/>
          </p:nvSpPr>
          <p:spPr>
            <a:xfrm>
              <a:off x="0" y="-38100"/>
              <a:ext cx="1917250" cy="444500"/>
            </a:xfrm>
            <a:prstGeom prst="rect">
              <a:avLst/>
            </a:prstGeom>
          </p:spPr>
          <p:txBody>
            <a:bodyPr anchor="ctr" rtlCol="false" tIns="50800" lIns="50800" bIns="50800" rIns="50800"/>
            <a:lstStyle/>
            <a:p>
              <a:pPr algn="ctr" marL="0" indent="0" lvl="0">
                <a:lnSpc>
                  <a:spcPts val="2659"/>
                </a:lnSpc>
              </a:pPr>
            </a:p>
          </p:txBody>
        </p:sp>
      </p:grpSp>
      <p:grpSp>
        <p:nvGrpSpPr>
          <p:cNvPr name="Group 13" id="13"/>
          <p:cNvGrpSpPr/>
          <p:nvPr/>
        </p:nvGrpSpPr>
        <p:grpSpPr>
          <a:xfrm rot="0">
            <a:off x="3705760" y="7832218"/>
            <a:ext cx="6253744" cy="1325608"/>
            <a:chOff x="0" y="0"/>
            <a:chExt cx="1917250" cy="406400"/>
          </a:xfrm>
        </p:grpSpPr>
        <p:sp>
          <p:nvSpPr>
            <p:cNvPr name="Freeform 14" id="14"/>
            <p:cNvSpPr/>
            <p:nvPr/>
          </p:nvSpPr>
          <p:spPr>
            <a:xfrm flipH="false" flipV="false" rot="0">
              <a:off x="0" y="0"/>
              <a:ext cx="1917250" cy="406400"/>
            </a:xfrm>
            <a:custGeom>
              <a:avLst/>
              <a:gdLst/>
              <a:ahLst/>
              <a:cxnLst/>
              <a:rect r="r" b="b" t="t" l="l"/>
              <a:pathLst>
                <a:path h="406400" w="1917250">
                  <a:moveTo>
                    <a:pt x="1714050" y="0"/>
                  </a:moveTo>
                  <a:cubicBezTo>
                    <a:pt x="1826275" y="0"/>
                    <a:pt x="1917250" y="90976"/>
                    <a:pt x="1917250" y="203200"/>
                  </a:cubicBezTo>
                  <a:cubicBezTo>
                    <a:pt x="1917250" y="315424"/>
                    <a:pt x="1826275" y="406400"/>
                    <a:pt x="1714050" y="406400"/>
                  </a:cubicBezTo>
                  <a:lnTo>
                    <a:pt x="203200" y="406400"/>
                  </a:lnTo>
                  <a:cubicBezTo>
                    <a:pt x="90976" y="406400"/>
                    <a:pt x="0" y="315424"/>
                    <a:pt x="0" y="203200"/>
                  </a:cubicBezTo>
                  <a:cubicBezTo>
                    <a:pt x="0" y="90976"/>
                    <a:pt x="90976" y="0"/>
                    <a:pt x="203200" y="0"/>
                  </a:cubicBezTo>
                  <a:close/>
                </a:path>
              </a:pathLst>
            </a:custGeom>
            <a:solidFill>
              <a:srgbClr val="2F3D47"/>
            </a:solidFill>
          </p:spPr>
        </p:sp>
        <p:sp>
          <p:nvSpPr>
            <p:cNvPr name="TextBox 15" id="15"/>
            <p:cNvSpPr txBox="true"/>
            <p:nvPr/>
          </p:nvSpPr>
          <p:spPr>
            <a:xfrm>
              <a:off x="0" y="-38100"/>
              <a:ext cx="1917250" cy="444500"/>
            </a:xfrm>
            <a:prstGeom prst="rect">
              <a:avLst/>
            </a:prstGeom>
          </p:spPr>
          <p:txBody>
            <a:bodyPr anchor="ctr" rtlCol="false" tIns="50800" lIns="50800" bIns="50800" rIns="50800"/>
            <a:lstStyle/>
            <a:p>
              <a:pPr algn="ctr" marL="0" indent="0" lvl="0">
                <a:lnSpc>
                  <a:spcPts val="2659"/>
                </a:lnSpc>
              </a:pPr>
            </a:p>
          </p:txBody>
        </p:sp>
      </p:grpSp>
      <p:grpSp>
        <p:nvGrpSpPr>
          <p:cNvPr name="Group 16" id="16"/>
          <p:cNvGrpSpPr/>
          <p:nvPr/>
        </p:nvGrpSpPr>
        <p:grpSpPr>
          <a:xfrm rot="0">
            <a:off x="11005556" y="7832218"/>
            <a:ext cx="6253744" cy="1325608"/>
            <a:chOff x="0" y="0"/>
            <a:chExt cx="1917250" cy="406400"/>
          </a:xfrm>
        </p:grpSpPr>
        <p:sp>
          <p:nvSpPr>
            <p:cNvPr name="Freeform 17" id="17"/>
            <p:cNvSpPr/>
            <p:nvPr/>
          </p:nvSpPr>
          <p:spPr>
            <a:xfrm flipH="false" flipV="false" rot="0">
              <a:off x="0" y="0"/>
              <a:ext cx="1917250" cy="406400"/>
            </a:xfrm>
            <a:custGeom>
              <a:avLst/>
              <a:gdLst/>
              <a:ahLst/>
              <a:cxnLst/>
              <a:rect r="r" b="b" t="t" l="l"/>
              <a:pathLst>
                <a:path h="406400" w="1917250">
                  <a:moveTo>
                    <a:pt x="1714050" y="0"/>
                  </a:moveTo>
                  <a:cubicBezTo>
                    <a:pt x="1826275" y="0"/>
                    <a:pt x="1917250" y="90976"/>
                    <a:pt x="1917250" y="203200"/>
                  </a:cubicBezTo>
                  <a:cubicBezTo>
                    <a:pt x="1917250" y="315424"/>
                    <a:pt x="1826275" y="406400"/>
                    <a:pt x="1714050" y="406400"/>
                  </a:cubicBezTo>
                  <a:lnTo>
                    <a:pt x="203200" y="406400"/>
                  </a:lnTo>
                  <a:cubicBezTo>
                    <a:pt x="90976" y="406400"/>
                    <a:pt x="0" y="315424"/>
                    <a:pt x="0" y="203200"/>
                  </a:cubicBezTo>
                  <a:cubicBezTo>
                    <a:pt x="0" y="90976"/>
                    <a:pt x="90976" y="0"/>
                    <a:pt x="203200" y="0"/>
                  </a:cubicBezTo>
                  <a:close/>
                </a:path>
              </a:pathLst>
            </a:custGeom>
            <a:solidFill>
              <a:srgbClr val="2F3D47"/>
            </a:solidFill>
          </p:spPr>
        </p:sp>
        <p:sp>
          <p:nvSpPr>
            <p:cNvPr name="TextBox 18" id="18"/>
            <p:cNvSpPr txBox="true"/>
            <p:nvPr/>
          </p:nvSpPr>
          <p:spPr>
            <a:xfrm>
              <a:off x="0" y="-38100"/>
              <a:ext cx="1917250" cy="444500"/>
            </a:xfrm>
            <a:prstGeom prst="rect">
              <a:avLst/>
            </a:prstGeom>
          </p:spPr>
          <p:txBody>
            <a:bodyPr anchor="ctr" rtlCol="false" tIns="50800" lIns="50800" bIns="50800" rIns="50800"/>
            <a:lstStyle/>
            <a:p>
              <a:pPr algn="ctr" marL="0" indent="0" lvl="0">
                <a:lnSpc>
                  <a:spcPts val="2659"/>
                </a:lnSpc>
              </a:pPr>
            </a:p>
          </p:txBody>
        </p:sp>
      </p:grpSp>
      <p:grpSp>
        <p:nvGrpSpPr>
          <p:cNvPr name="Group 19" id="19"/>
          <p:cNvGrpSpPr/>
          <p:nvPr/>
        </p:nvGrpSpPr>
        <p:grpSpPr>
          <a:xfrm rot="0">
            <a:off x="3184140" y="5447751"/>
            <a:ext cx="1606170" cy="1526556"/>
            <a:chOff x="0" y="0"/>
            <a:chExt cx="855190" cy="812800"/>
          </a:xfrm>
        </p:grpSpPr>
        <p:sp>
          <p:nvSpPr>
            <p:cNvPr name="Freeform 20" id="20"/>
            <p:cNvSpPr/>
            <p:nvPr/>
          </p:nvSpPr>
          <p:spPr>
            <a:xfrm flipH="false" flipV="false" rot="0">
              <a:off x="0" y="0"/>
              <a:ext cx="855189" cy="812800"/>
            </a:xfrm>
            <a:custGeom>
              <a:avLst/>
              <a:gdLst/>
              <a:ahLst/>
              <a:cxnLst/>
              <a:rect r="r" b="b" t="t" l="l"/>
              <a:pathLst>
                <a:path h="812800" w="855189">
                  <a:moveTo>
                    <a:pt x="427595" y="0"/>
                  </a:moveTo>
                  <a:cubicBezTo>
                    <a:pt x="191441" y="0"/>
                    <a:pt x="0" y="181951"/>
                    <a:pt x="0" y="406400"/>
                  </a:cubicBezTo>
                  <a:cubicBezTo>
                    <a:pt x="0" y="630849"/>
                    <a:pt x="191441" y="812800"/>
                    <a:pt x="427595" y="812800"/>
                  </a:cubicBezTo>
                  <a:cubicBezTo>
                    <a:pt x="663749" y="812800"/>
                    <a:pt x="855189" y="630849"/>
                    <a:pt x="855189" y="406400"/>
                  </a:cubicBezTo>
                  <a:cubicBezTo>
                    <a:pt x="855189" y="181951"/>
                    <a:pt x="663749" y="0"/>
                    <a:pt x="427595" y="0"/>
                  </a:cubicBezTo>
                  <a:close/>
                </a:path>
              </a:pathLst>
            </a:custGeom>
            <a:gradFill rotWithShape="true">
              <a:gsLst>
                <a:gs pos="0">
                  <a:srgbClr val="FF6C25">
                    <a:alpha val="100000"/>
                  </a:srgbClr>
                </a:gs>
                <a:gs pos="100000">
                  <a:srgbClr val="F89C22">
                    <a:alpha val="100000"/>
                  </a:srgbClr>
                </a:gs>
              </a:gsLst>
              <a:lin ang="0"/>
            </a:gradFill>
          </p:spPr>
        </p:sp>
        <p:sp>
          <p:nvSpPr>
            <p:cNvPr name="TextBox 21" id="21"/>
            <p:cNvSpPr txBox="true"/>
            <p:nvPr/>
          </p:nvSpPr>
          <p:spPr>
            <a:xfrm>
              <a:off x="80174" y="38100"/>
              <a:ext cx="694841" cy="698500"/>
            </a:xfrm>
            <a:prstGeom prst="rect">
              <a:avLst/>
            </a:prstGeom>
          </p:spPr>
          <p:txBody>
            <a:bodyPr anchor="ctr" rtlCol="false" tIns="50800" lIns="50800" bIns="50800" rIns="50800"/>
            <a:lstStyle/>
            <a:p>
              <a:pPr algn="ctr" marL="0" indent="0" lvl="0">
                <a:lnSpc>
                  <a:spcPts val="2659"/>
                </a:lnSpc>
              </a:pPr>
            </a:p>
          </p:txBody>
        </p:sp>
      </p:grpSp>
      <p:grpSp>
        <p:nvGrpSpPr>
          <p:cNvPr name="Group 22" id="22"/>
          <p:cNvGrpSpPr/>
          <p:nvPr/>
        </p:nvGrpSpPr>
        <p:grpSpPr>
          <a:xfrm rot="0">
            <a:off x="10483935" y="5447751"/>
            <a:ext cx="1606170" cy="1526556"/>
            <a:chOff x="0" y="0"/>
            <a:chExt cx="855190" cy="812800"/>
          </a:xfrm>
        </p:grpSpPr>
        <p:sp>
          <p:nvSpPr>
            <p:cNvPr name="Freeform 23" id="23"/>
            <p:cNvSpPr/>
            <p:nvPr/>
          </p:nvSpPr>
          <p:spPr>
            <a:xfrm flipH="false" flipV="false" rot="0">
              <a:off x="0" y="0"/>
              <a:ext cx="855189" cy="812800"/>
            </a:xfrm>
            <a:custGeom>
              <a:avLst/>
              <a:gdLst/>
              <a:ahLst/>
              <a:cxnLst/>
              <a:rect r="r" b="b" t="t" l="l"/>
              <a:pathLst>
                <a:path h="812800" w="855189">
                  <a:moveTo>
                    <a:pt x="427595" y="0"/>
                  </a:moveTo>
                  <a:cubicBezTo>
                    <a:pt x="191441" y="0"/>
                    <a:pt x="0" y="181951"/>
                    <a:pt x="0" y="406400"/>
                  </a:cubicBezTo>
                  <a:cubicBezTo>
                    <a:pt x="0" y="630849"/>
                    <a:pt x="191441" y="812800"/>
                    <a:pt x="427595" y="812800"/>
                  </a:cubicBezTo>
                  <a:cubicBezTo>
                    <a:pt x="663749" y="812800"/>
                    <a:pt x="855189" y="630849"/>
                    <a:pt x="855189" y="406400"/>
                  </a:cubicBezTo>
                  <a:cubicBezTo>
                    <a:pt x="855189" y="181951"/>
                    <a:pt x="663749" y="0"/>
                    <a:pt x="427595" y="0"/>
                  </a:cubicBezTo>
                  <a:close/>
                </a:path>
              </a:pathLst>
            </a:custGeom>
            <a:gradFill rotWithShape="true">
              <a:gsLst>
                <a:gs pos="0">
                  <a:srgbClr val="FF6C25">
                    <a:alpha val="100000"/>
                  </a:srgbClr>
                </a:gs>
                <a:gs pos="100000">
                  <a:srgbClr val="F89C22">
                    <a:alpha val="100000"/>
                  </a:srgbClr>
                </a:gs>
              </a:gsLst>
              <a:lin ang="0"/>
            </a:gradFill>
          </p:spPr>
        </p:sp>
        <p:sp>
          <p:nvSpPr>
            <p:cNvPr name="TextBox 24" id="24"/>
            <p:cNvSpPr txBox="true"/>
            <p:nvPr/>
          </p:nvSpPr>
          <p:spPr>
            <a:xfrm>
              <a:off x="80174" y="38100"/>
              <a:ext cx="694841" cy="698500"/>
            </a:xfrm>
            <a:prstGeom prst="rect">
              <a:avLst/>
            </a:prstGeom>
          </p:spPr>
          <p:txBody>
            <a:bodyPr anchor="ctr" rtlCol="false" tIns="50800" lIns="50800" bIns="50800" rIns="50800"/>
            <a:lstStyle/>
            <a:p>
              <a:pPr algn="ctr" marL="0" indent="0" lvl="0">
                <a:lnSpc>
                  <a:spcPts val="2659"/>
                </a:lnSpc>
              </a:pPr>
            </a:p>
          </p:txBody>
        </p:sp>
      </p:grpSp>
      <p:grpSp>
        <p:nvGrpSpPr>
          <p:cNvPr name="Group 25" id="25"/>
          <p:cNvGrpSpPr/>
          <p:nvPr/>
        </p:nvGrpSpPr>
        <p:grpSpPr>
          <a:xfrm rot="0">
            <a:off x="3184140" y="7731744"/>
            <a:ext cx="1606170" cy="1526556"/>
            <a:chOff x="0" y="0"/>
            <a:chExt cx="855190" cy="812800"/>
          </a:xfrm>
        </p:grpSpPr>
        <p:sp>
          <p:nvSpPr>
            <p:cNvPr name="Freeform 26" id="26"/>
            <p:cNvSpPr/>
            <p:nvPr/>
          </p:nvSpPr>
          <p:spPr>
            <a:xfrm flipH="false" flipV="false" rot="0">
              <a:off x="0" y="0"/>
              <a:ext cx="855189" cy="812800"/>
            </a:xfrm>
            <a:custGeom>
              <a:avLst/>
              <a:gdLst/>
              <a:ahLst/>
              <a:cxnLst/>
              <a:rect r="r" b="b" t="t" l="l"/>
              <a:pathLst>
                <a:path h="812800" w="855189">
                  <a:moveTo>
                    <a:pt x="427595" y="0"/>
                  </a:moveTo>
                  <a:cubicBezTo>
                    <a:pt x="191441" y="0"/>
                    <a:pt x="0" y="181951"/>
                    <a:pt x="0" y="406400"/>
                  </a:cubicBezTo>
                  <a:cubicBezTo>
                    <a:pt x="0" y="630849"/>
                    <a:pt x="191441" y="812800"/>
                    <a:pt x="427595" y="812800"/>
                  </a:cubicBezTo>
                  <a:cubicBezTo>
                    <a:pt x="663749" y="812800"/>
                    <a:pt x="855189" y="630849"/>
                    <a:pt x="855189" y="406400"/>
                  </a:cubicBezTo>
                  <a:cubicBezTo>
                    <a:pt x="855189" y="181951"/>
                    <a:pt x="663749" y="0"/>
                    <a:pt x="427595" y="0"/>
                  </a:cubicBezTo>
                  <a:close/>
                </a:path>
              </a:pathLst>
            </a:custGeom>
            <a:gradFill rotWithShape="true">
              <a:gsLst>
                <a:gs pos="0">
                  <a:srgbClr val="FF6C25">
                    <a:alpha val="100000"/>
                  </a:srgbClr>
                </a:gs>
                <a:gs pos="100000">
                  <a:srgbClr val="F89C22">
                    <a:alpha val="100000"/>
                  </a:srgbClr>
                </a:gs>
              </a:gsLst>
              <a:lin ang="0"/>
            </a:gradFill>
          </p:spPr>
        </p:sp>
        <p:sp>
          <p:nvSpPr>
            <p:cNvPr name="TextBox 27" id="27"/>
            <p:cNvSpPr txBox="true"/>
            <p:nvPr/>
          </p:nvSpPr>
          <p:spPr>
            <a:xfrm>
              <a:off x="80174" y="38100"/>
              <a:ext cx="694841" cy="698500"/>
            </a:xfrm>
            <a:prstGeom prst="rect">
              <a:avLst/>
            </a:prstGeom>
          </p:spPr>
          <p:txBody>
            <a:bodyPr anchor="ctr" rtlCol="false" tIns="50800" lIns="50800" bIns="50800" rIns="50800"/>
            <a:lstStyle/>
            <a:p>
              <a:pPr algn="ctr" marL="0" indent="0" lvl="0">
                <a:lnSpc>
                  <a:spcPts val="2659"/>
                </a:lnSpc>
              </a:pPr>
            </a:p>
          </p:txBody>
        </p:sp>
      </p:grpSp>
      <p:grpSp>
        <p:nvGrpSpPr>
          <p:cNvPr name="Group 28" id="28"/>
          <p:cNvGrpSpPr/>
          <p:nvPr/>
        </p:nvGrpSpPr>
        <p:grpSpPr>
          <a:xfrm rot="0">
            <a:off x="10483935" y="7731744"/>
            <a:ext cx="1606170" cy="1526556"/>
            <a:chOff x="0" y="0"/>
            <a:chExt cx="855190" cy="812800"/>
          </a:xfrm>
        </p:grpSpPr>
        <p:sp>
          <p:nvSpPr>
            <p:cNvPr name="Freeform 29" id="29"/>
            <p:cNvSpPr/>
            <p:nvPr/>
          </p:nvSpPr>
          <p:spPr>
            <a:xfrm flipH="false" flipV="false" rot="0">
              <a:off x="0" y="0"/>
              <a:ext cx="855189" cy="812800"/>
            </a:xfrm>
            <a:custGeom>
              <a:avLst/>
              <a:gdLst/>
              <a:ahLst/>
              <a:cxnLst/>
              <a:rect r="r" b="b" t="t" l="l"/>
              <a:pathLst>
                <a:path h="812800" w="855189">
                  <a:moveTo>
                    <a:pt x="427595" y="0"/>
                  </a:moveTo>
                  <a:cubicBezTo>
                    <a:pt x="191441" y="0"/>
                    <a:pt x="0" y="181951"/>
                    <a:pt x="0" y="406400"/>
                  </a:cubicBezTo>
                  <a:cubicBezTo>
                    <a:pt x="0" y="630849"/>
                    <a:pt x="191441" y="812800"/>
                    <a:pt x="427595" y="812800"/>
                  </a:cubicBezTo>
                  <a:cubicBezTo>
                    <a:pt x="663749" y="812800"/>
                    <a:pt x="855189" y="630849"/>
                    <a:pt x="855189" y="406400"/>
                  </a:cubicBezTo>
                  <a:cubicBezTo>
                    <a:pt x="855189" y="181951"/>
                    <a:pt x="663749" y="0"/>
                    <a:pt x="427595" y="0"/>
                  </a:cubicBezTo>
                  <a:close/>
                </a:path>
              </a:pathLst>
            </a:custGeom>
            <a:gradFill rotWithShape="true">
              <a:gsLst>
                <a:gs pos="0">
                  <a:srgbClr val="FF6C25">
                    <a:alpha val="100000"/>
                  </a:srgbClr>
                </a:gs>
                <a:gs pos="100000">
                  <a:srgbClr val="F89C22">
                    <a:alpha val="100000"/>
                  </a:srgbClr>
                </a:gs>
              </a:gsLst>
              <a:lin ang="0"/>
            </a:gradFill>
          </p:spPr>
        </p:sp>
        <p:sp>
          <p:nvSpPr>
            <p:cNvPr name="TextBox 30" id="30"/>
            <p:cNvSpPr txBox="true"/>
            <p:nvPr/>
          </p:nvSpPr>
          <p:spPr>
            <a:xfrm>
              <a:off x="80174" y="38100"/>
              <a:ext cx="694841" cy="698500"/>
            </a:xfrm>
            <a:prstGeom prst="rect">
              <a:avLst/>
            </a:prstGeom>
          </p:spPr>
          <p:txBody>
            <a:bodyPr anchor="ctr" rtlCol="false" tIns="50800" lIns="50800" bIns="50800" rIns="50800"/>
            <a:lstStyle/>
            <a:p>
              <a:pPr algn="ctr" marL="0" indent="0" lvl="0">
                <a:lnSpc>
                  <a:spcPts val="2659"/>
                </a:lnSpc>
              </a:pPr>
            </a:p>
          </p:txBody>
        </p:sp>
      </p:grpSp>
      <p:sp>
        <p:nvSpPr>
          <p:cNvPr name="Freeform 31" id="31"/>
          <p:cNvSpPr/>
          <p:nvPr/>
        </p:nvSpPr>
        <p:spPr>
          <a:xfrm flipH="false" flipV="false" rot="0">
            <a:off x="3605150" y="5780590"/>
            <a:ext cx="794623" cy="855583"/>
          </a:xfrm>
          <a:custGeom>
            <a:avLst/>
            <a:gdLst/>
            <a:ahLst/>
            <a:cxnLst/>
            <a:rect r="r" b="b" t="t" l="l"/>
            <a:pathLst>
              <a:path h="855583" w="794623">
                <a:moveTo>
                  <a:pt x="0" y="0"/>
                </a:moveTo>
                <a:lnTo>
                  <a:pt x="794622" y="0"/>
                </a:lnTo>
                <a:lnTo>
                  <a:pt x="794622" y="855583"/>
                </a:lnTo>
                <a:lnTo>
                  <a:pt x="0" y="855583"/>
                </a:lnTo>
                <a:lnTo>
                  <a:pt x="0" y="0"/>
                </a:lnTo>
                <a:close/>
              </a:path>
            </a:pathLst>
          </a:custGeom>
          <a:blipFill>
            <a:blip r:embed="rId7"/>
            <a:stretch>
              <a:fillRect l="0" t="0" r="0" b="0"/>
            </a:stretch>
          </a:blipFill>
        </p:spPr>
      </p:sp>
      <p:sp>
        <p:nvSpPr>
          <p:cNvPr name="Freeform 32" id="32"/>
          <p:cNvSpPr/>
          <p:nvPr/>
        </p:nvSpPr>
        <p:spPr>
          <a:xfrm flipH="false" flipV="false" rot="0">
            <a:off x="3536470" y="8044267"/>
            <a:ext cx="901510" cy="901510"/>
          </a:xfrm>
          <a:custGeom>
            <a:avLst/>
            <a:gdLst/>
            <a:ahLst/>
            <a:cxnLst/>
            <a:rect r="r" b="b" t="t" l="l"/>
            <a:pathLst>
              <a:path h="901510" w="901510">
                <a:moveTo>
                  <a:pt x="0" y="0"/>
                </a:moveTo>
                <a:lnTo>
                  <a:pt x="901509" y="0"/>
                </a:lnTo>
                <a:lnTo>
                  <a:pt x="901509" y="901510"/>
                </a:lnTo>
                <a:lnTo>
                  <a:pt x="0" y="90151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3" id="33"/>
          <p:cNvSpPr/>
          <p:nvPr/>
        </p:nvSpPr>
        <p:spPr>
          <a:xfrm flipH="false" flipV="false" rot="0">
            <a:off x="10815989" y="5774581"/>
            <a:ext cx="933906" cy="857303"/>
          </a:xfrm>
          <a:custGeom>
            <a:avLst/>
            <a:gdLst/>
            <a:ahLst/>
            <a:cxnLst/>
            <a:rect r="r" b="b" t="t" l="l"/>
            <a:pathLst>
              <a:path h="857303" w="933906">
                <a:moveTo>
                  <a:pt x="0" y="0"/>
                </a:moveTo>
                <a:lnTo>
                  <a:pt x="933906" y="0"/>
                </a:lnTo>
                <a:lnTo>
                  <a:pt x="933906" y="857303"/>
                </a:lnTo>
                <a:lnTo>
                  <a:pt x="0" y="857303"/>
                </a:lnTo>
                <a:lnTo>
                  <a:pt x="0" y="0"/>
                </a:lnTo>
                <a:close/>
              </a:path>
            </a:pathLst>
          </a:custGeom>
          <a:blipFill>
            <a:blip r:embed="rId10"/>
            <a:stretch>
              <a:fillRect l="0" t="0" r="0" b="0"/>
            </a:stretch>
          </a:blipFill>
        </p:spPr>
      </p:sp>
      <p:sp>
        <p:nvSpPr>
          <p:cNvPr name="Freeform 34" id="34"/>
          <p:cNvSpPr/>
          <p:nvPr/>
        </p:nvSpPr>
        <p:spPr>
          <a:xfrm flipH="false" flipV="false" rot="0">
            <a:off x="10811196" y="8002095"/>
            <a:ext cx="860805" cy="1067665"/>
          </a:xfrm>
          <a:custGeom>
            <a:avLst/>
            <a:gdLst/>
            <a:ahLst/>
            <a:cxnLst/>
            <a:rect r="r" b="b" t="t" l="l"/>
            <a:pathLst>
              <a:path h="1067665" w="860805">
                <a:moveTo>
                  <a:pt x="0" y="0"/>
                </a:moveTo>
                <a:lnTo>
                  <a:pt x="860805" y="0"/>
                </a:lnTo>
                <a:lnTo>
                  <a:pt x="860805" y="1067665"/>
                </a:lnTo>
                <a:lnTo>
                  <a:pt x="0" y="1067665"/>
                </a:lnTo>
                <a:lnTo>
                  <a:pt x="0" y="0"/>
                </a:lnTo>
                <a:close/>
              </a:path>
            </a:pathLst>
          </a:custGeom>
          <a:blipFill>
            <a:blip r:embed="rId11"/>
            <a:stretch>
              <a:fillRect l="0" t="0" r="0" b="0"/>
            </a:stretch>
          </a:blipFill>
        </p:spPr>
      </p:sp>
      <p:sp>
        <p:nvSpPr>
          <p:cNvPr name="TextBox 35" id="35"/>
          <p:cNvSpPr txBox="true"/>
          <p:nvPr/>
        </p:nvSpPr>
        <p:spPr>
          <a:xfrm rot="0">
            <a:off x="10459412" y="1525966"/>
            <a:ext cx="6799888" cy="1085810"/>
          </a:xfrm>
          <a:prstGeom prst="rect">
            <a:avLst/>
          </a:prstGeom>
        </p:spPr>
        <p:txBody>
          <a:bodyPr anchor="t" rtlCol="false" tIns="0" lIns="0" bIns="0" rIns="0">
            <a:spAutoFit/>
          </a:bodyPr>
          <a:lstStyle/>
          <a:p>
            <a:pPr algn="r" marL="0" indent="0" lvl="0">
              <a:lnSpc>
                <a:spcPts val="8543"/>
              </a:lnSpc>
            </a:pPr>
            <a:r>
              <a:rPr lang="en-US" b="true" sz="7494" spc="-314">
                <a:solidFill>
                  <a:srgbClr val="F45D14"/>
                </a:solidFill>
                <a:latin typeface="Arial Unicode Bold"/>
                <a:ea typeface="Arial Unicode Bold"/>
                <a:cs typeface="Arial Unicode Bold"/>
                <a:sym typeface="Arial Unicode Bold"/>
              </a:rPr>
              <a:t>Credit Card</a:t>
            </a:r>
          </a:p>
        </p:txBody>
      </p:sp>
      <p:sp>
        <p:nvSpPr>
          <p:cNvPr name="TextBox 36" id="36"/>
          <p:cNvSpPr txBox="true"/>
          <p:nvPr/>
        </p:nvSpPr>
        <p:spPr>
          <a:xfrm rot="0">
            <a:off x="12182084" y="2352371"/>
            <a:ext cx="5077216" cy="1085810"/>
          </a:xfrm>
          <a:prstGeom prst="rect">
            <a:avLst/>
          </a:prstGeom>
        </p:spPr>
        <p:txBody>
          <a:bodyPr anchor="t" rtlCol="false" tIns="0" lIns="0" bIns="0" rIns="0">
            <a:spAutoFit/>
          </a:bodyPr>
          <a:lstStyle/>
          <a:p>
            <a:pPr algn="r" marL="0" indent="0" lvl="0">
              <a:lnSpc>
                <a:spcPts val="8543"/>
              </a:lnSpc>
            </a:pPr>
            <a:r>
              <a:rPr lang="en-US" b="true" sz="7494" spc="-314">
                <a:solidFill>
                  <a:srgbClr val="2F3D47"/>
                </a:solidFill>
                <a:latin typeface="Arial Unicode Bold"/>
                <a:ea typeface="Arial Unicode Bold"/>
                <a:cs typeface="Arial Unicode Bold"/>
                <a:sym typeface="Arial Unicode Bold"/>
              </a:rPr>
              <a:t>Reporting</a:t>
            </a:r>
          </a:p>
        </p:txBody>
      </p:sp>
      <p:sp>
        <p:nvSpPr>
          <p:cNvPr name="TextBox 37" id="37"/>
          <p:cNvSpPr txBox="true"/>
          <p:nvPr/>
        </p:nvSpPr>
        <p:spPr>
          <a:xfrm rot="0">
            <a:off x="2984907" y="3743321"/>
            <a:ext cx="14274393" cy="523167"/>
          </a:xfrm>
          <a:prstGeom prst="rect">
            <a:avLst/>
          </a:prstGeom>
        </p:spPr>
        <p:txBody>
          <a:bodyPr anchor="t" rtlCol="false" tIns="0" lIns="0" bIns="0" rIns="0">
            <a:spAutoFit/>
          </a:bodyPr>
          <a:lstStyle/>
          <a:p>
            <a:pPr algn="r" marL="0" indent="0" lvl="0">
              <a:lnSpc>
                <a:spcPts val="2139"/>
              </a:lnSpc>
              <a:spcBef>
                <a:spcPct val="0"/>
              </a:spcBef>
            </a:pPr>
            <a:r>
              <a:rPr lang="en-US" sz="1527">
                <a:solidFill>
                  <a:srgbClr val="000000"/>
                </a:solidFill>
                <a:latin typeface="Open Sans"/>
                <a:ea typeface="Open Sans"/>
                <a:cs typeface="Open Sans"/>
                <a:sym typeface="Open Sans"/>
              </a:rPr>
              <a:t>Cards are treated as Agreement Access Devices within the core model. A key discussion point is whether BAWAG reporting requirements operate at the account level, the device level, or both. The following breakdown outlines the key dimensions of this distinction.</a:t>
            </a:r>
          </a:p>
        </p:txBody>
      </p:sp>
      <p:sp>
        <p:nvSpPr>
          <p:cNvPr name="TextBox 38" id="38"/>
          <p:cNvSpPr txBox="true"/>
          <p:nvPr/>
        </p:nvSpPr>
        <p:spPr>
          <a:xfrm rot="0">
            <a:off x="4946072" y="5802582"/>
            <a:ext cx="4194263" cy="421937"/>
          </a:xfrm>
          <a:prstGeom prst="rect">
            <a:avLst/>
          </a:prstGeom>
        </p:spPr>
        <p:txBody>
          <a:bodyPr anchor="t" rtlCol="false" tIns="0" lIns="0" bIns="0" rIns="0">
            <a:spAutoFit/>
          </a:bodyPr>
          <a:lstStyle/>
          <a:p>
            <a:pPr algn="l" marL="0" indent="0" lvl="0">
              <a:lnSpc>
                <a:spcPts val="3274"/>
              </a:lnSpc>
            </a:pPr>
            <a:r>
              <a:rPr lang="en-US" b="true" sz="2872" spc="-120">
                <a:solidFill>
                  <a:srgbClr val="FFFFFF"/>
                </a:solidFill>
                <a:latin typeface="Arial Unicode Bold"/>
                <a:ea typeface="Arial Unicode Bold"/>
                <a:cs typeface="Arial Unicode Bold"/>
                <a:sym typeface="Arial Unicode Bold"/>
              </a:rPr>
              <a:t>Account Level Reporting</a:t>
            </a:r>
          </a:p>
        </p:txBody>
      </p:sp>
      <p:sp>
        <p:nvSpPr>
          <p:cNvPr name="TextBox 39" id="39"/>
          <p:cNvSpPr txBox="true"/>
          <p:nvPr/>
        </p:nvSpPr>
        <p:spPr>
          <a:xfrm rot="0">
            <a:off x="12242505" y="5802582"/>
            <a:ext cx="4194263" cy="421937"/>
          </a:xfrm>
          <a:prstGeom prst="rect">
            <a:avLst/>
          </a:prstGeom>
        </p:spPr>
        <p:txBody>
          <a:bodyPr anchor="t" rtlCol="false" tIns="0" lIns="0" bIns="0" rIns="0">
            <a:spAutoFit/>
          </a:bodyPr>
          <a:lstStyle/>
          <a:p>
            <a:pPr algn="l" marL="0" indent="0" lvl="0">
              <a:lnSpc>
                <a:spcPts val="3274"/>
              </a:lnSpc>
            </a:pPr>
            <a:r>
              <a:rPr lang="en-US" b="true" sz="2872" spc="-120">
                <a:solidFill>
                  <a:srgbClr val="FFFFFF"/>
                </a:solidFill>
                <a:latin typeface="Arial Unicode Bold"/>
                <a:ea typeface="Arial Unicode Bold"/>
                <a:cs typeface="Arial Unicode Bold"/>
                <a:sym typeface="Arial Unicode Bold"/>
              </a:rPr>
              <a:t>Device Level Reporting</a:t>
            </a:r>
          </a:p>
        </p:txBody>
      </p:sp>
      <p:sp>
        <p:nvSpPr>
          <p:cNvPr name="TextBox 40" id="40"/>
          <p:cNvSpPr txBox="true"/>
          <p:nvPr/>
        </p:nvSpPr>
        <p:spPr>
          <a:xfrm rot="0">
            <a:off x="4946072" y="8086574"/>
            <a:ext cx="4194263" cy="421937"/>
          </a:xfrm>
          <a:prstGeom prst="rect">
            <a:avLst/>
          </a:prstGeom>
        </p:spPr>
        <p:txBody>
          <a:bodyPr anchor="t" rtlCol="false" tIns="0" lIns="0" bIns="0" rIns="0">
            <a:spAutoFit/>
          </a:bodyPr>
          <a:lstStyle/>
          <a:p>
            <a:pPr algn="l" marL="0" indent="0" lvl="0">
              <a:lnSpc>
                <a:spcPts val="3274"/>
              </a:lnSpc>
            </a:pPr>
            <a:r>
              <a:rPr lang="en-US" b="true" sz="2872" spc="-120">
                <a:solidFill>
                  <a:srgbClr val="FFFFFF"/>
                </a:solidFill>
                <a:latin typeface="Arial Unicode Bold"/>
                <a:ea typeface="Arial Unicode Bold"/>
                <a:cs typeface="Arial Unicode Bold"/>
                <a:sym typeface="Arial Unicode Bold"/>
              </a:rPr>
              <a:t>Card as Access Device</a:t>
            </a:r>
          </a:p>
        </p:txBody>
      </p:sp>
      <p:sp>
        <p:nvSpPr>
          <p:cNvPr name="TextBox 41" id="41"/>
          <p:cNvSpPr txBox="true"/>
          <p:nvPr/>
        </p:nvSpPr>
        <p:spPr>
          <a:xfrm rot="0">
            <a:off x="12242505" y="8086574"/>
            <a:ext cx="4194263" cy="421937"/>
          </a:xfrm>
          <a:prstGeom prst="rect">
            <a:avLst/>
          </a:prstGeom>
        </p:spPr>
        <p:txBody>
          <a:bodyPr anchor="t" rtlCol="false" tIns="0" lIns="0" bIns="0" rIns="0">
            <a:spAutoFit/>
          </a:bodyPr>
          <a:lstStyle/>
          <a:p>
            <a:pPr algn="l" marL="0" indent="0" lvl="0">
              <a:lnSpc>
                <a:spcPts val="3274"/>
              </a:lnSpc>
            </a:pPr>
            <a:r>
              <a:rPr lang="en-US" b="true" sz="2872" spc="-120">
                <a:solidFill>
                  <a:srgbClr val="FFFFFF"/>
                </a:solidFill>
                <a:latin typeface="Arial Unicode Bold"/>
                <a:ea typeface="Arial Unicode Bold"/>
                <a:cs typeface="Arial Unicode Bold"/>
                <a:sym typeface="Arial Unicode Bold"/>
              </a:rPr>
              <a:t>Reporting Scope Decision</a:t>
            </a:r>
          </a:p>
        </p:txBody>
      </p:sp>
      <p:sp>
        <p:nvSpPr>
          <p:cNvPr name="TextBox 42" id="42"/>
          <p:cNvSpPr txBox="true"/>
          <p:nvPr/>
        </p:nvSpPr>
        <p:spPr>
          <a:xfrm rot="0">
            <a:off x="4946072" y="6315312"/>
            <a:ext cx="4771002" cy="215591"/>
          </a:xfrm>
          <a:prstGeom prst="rect">
            <a:avLst/>
          </a:prstGeom>
        </p:spPr>
        <p:txBody>
          <a:bodyPr anchor="t" rtlCol="false" tIns="0" lIns="0" bIns="0" rIns="0">
            <a:spAutoFit/>
          </a:bodyPr>
          <a:lstStyle/>
          <a:p>
            <a:pPr algn="l" marL="0" indent="0" lvl="0">
              <a:lnSpc>
                <a:spcPts val="1767"/>
              </a:lnSpc>
              <a:spcBef>
                <a:spcPct val="0"/>
              </a:spcBef>
            </a:pPr>
            <a:r>
              <a:rPr lang="en-US" sz="1262">
                <a:solidFill>
                  <a:srgbClr val="FFFFFF"/>
                </a:solidFill>
                <a:latin typeface="Open Sans"/>
                <a:ea typeface="Open Sans"/>
                <a:cs typeface="Open Sans"/>
                <a:sym typeface="Open Sans"/>
              </a:rPr>
              <a:t>Balances, limits and utilisation tied to the agreement entity.</a:t>
            </a:r>
          </a:p>
        </p:txBody>
      </p:sp>
      <p:sp>
        <p:nvSpPr>
          <p:cNvPr name="TextBox 43" id="43"/>
          <p:cNvSpPr txBox="true"/>
          <p:nvPr/>
        </p:nvSpPr>
        <p:spPr>
          <a:xfrm rot="0">
            <a:off x="12242505" y="6315312"/>
            <a:ext cx="4771002" cy="215591"/>
          </a:xfrm>
          <a:prstGeom prst="rect">
            <a:avLst/>
          </a:prstGeom>
        </p:spPr>
        <p:txBody>
          <a:bodyPr anchor="t" rtlCol="false" tIns="0" lIns="0" bIns="0" rIns="0">
            <a:spAutoFit/>
          </a:bodyPr>
          <a:lstStyle/>
          <a:p>
            <a:pPr algn="l" marL="0" indent="0" lvl="0">
              <a:lnSpc>
                <a:spcPts val="1767"/>
              </a:lnSpc>
              <a:spcBef>
                <a:spcPct val="0"/>
              </a:spcBef>
            </a:pPr>
            <a:r>
              <a:rPr lang="en-US" sz="1262">
                <a:solidFill>
                  <a:srgbClr val="FFFFFF"/>
                </a:solidFill>
                <a:latin typeface="Open Sans"/>
                <a:ea typeface="Open Sans"/>
                <a:cs typeface="Open Sans"/>
                <a:sym typeface="Open Sans"/>
              </a:rPr>
              <a:t>Individual card transactions and spend behaviour per device.</a:t>
            </a:r>
          </a:p>
        </p:txBody>
      </p:sp>
      <p:sp>
        <p:nvSpPr>
          <p:cNvPr name="TextBox 44" id="44"/>
          <p:cNvSpPr txBox="true"/>
          <p:nvPr/>
        </p:nvSpPr>
        <p:spPr>
          <a:xfrm rot="0">
            <a:off x="4946072" y="8599305"/>
            <a:ext cx="4771002" cy="215591"/>
          </a:xfrm>
          <a:prstGeom prst="rect">
            <a:avLst/>
          </a:prstGeom>
        </p:spPr>
        <p:txBody>
          <a:bodyPr anchor="t" rtlCol="false" tIns="0" lIns="0" bIns="0" rIns="0">
            <a:spAutoFit/>
          </a:bodyPr>
          <a:lstStyle/>
          <a:p>
            <a:pPr algn="l" marL="0" indent="0" lvl="0">
              <a:lnSpc>
                <a:spcPts val="1767"/>
              </a:lnSpc>
              <a:spcBef>
                <a:spcPct val="0"/>
              </a:spcBef>
            </a:pPr>
            <a:r>
              <a:rPr lang="en-US" sz="1262">
                <a:solidFill>
                  <a:srgbClr val="FFFFFF"/>
                </a:solidFill>
                <a:latin typeface="Open Sans"/>
                <a:ea typeface="Open Sans"/>
                <a:cs typeface="Open Sans"/>
                <a:sym typeface="Open Sans"/>
              </a:rPr>
              <a:t>Card linked to agreement; device attributes stored separately.</a:t>
            </a:r>
          </a:p>
        </p:txBody>
      </p:sp>
      <p:sp>
        <p:nvSpPr>
          <p:cNvPr name="TextBox 45" id="45"/>
          <p:cNvSpPr txBox="true"/>
          <p:nvPr/>
        </p:nvSpPr>
        <p:spPr>
          <a:xfrm rot="0">
            <a:off x="12242505" y="8599305"/>
            <a:ext cx="4771002" cy="215591"/>
          </a:xfrm>
          <a:prstGeom prst="rect">
            <a:avLst/>
          </a:prstGeom>
        </p:spPr>
        <p:txBody>
          <a:bodyPr anchor="t" rtlCol="false" tIns="0" lIns="0" bIns="0" rIns="0">
            <a:spAutoFit/>
          </a:bodyPr>
          <a:lstStyle/>
          <a:p>
            <a:pPr algn="l" marL="0" indent="0" lvl="0">
              <a:lnSpc>
                <a:spcPts val="1767"/>
              </a:lnSpc>
              <a:spcBef>
                <a:spcPct val="0"/>
              </a:spcBef>
            </a:pPr>
            <a:r>
              <a:rPr lang="en-US" sz="1262">
                <a:solidFill>
                  <a:srgbClr val="FFFFFF"/>
                </a:solidFill>
                <a:latin typeface="Open Sans"/>
                <a:ea typeface="Open Sans"/>
                <a:cs typeface="Open Sans"/>
                <a:sym typeface="Open Sans"/>
              </a:rPr>
              <a:t>Does BAWAG need account-only, device-only, or unified output?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211864" y="5320495"/>
            <a:ext cx="31045746" cy="5574178"/>
          </a:xfrm>
          <a:custGeom>
            <a:avLst/>
            <a:gdLst/>
            <a:ahLst/>
            <a:cxnLst/>
            <a:rect r="r" b="b" t="t" l="l"/>
            <a:pathLst>
              <a:path h="5574178" w="31045746">
                <a:moveTo>
                  <a:pt x="0" y="0"/>
                </a:moveTo>
                <a:lnTo>
                  <a:pt x="31045746" y="0"/>
                </a:lnTo>
                <a:lnTo>
                  <a:pt x="31045746" y="5574178"/>
                </a:lnTo>
                <a:lnTo>
                  <a:pt x="0" y="5574178"/>
                </a:lnTo>
                <a:lnTo>
                  <a:pt x="0"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3489756">
            <a:off x="13445512" y="-723868"/>
            <a:ext cx="9689208" cy="14968506"/>
          </a:xfrm>
          <a:custGeom>
            <a:avLst/>
            <a:gdLst/>
            <a:ahLst/>
            <a:cxnLst/>
            <a:rect r="r" b="b" t="t" l="l"/>
            <a:pathLst>
              <a:path h="14968506" w="9689208">
                <a:moveTo>
                  <a:pt x="9689208" y="14968506"/>
                </a:moveTo>
                <a:lnTo>
                  <a:pt x="0" y="14968506"/>
                </a:lnTo>
                <a:lnTo>
                  <a:pt x="0" y="0"/>
                </a:lnTo>
                <a:lnTo>
                  <a:pt x="9689208" y="0"/>
                </a:lnTo>
                <a:lnTo>
                  <a:pt x="9689208" y="14968506"/>
                </a:lnTo>
                <a:close/>
              </a:path>
            </a:pathLst>
          </a:custGeom>
          <a:blipFill>
            <a:blip r:embed="rId4"/>
            <a:stretch>
              <a:fillRect l="0" t="-47648" r="-34767" b="0"/>
            </a:stretch>
          </a:blipFill>
        </p:spPr>
      </p:sp>
      <p:sp>
        <p:nvSpPr>
          <p:cNvPr name="Freeform 4" id="4"/>
          <p:cNvSpPr/>
          <p:nvPr/>
        </p:nvSpPr>
        <p:spPr>
          <a:xfrm flipH="true" flipV="true" rot="-1772055">
            <a:off x="11740595" y="-4744414"/>
            <a:ext cx="7486778" cy="11566051"/>
          </a:xfrm>
          <a:custGeom>
            <a:avLst/>
            <a:gdLst/>
            <a:ahLst/>
            <a:cxnLst/>
            <a:rect r="r" b="b" t="t" l="l"/>
            <a:pathLst>
              <a:path h="11566051" w="7486778">
                <a:moveTo>
                  <a:pt x="7486778" y="11566050"/>
                </a:moveTo>
                <a:lnTo>
                  <a:pt x="0" y="11566050"/>
                </a:lnTo>
                <a:lnTo>
                  <a:pt x="0" y="0"/>
                </a:lnTo>
                <a:lnTo>
                  <a:pt x="7486778" y="0"/>
                </a:lnTo>
                <a:lnTo>
                  <a:pt x="7486778" y="11566050"/>
                </a:lnTo>
                <a:close/>
              </a:path>
            </a:pathLst>
          </a:custGeom>
          <a:blipFill>
            <a:blip r:embed="rId4"/>
            <a:stretch>
              <a:fillRect l="0" t="-47648" r="-34767" b="0"/>
            </a:stretch>
          </a:blipFill>
        </p:spPr>
      </p:sp>
      <p:sp>
        <p:nvSpPr>
          <p:cNvPr name="Freeform 5" id="5"/>
          <p:cNvSpPr/>
          <p:nvPr/>
        </p:nvSpPr>
        <p:spPr>
          <a:xfrm flipH="false" flipV="false" rot="0">
            <a:off x="-1069463" y="4099879"/>
            <a:ext cx="2568310" cy="2695746"/>
          </a:xfrm>
          <a:custGeom>
            <a:avLst/>
            <a:gdLst/>
            <a:ahLst/>
            <a:cxnLst/>
            <a:rect r="r" b="b" t="t" l="l"/>
            <a:pathLst>
              <a:path h="2695746" w="2568310">
                <a:moveTo>
                  <a:pt x="0" y="0"/>
                </a:moveTo>
                <a:lnTo>
                  <a:pt x="2568310" y="0"/>
                </a:lnTo>
                <a:lnTo>
                  <a:pt x="2568310" y="2695745"/>
                </a:lnTo>
                <a:lnTo>
                  <a:pt x="0" y="2695745"/>
                </a:lnTo>
                <a:lnTo>
                  <a:pt x="0" y="0"/>
                </a:lnTo>
                <a:close/>
              </a:path>
            </a:pathLst>
          </a:custGeom>
          <a:blipFill>
            <a:blip r:embed="rId5">
              <a:alphaModFix amt="28000"/>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5195397" y="2335269"/>
            <a:ext cx="2327377" cy="2442857"/>
          </a:xfrm>
          <a:custGeom>
            <a:avLst/>
            <a:gdLst/>
            <a:ahLst/>
            <a:cxnLst/>
            <a:rect r="r" b="b" t="t" l="l"/>
            <a:pathLst>
              <a:path h="2442857" w="2327377">
                <a:moveTo>
                  <a:pt x="0" y="0"/>
                </a:moveTo>
                <a:lnTo>
                  <a:pt x="2327377" y="0"/>
                </a:lnTo>
                <a:lnTo>
                  <a:pt x="2327377" y="2442858"/>
                </a:lnTo>
                <a:lnTo>
                  <a:pt x="0" y="2442858"/>
                </a:lnTo>
                <a:lnTo>
                  <a:pt x="0" y="0"/>
                </a:lnTo>
                <a:close/>
              </a:path>
            </a:pathLst>
          </a:custGeom>
          <a:blipFill>
            <a:blip r:embed="rId5">
              <a:alphaModFix amt="28000"/>
              <a:extLst>
                <a:ext uri="{96DAC541-7B7A-43D3-8B79-37D633B846F1}">
                  <asvg:svgBlip xmlns:asvg="http://schemas.microsoft.com/office/drawing/2016/SVG/main" r:embed="rId6"/>
                </a:ext>
              </a:extLst>
            </a:blip>
            <a:stretch>
              <a:fillRect l="0" t="0" r="0" b="0"/>
            </a:stretch>
          </a:blipFill>
        </p:spPr>
      </p:sp>
      <p:grpSp>
        <p:nvGrpSpPr>
          <p:cNvPr name="Group 7" id="7"/>
          <p:cNvGrpSpPr/>
          <p:nvPr/>
        </p:nvGrpSpPr>
        <p:grpSpPr>
          <a:xfrm rot="0">
            <a:off x="1028700" y="4456572"/>
            <a:ext cx="2652907" cy="265290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6C25">
                    <a:alpha val="100000"/>
                  </a:srgbClr>
                </a:gs>
                <a:gs pos="100000">
                  <a:srgbClr val="F89C22">
                    <a:alpha val="100000"/>
                  </a:srgbClr>
                </a:gs>
              </a:gsLst>
              <a:lin ang="0"/>
            </a:gra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0" id="10"/>
          <p:cNvGrpSpPr/>
          <p:nvPr/>
        </p:nvGrpSpPr>
        <p:grpSpPr>
          <a:xfrm rot="0">
            <a:off x="1060230" y="6663430"/>
            <a:ext cx="2545283" cy="892098"/>
            <a:chOff x="0" y="0"/>
            <a:chExt cx="1159518" cy="406400"/>
          </a:xfrm>
        </p:grpSpPr>
        <p:sp>
          <p:nvSpPr>
            <p:cNvPr name="Freeform 11" id="11"/>
            <p:cNvSpPr/>
            <p:nvPr/>
          </p:nvSpPr>
          <p:spPr>
            <a:xfrm flipH="false" flipV="false" rot="0">
              <a:off x="0" y="0"/>
              <a:ext cx="1159518" cy="406400"/>
            </a:xfrm>
            <a:custGeom>
              <a:avLst/>
              <a:gdLst/>
              <a:ahLst/>
              <a:cxnLst/>
              <a:rect r="r" b="b" t="t" l="l"/>
              <a:pathLst>
                <a:path h="406400" w="1159518">
                  <a:moveTo>
                    <a:pt x="956318" y="0"/>
                  </a:moveTo>
                  <a:cubicBezTo>
                    <a:pt x="1068542" y="0"/>
                    <a:pt x="1159518" y="90976"/>
                    <a:pt x="1159518" y="203200"/>
                  </a:cubicBezTo>
                  <a:cubicBezTo>
                    <a:pt x="1159518" y="315424"/>
                    <a:pt x="1068542" y="406400"/>
                    <a:pt x="956318" y="406400"/>
                  </a:cubicBezTo>
                  <a:lnTo>
                    <a:pt x="203200" y="406400"/>
                  </a:lnTo>
                  <a:cubicBezTo>
                    <a:pt x="90976" y="406400"/>
                    <a:pt x="0" y="315424"/>
                    <a:pt x="0" y="203200"/>
                  </a:cubicBezTo>
                  <a:cubicBezTo>
                    <a:pt x="0" y="90976"/>
                    <a:pt x="90976" y="0"/>
                    <a:pt x="203200" y="0"/>
                  </a:cubicBezTo>
                  <a:close/>
                </a:path>
              </a:pathLst>
            </a:custGeom>
            <a:solidFill>
              <a:srgbClr val="2F3D47"/>
            </a:solidFill>
          </p:spPr>
        </p:sp>
        <p:sp>
          <p:nvSpPr>
            <p:cNvPr name="TextBox 12" id="12"/>
            <p:cNvSpPr txBox="true"/>
            <p:nvPr/>
          </p:nvSpPr>
          <p:spPr>
            <a:xfrm>
              <a:off x="0" y="-38100"/>
              <a:ext cx="1159518" cy="444500"/>
            </a:xfrm>
            <a:prstGeom prst="rect">
              <a:avLst/>
            </a:prstGeom>
          </p:spPr>
          <p:txBody>
            <a:bodyPr anchor="ctr" rtlCol="false" tIns="50800" lIns="50800" bIns="50800" rIns="50800"/>
            <a:lstStyle/>
            <a:p>
              <a:pPr algn="ctr" marL="0" indent="0" lvl="0">
                <a:lnSpc>
                  <a:spcPts val="2659"/>
                </a:lnSpc>
              </a:pPr>
            </a:p>
          </p:txBody>
        </p:sp>
      </p:grpSp>
      <p:grpSp>
        <p:nvGrpSpPr>
          <p:cNvPr name="Group 13" id="13"/>
          <p:cNvGrpSpPr/>
          <p:nvPr/>
        </p:nvGrpSpPr>
        <p:grpSpPr>
          <a:xfrm rot="0">
            <a:off x="4537213" y="4456572"/>
            <a:ext cx="2652907" cy="265290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6C25">
                    <a:alpha val="100000"/>
                  </a:srgbClr>
                </a:gs>
                <a:gs pos="100000">
                  <a:srgbClr val="F89C22">
                    <a:alpha val="100000"/>
                  </a:srgbClr>
                </a:gs>
              </a:gsLst>
              <a:lin ang="0"/>
            </a:gra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6" id="16"/>
          <p:cNvGrpSpPr/>
          <p:nvPr/>
        </p:nvGrpSpPr>
        <p:grpSpPr>
          <a:xfrm rot="0">
            <a:off x="4591025" y="6663430"/>
            <a:ext cx="2545283" cy="892098"/>
            <a:chOff x="0" y="0"/>
            <a:chExt cx="1159518" cy="406400"/>
          </a:xfrm>
        </p:grpSpPr>
        <p:sp>
          <p:nvSpPr>
            <p:cNvPr name="Freeform 17" id="17"/>
            <p:cNvSpPr/>
            <p:nvPr/>
          </p:nvSpPr>
          <p:spPr>
            <a:xfrm flipH="false" flipV="false" rot="0">
              <a:off x="0" y="0"/>
              <a:ext cx="1159518" cy="406400"/>
            </a:xfrm>
            <a:custGeom>
              <a:avLst/>
              <a:gdLst/>
              <a:ahLst/>
              <a:cxnLst/>
              <a:rect r="r" b="b" t="t" l="l"/>
              <a:pathLst>
                <a:path h="406400" w="1159518">
                  <a:moveTo>
                    <a:pt x="956318" y="0"/>
                  </a:moveTo>
                  <a:cubicBezTo>
                    <a:pt x="1068542" y="0"/>
                    <a:pt x="1159518" y="90976"/>
                    <a:pt x="1159518" y="203200"/>
                  </a:cubicBezTo>
                  <a:cubicBezTo>
                    <a:pt x="1159518" y="315424"/>
                    <a:pt x="1068542" y="406400"/>
                    <a:pt x="956318" y="406400"/>
                  </a:cubicBezTo>
                  <a:lnTo>
                    <a:pt x="203200" y="406400"/>
                  </a:lnTo>
                  <a:cubicBezTo>
                    <a:pt x="90976" y="406400"/>
                    <a:pt x="0" y="315424"/>
                    <a:pt x="0" y="203200"/>
                  </a:cubicBezTo>
                  <a:cubicBezTo>
                    <a:pt x="0" y="90976"/>
                    <a:pt x="90976" y="0"/>
                    <a:pt x="203200" y="0"/>
                  </a:cubicBezTo>
                  <a:close/>
                </a:path>
              </a:pathLst>
            </a:custGeom>
            <a:solidFill>
              <a:srgbClr val="2F3D47"/>
            </a:solidFill>
          </p:spPr>
        </p:sp>
        <p:sp>
          <p:nvSpPr>
            <p:cNvPr name="TextBox 18" id="18"/>
            <p:cNvSpPr txBox="true"/>
            <p:nvPr/>
          </p:nvSpPr>
          <p:spPr>
            <a:xfrm>
              <a:off x="0" y="-38100"/>
              <a:ext cx="1159518" cy="444500"/>
            </a:xfrm>
            <a:prstGeom prst="rect">
              <a:avLst/>
            </a:prstGeom>
          </p:spPr>
          <p:txBody>
            <a:bodyPr anchor="ctr" rtlCol="false" tIns="50800" lIns="50800" bIns="50800" rIns="50800"/>
            <a:lstStyle/>
            <a:p>
              <a:pPr algn="ctr" marL="0" indent="0" lvl="0">
                <a:lnSpc>
                  <a:spcPts val="2659"/>
                </a:lnSpc>
              </a:pPr>
            </a:p>
          </p:txBody>
        </p:sp>
      </p:grpSp>
      <p:grpSp>
        <p:nvGrpSpPr>
          <p:cNvPr name="Group 19" id="19"/>
          <p:cNvGrpSpPr/>
          <p:nvPr/>
        </p:nvGrpSpPr>
        <p:grpSpPr>
          <a:xfrm rot="0">
            <a:off x="8049847" y="4456572"/>
            <a:ext cx="2652907" cy="265290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6C25">
                    <a:alpha val="100000"/>
                  </a:srgbClr>
                </a:gs>
                <a:gs pos="100000">
                  <a:srgbClr val="F89C22">
                    <a:alpha val="100000"/>
                  </a:srgbClr>
                </a:gs>
              </a:gsLst>
              <a:lin ang="0"/>
            </a:gra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22" id="22"/>
          <p:cNvGrpSpPr/>
          <p:nvPr/>
        </p:nvGrpSpPr>
        <p:grpSpPr>
          <a:xfrm rot="0">
            <a:off x="8099539" y="6663430"/>
            <a:ext cx="2545283" cy="892098"/>
            <a:chOff x="0" y="0"/>
            <a:chExt cx="1159518" cy="406400"/>
          </a:xfrm>
        </p:grpSpPr>
        <p:sp>
          <p:nvSpPr>
            <p:cNvPr name="Freeform 23" id="23"/>
            <p:cNvSpPr/>
            <p:nvPr/>
          </p:nvSpPr>
          <p:spPr>
            <a:xfrm flipH="false" flipV="false" rot="0">
              <a:off x="0" y="0"/>
              <a:ext cx="1159518" cy="406400"/>
            </a:xfrm>
            <a:custGeom>
              <a:avLst/>
              <a:gdLst/>
              <a:ahLst/>
              <a:cxnLst/>
              <a:rect r="r" b="b" t="t" l="l"/>
              <a:pathLst>
                <a:path h="406400" w="1159518">
                  <a:moveTo>
                    <a:pt x="956318" y="0"/>
                  </a:moveTo>
                  <a:cubicBezTo>
                    <a:pt x="1068542" y="0"/>
                    <a:pt x="1159518" y="90976"/>
                    <a:pt x="1159518" y="203200"/>
                  </a:cubicBezTo>
                  <a:cubicBezTo>
                    <a:pt x="1159518" y="315424"/>
                    <a:pt x="1068542" y="406400"/>
                    <a:pt x="956318" y="406400"/>
                  </a:cubicBezTo>
                  <a:lnTo>
                    <a:pt x="203200" y="406400"/>
                  </a:lnTo>
                  <a:cubicBezTo>
                    <a:pt x="90976" y="406400"/>
                    <a:pt x="0" y="315424"/>
                    <a:pt x="0" y="203200"/>
                  </a:cubicBezTo>
                  <a:cubicBezTo>
                    <a:pt x="0" y="90976"/>
                    <a:pt x="90976" y="0"/>
                    <a:pt x="203200" y="0"/>
                  </a:cubicBezTo>
                  <a:close/>
                </a:path>
              </a:pathLst>
            </a:custGeom>
            <a:solidFill>
              <a:srgbClr val="2F3D47"/>
            </a:solidFill>
          </p:spPr>
        </p:sp>
        <p:sp>
          <p:nvSpPr>
            <p:cNvPr name="TextBox 24" id="24"/>
            <p:cNvSpPr txBox="true"/>
            <p:nvPr/>
          </p:nvSpPr>
          <p:spPr>
            <a:xfrm>
              <a:off x="0" y="-38100"/>
              <a:ext cx="1159518" cy="444500"/>
            </a:xfrm>
            <a:prstGeom prst="rect">
              <a:avLst/>
            </a:prstGeom>
          </p:spPr>
          <p:txBody>
            <a:bodyPr anchor="ctr" rtlCol="false" tIns="50800" lIns="50800" bIns="50800" rIns="50800"/>
            <a:lstStyle/>
            <a:p>
              <a:pPr algn="ctr" marL="0" indent="0" lvl="0">
                <a:lnSpc>
                  <a:spcPts val="2659"/>
                </a:lnSpc>
              </a:pPr>
            </a:p>
          </p:txBody>
        </p:sp>
      </p:grpSp>
      <p:grpSp>
        <p:nvGrpSpPr>
          <p:cNvPr name="Group 25" id="25"/>
          <p:cNvGrpSpPr/>
          <p:nvPr/>
        </p:nvGrpSpPr>
        <p:grpSpPr>
          <a:xfrm rot="0">
            <a:off x="11558360" y="4456572"/>
            <a:ext cx="2652907" cy="2652907"/>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6C25">
                    <a:alpha val="100000"/>
                  </a:srgbClr>
                </a:gs>
                <a:gs pos="100000">
                  <a:srgbClr val="F89C22">
                    <a:alpha val="100000"/>
                  </a:srgbClr>
                </a:gs>
              </a:gsLst>
              <a:lin ang="0"/>
            </a:gradFill>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28" id="28"/>
          <p:cNvGrpSpPr/>
          <p:nvPr/>
        </p:nvGrpSpPr>
        <p:grpSpPr>
          <a:xfrm rot="0">
            <a:off x="11608052" y="6663430"/>
            <a:ext cx="2545283" cy="892098"/>
            <a:chOff x="0" y="0"/>
            <a:chExt cx="1159518" cy="406400"/>
          </a:xfrm>
        </p:grpSpPr>
        <p:sp>
          <p:nvSpPr>
            <p:cNvPr name="Freeform 29" id="29"/>
            <p:cNvSpPr/>
            <p:nvPr/>
          </p:nvSpPr>
          <p:spPr>
            <a:xfrm flipH="false" flipV="false" rot="0">
              <a:off x="0" y="0"/>
              <a:ext cx="1159518" cy="406400"/>
            </a:xfrm>
            <a:custGeom>
              <a:avLst/>
              <a:gdLst/>
              <a:ahLst/>
              <a:cxnLst/>
              <a:rect r="r" b="b" t="t" l="l"/>
              <a:pathLst>
                <a:path h="406400" w="1159518">
                  <a:moveTo>
                    <a:pt x="956318" y="0"/>
                  </a:moveTo>
                  <a:cubicBezTo>
                    <a:pt x="1068542" y="0"/>
                    <a:pt x="1159518" y="90976"/>
                    <a:pt x="1159518" y="203200"/>
                  </a:cubicBezTo>
                  <a:cubicBezTo>
                    <a:pt x="1159518" y="315424"/>
                    <a:pt x="1068542" y="406400"/>
                    <a:pt x="956318" y="406400"/>
                  </a:cubicBezTo>
                  <a:lnTo>
                    <a:pt x="203200" y="406400"/>
                  </a:lnTo>
                  <a:cubicBezTo>
                    <a:pt x="90976" y="406400"/>
                    <a:pt x="0" y="315424"/>
                    <a:pt x="0" y="203200"/>
                  </a:cubicBezTo>
                  <a:cubicBezTo>
                    <a:pt x="0" y="90976"/>
                    <a:pt x="90976" y="0"/>
                    <a:pt x="203200" y="0"/>
                  </a:cubicBezTo>
                  <a:close/>
                </a:path>
              </a:pathLst>
            </a:custGeom>
            <a:solidFill>
              <a:srgbClr val="2F3D47"/>
            </a:solidFill>
          </p:spPr>
        </p:sp>
        <p:sp>
          <p:nvSpPr>
            <p:cNvPr name="TextBox 30" id="30"/>
            <p:cNvSpPr txBox="true"/>
            <p:nvPr/>
          </p:nvSpPr>
          <p:spPr>
            <a:xfrm>
              <a:off x="0" y="-38100"/>
              <a:ext cx="1159518" cy="444500"/>
            </a:xfrm>
            <a:prstGeom prst="rect">
              <a:avLst/>
            </a:prstGeom>
          </p:spPr>
          <p:txBody>
            <a:bodyPr anchor="ctr" rtlCol="false" tIns="50800" lIns="50800" bIns="50800" rIns="50800"/>
            <a:lstStyle/>
            <a:p>
              <a:pPr algn="ctr" marL="0" indent="0" lvl="0">
                <a:lnSpc>
                  <a:spcPts val="2659"/>
                </a:lnSpc>
              </a:pPr>
            </a:p>
          </p:txBody>
        </p:sp>
      </p:grpSp>
      <p:sp>
        <p:nvSpPr>
          <p:cNvPr name="Freeform 31" id="31"/>
          <p:cNvSpPr/>
          <p:nvPr/>
        </p:nvSpPr>
        <p:spPr>
          <a:xfrm flipH="false" flipV="false" rot="0">
            <a:off x="1667500" y="4929296"/>
            <a:ext cx="1375450" cy="1292523"/>
          </a:xfrm>
          <a:custGeom>
            <a:avLst/>
            <a:gdLst/>
            <a:ahLst/>
            <a:cxnLst/>
            <a:rect r="r" b="b" t="t" l="l"/>
            <a:pathLst>
              <a:path h="1292523" w="1375450">
                <a:moveTo>
                  <a:pt x="0" y="0"/>
                </a:moveTo>
                <a:lnTo>
                  <a:pt x="1375451" y="0"/>
                </a:lnTo>
                <a:lnTo>
                  <a:pt x="1375451" y="1292523"/>
                </a:lnTo>
                <a:lnTo>
                  <a:pt x="0" y="1292523"/>
                </a:lnTo>
                <a:lnTo>
                  <a:pt x="0" y="0"/>
                </a:lnTo>
                <a:close/>
              </a:path>
            </a:pathLst>
          </a:custGeom>
          <a:blipFill>
            <a:blip r:embed="rId7"/>
            <a:stretch>
              <a:fillRect l="0" t="0" r="0" b="0"/>
            </a:stretch>
          </a:blipFill>
        </p:spPr>
      </p:sp>
      <p:sp>
        <p:nvSpPr>
          <p:cNvPr name="Freeform 32" id="32"/>
          <p:cNvSpPr/>
          <p:nvPr/>
        </p:nvSpPr>
        <p:spPr>
          <a:xfrm flipH="false" flipV="false" rot="0">
            <a:off x="5314379" y="4937024"/>
            <a:ext cx="1286070" cy="1436352"/>
          </a:xfrm>
          <a:custGeom>
            <a:avLst/>
            <a:gdLst/>
            <a:ahLst/>
            <a:cxnLst/>
            <a:rect r="r" b="b" t="t" l="l"/>
            <a:pathLst>
              <a:path h="1436352" w="1286070">
                <a:moveTo>
                  <a:pt x="0" y="0"/>
                </a:moveTo>
                <a:lnTo>
                  <a:pt x="1286070" y="0"/>
                </a:lnTo>
                <a:lnTo>
                  <a:pt x="1286070" y="1436352"/>
                </a:lnTo>
                <a:lnTo>
                  <a:pt x="0" y="1436352"/>
                </a:lnTo>
                <a:lnTo>
                  <a:pt x="0" y="0"/>
                </a:lnTo>
                <a:close/>
              </a:path>
            </a:pathLst>
          </a:custGeom>
          <a:blipFill>
            <a:blip r:embed="rId8"/>
            <a:stretch>
              <a:fillRect l="0" t="0" r="0" b="0"/>
            </a:stretch>
          </a:blipFill>
        </p:spPr>
      </p:sp>
      <p:sp>
        <p:nvSpPr>
          <p:cNvPr name="Freeform 33" id="33"/>
          <p:cNvSpPr/>
          <p:nvPr/>
        </p:nvSpPr>
        <p:spPr>
          <a:xfrm flipH="false" flipV="false" rot="0">
            <a:off x="8625927" y="5216555"/>
            <a:ext cx="1523929" cy="1414155"/>
          </a:xfrm>
          <a:custGeom>
            <a:avLst/>
            <a:gdLst/>
            <a:ahLst/>
            <a:cxnLst/>
            <a:rect r="r" b="b" t="t" l="l"/>
            <a:pathLst>
              <a:path h="1414155" w="1523929">
                <a:moveTo>
                  <a:pt x="0" y="0"/>
                </a:moveTo>
                <a:lnTo>
                  <a:pt x="1523930" y="0"/>
                </a:lnTo>
                <a:lnTo>
                  <a:pt x="1523930" y="1414154"/>
                </a:lnTo>
                <a:lnTo>
                  <a:pt x="0" y="1414154"/>
                </a:lnTo>
                <a:lnTo>
                  <a:pt x="0" y="0"/>
                </a:lnTo>
                <a:close/>
              </a:path>
            </a:pathLst>
          </a:custGeom>
          <a:blipFill>
            <a:blip r:embed="rId9"/>
            <a:stretch>
              <a:fillRect l="0" t="0" r="0" b="0"/>
            </a:stretch>
          </a:blipFill>
        </p:spPr>
      </p:sp>
      <p:sp>
        <p:nvSpPr>
          <p:cNvPr name="Freeform 34" id="34"/>
          <p:cNvSpPr/>
          <p:nvPr/>
        </p:nvSpPr>
        <p:spPr>
          <a:xfrm flipH="false" flipV="false" rot="0">
            <a:off x="12107550" y="4872796"/>
            <a:ext cx="1556668" cy="1558616"/>
          </a:xfrm>
          <a:custGeom>
            <a:avLst/>
            <a:gdLst/>
            <a:ahLst/>
            <a:cxnLst/>
            <a:rect r="r" b="b" t="t" l="l"/>
            <a:pathLst>
              <a:path h="1558616" w="1556668">
                <a:moveTo>
                  <a:pt x="0" y="0"/>
                </a:moveTo>
                <a:lnTo>
                  <a:pt x="1556668" y="0"/>
                </a:lnTo>
                <a:lnTo>
                  <a:pt x="1556668" y="1558617"/>
                </a:lnTo>
                <a:lnTo>
                  <a:pt x="0" y="1558617"/>
                </a:lnTo>
                <a:lnTo>
                  <a:pt x="0" y="0"/>
                </a:lnTo>
                <a:close/>
              </a:path>
            </a:pathLst>
          </a:custGeom>
          <a:blipFill>
            <a:blip r:embed="rId10"/>
            <a:stretch>
              <a:fillRect l="0" t="0" r="0" b="0"/>
            </a:stretch>
          </a:blipFill>
        </p:spPr>
      </p:sp>
      <p:sp>
        <p:nvSpPr>
          <p:cNvPr name="TextBox 35" id="35"/>
          <p:cNvSpPr txBox="true"/>
          <p:nvPr/>
        </p:nvSpPr>
        <p:spPr>
          <a:xfrm rot="0">
            <a:off x="1028700" y="1506916"/>
            <a:ext cx="2300988" cy="1105614"/>
          </a:xfrm>
          <a:prstGeom prst="rect">
            <a:avLst/>
          </a:prstGeom>
        </p:spPr>
        <p:txBody>
          <a:bodyPr anchor="t" rtlCol="false" tIns="0" lIns="0" bIns="0" rIns="0">
            <a:spAutoFit/>
          </a:bodyPr>
          <a:lstStyle/>
          <a:p>
            <a:pPr algn="l" marL="0" indent="0" lvl="0">
              <a:lnSpc>
                <a:spcPts val="4381"/>
              </a:lnSpc>
            </a:pPr>
            <a:r>
              <a:rPr lang="en-US" b="true" sz="3843" spc="-161">
                <a:solidFill>
                  <a:srgbClr val="F45D14"/>
                </a:solidFill>
                <a:latin typeface="Arial Unicode Bold"/>
                <a:ea typeface="Arial Unicode Bold"/>
                <a:cs typeface="Arial Unicode Bold"/>
                <a:sym typeface="Arial Unicode Bold"/>
              </a:rPr>
              <a:t>Transaction</a:t>
            </a:r>
          </a:p>
        </p:txBody>
      </p:sp>
      <p:sp>
        <p:nvSpPr>
          <p:cNvPr name="TextBox 36" id="36"/>
          <p:cNvSpPr txBox="true"/>
          <p:nvPr/>
        </p:nvSpPr>
        <p:spPr>
          <a:xfrm rot="0">
            <a:off x="3104370" y="1506916"/>
            <a:ext cx="6039630" cy="553164"/>
          </a:xfrm>
          <a:prstGeom prst="rect">
            <a:avLst/>
          </a:prstGeom>
        </p:spPr>
        <p:txBody>
          <a:bodyPr anchor="t" rtlCol="false" tIns="0" lIns="0" bIns="0" rIns="0">
            <a:spAutoFit/>
          </a:bodyPr>
          <a:lstStyle/>
          <a:p>
            <a:pPr algn="l" marL="0" indent="0" lvl="0">
              <a:lnSpc>
                <a:spcPts val="4381"/>
              </a:lnSpc>
            </a:pPr>
            <a:r>
              <a:rPr lang="en-US" b="true" sz="3843" spc="-161">
                <a:solidFill>
                  <a:srgbClr val="2F3D47"/>
                </a:solidFill>
                <a:latin typeface="Arial Unicode Bold"/>
                <a:ea typeface="Arial Unicode Bold"/>
                <a:cs typeface="Arial Unicode Bold"/>
                <a:sym typeface="Arial Unicode Bold"/>
              </a:rPr>
              <a:t>Architecture</a:t>
            </a:r>
          </a:p>
        </p:txBody>
      </p:sp>
      <p:sp>
        <p:nvSpPr>
          <p:cNvPr name="TextBox 37" id="37"/>
          <p:cNvSpPr txBox="true"/>
          <p:nvPr/>
        </p:nvSpPr>
        <p:spPr>
          <a:xfrm rot="0">
            <a:off x="1028700" y="2807078"/>
            <a:ext cx="13795048" cy="898968"/>
          </a:xfrm>
          <a:prstGeom prst="rect">
            <a:avLst/>
          </a:prstGeom>
        </p:spPr>
        <p:txBody>
          <a:bodyPr anchor="t" rtlCol="false" tIns="0" lIns="0" bIns="0" rIns="0">
            <a:spAutoFit/>
          </a:bodyPr>
          <a:lstStyle/>
          <a:p>
            <a:pPr algn="l" marL="0" indent="0" lvl="0">
              <a:lnSpc>
                <a:spcPts val="2425"/>
              </a:lnSpc>
              <a:spcBef>
                <a:spcPct val="0"/>
              </a:spcBef>
            </a:pPr>
            <a:r>
              <a:rPr lang="en-US" sz="1732">
                <a:solidFill>
                  <a:srgbClr val="000000"/>
                </a:solidFill>
                <a:latin typeface="Open Sans"/>
                <a:ea typeface="Open Sans"/>
                <a:cs typeface="Open Sans"/>
                <a:sym typeface="Open Sans"/>
              </a:rPr>
              <a:t>The ask is for an integrated set of transaction objects delivered as nightly files. A key design question: does BAWAG require a consolidated reference data set for reporting, or should all transaction files be delivered in full? Transactions are structured around core entities: agreement/account, party, collateral and link tables.</a:t>
            </a:r>
          </a:p>
        </p:txBody>
      </p:sp>
      <p:sp>
        <p:nvSpPr>
          <p:cNvPr name="TextBox 38" id="38"/>
          <p:cNvSpPr txBox="true"/>
          <p:nvPr/>
        </p:nvSpPr>
        <p:spPr>
          <a:xfrm rot="0">
            <a:off x="1399115" y="6769910"/>
            <a:ext cx="1867513" cy="465802"/>
          </a:xfrm>
          <a:prstGeom prst="rect">
            <a:avLst/>
          </a:prstGeom>
        </p:spPr>
        <p:txBody>
          <a:bodyPr anchor="t" rtlCol="false" tIns="0" lIns="0" bIns="0" rIns="0">
            <a:spAutoFit/>
          </a:bodyPr>
          <a:lstStyle/>
          <a:p>
            <a:pPr algn="ctr" marL="0" indent="0" lvl="0">
              <a:lnSpc>
                <a:spcPts val="1850"/>
              </a:lnSpc>
            </a:pPr>
            <a:r>
              <a:rPr lang="en-US" b="true" sz="1623" spc="-68">
                <a:solidFill>
                  <a:srgbClr val="FFFFFF"/>
                </a:solidFill>
                <a:latin typeface="Arial Unicode Bold"/>
                <a:ea typeface="Arial Unicode Bold"/>
                <a:cs typeface="Arial Unicode Bold"/>
                <a:sym typeface="Arial Unicode Bold"/>
              </a:rPr>
              <a:t>Integrated Transaction Objects</a:t>
            </a:r>
          </a:p>
        </p:txBody>
      </p:sp>
      <p:sp>
        <p:nvSpPr>
          <p:cNvPr name="TextBox 39" id="39"/>
          <p:cNvSpPr txBox="true"/>
          <p:nvPr/>
        </p:nvSpPr>
        <p:spPr>
          <a:xfrm rot="0">
            <a:off x="992533" y="7915477"/>
            <a:ext cx="2725241" cy="914400"/>
          </a:xfrm>
          <a:prstGeom prst="rect">
            <a:avLst/>
          </a:prstGeom>
        </p:spPr>
        <p:txBody>
          <a:bodyPr anchor="t" rtlCol="false" tIns="0" lIns="0" bIns="0" rIns="0">
            <a:spAutoFit/>
          </a:bodyPr>
          <a:lstStyle/>
          <a:p>
            <a:pPr algn="ctr" marL="0" indent="0" lvl="0">
              <a:lnSpc>
                <a:spcPts val="1807"/>
              </a:lnSpc>
            </a:pPr>
            <a:r>
              <a:rPr lang="en-US" sz="1506">
                <a:solidFill>
                  <a:srgbClr val="000000"/>
                </a:solidFill>
                <a:latin typeface="Open Sans"/>
                <a:ea typeface="Open Sans"/>
                <a:cs typeface="Open Sans"/>
                <a:sym typeface="Open Sans"/>
              </a:rPr>
              <a:t>A unified transaction model linking to core entities: party, agreement and collateral. Avoids fragmented file dumps.</a:t>
            </a:r>
          </a:p>
        </p:txBody>
      </p:sp>
      <p:sp>
        <p:nvSpPr>
          <p:cNvPr name="TextBox 40" id="40"/>
          <p:cNvSpPr txBox="true"/>
          <p:nvPr/>
        </p:nvSpPr>
        <p:spPr>
          <a:xfrm rot="0">
            <a:off x="4929911" y="6769910"/>
            <a:ext cx="1867513" cy="465802"/>
          </a:xfrm>
          <a:prstGeom prst="rect">
            <a:avLst/>
          </a:prstGeom>
        </p:spPr>
        <p:txBody>
          <a:bodyPr anchor="t" rtlCol="false" tIns="0" lIns="0" bIns="0" rIns="0">
            <a:spAutoFit/>
          </a:bodyPr>
          <a:lstStyle/>
          <a:p>
            <a:pPr algn="ctr" marL="0" indent="0" lvl="0">
              <a:lnSpc>
                <a:spcPts val="1850"/>
              </a:lnSpc>
            </a:pPr>
            <a:r>
              <a:rPr lang="en-US" b="true" sz="1623" spc="-68">
                <a:solidFill>
                  <a:srgbClr val="FFFFFF"/>
                </a:solidFill>
                <a:latin typeface="Arial Unicode Bold"/>
                <a:ea typeface="Arial Unicode Bold"/>
                <a:cs typeface="Arial Unicode Bold"/>
                <a:sym typeface="Arial Unicode Bold"/>
              </a:rPr>
              <a:t>Reference Data Strategy</a:t>
            </a:r>
          </a:p>
        </p:txBody>
      </p:sp>
      <p:sp>
        <p:nvSpPr>
          <p:cNvPr name="TextBox 41" id="41"/>
          <p:cNvSpPr txBox="true"/>
          <p:nvPr/>
        </p:nvSpPr>
        <p:spPr>
          <a:xfrm rot="0">
            <a:off x="4501046" y="7915477"/>
            <a:ext cx="2725241" cy="1143000"/>
          </a:xfrm>
          <a:prstGeom prst="rect">
            <a:avLst/>
          </a:prstGeom>
        </p:spPr>
        <p:txBody>
          <a:bodyPr anchor="t" rtlCol="false" tIns="0" lIns="0" bIns="0" rIns="0">
            <a:spAutoFit/>
          </a:bodyPr>
          <a:lstStyle/>
          <a:p>
            <a:pPr algn="ctr" marL="0" indent="0" lvl="0">
              <a:lnSpc>
                <a:spcPts val="1807"/>
              </a:lnSpc>
            </a:pPr>
            <a:r>
              <a:rPr lang="en-US" sz="1506">
                <a:solidFill>
                  <a:srgbClr val="000000"/>
                </a:solidFill>
                <a:latin typeface="Open Sans"/>
                <a:ea typeface="Open Sans"/>
                <a:cs typeface="Open Sans"/>
                <a:sym typeface="Open Sans"/>
              </a:rPr>
              <a:t>Does BAWAG hold a consolidated reference data set for reporting? Or does each tranche include full reference data per file?</a:t>
            </a:r>
          </a:p>
        </p:txBody>
      </p:sp>
      <p:sp>
        <p:nvSpPr>
          <p:cNvPr name="TextBox 42" id="42"/>
          <p:cNvSpPr txBox="true"/>
          <p:nvPr/>
        </p:nvSpPr>
        <p:spPr>
          <a:xfrm rot="0">
            <a:off x="8629871" y="6769910"/>
            <a:ext cx="1484618" cy="465802"/>
          </a:xfrm>
          <a:prstGeom prst="rect">
            <a:avLst/>
          </a:prstGeom>
        </p:spPr>
        <p:txBody>
          <a:bodyPr anchor="t" rtlCol="false" tIns="0" lIns="0" bIns="0" rIns="0">
            <a:spAutoFit/>
          </a:bodyPr>
          <a:lstStyle/>
          <a:p>
            <a:pPr algn="ctr" marL="0" indent="0" lvl="0">
              <a:lnSpc>
                <a:spcPts val="1850"/>
              </a:lnSpc>
            </a:pPr>
            <a:r>
              <a:rPr lang="en-US" b="true" sz="1623" spc="-68">
                <a:solidFill>
                  <a:srgbClr val="FFFFFF"/>
                </a:solidFill>
                <a:latin typeface="Arial Unicode Bold"/>
                <a:ea typeface="Arial Unicode Bold"/>
                <a:cs typeface="Arial Unicode Bold"/>
                <a:sym typeface="Arial Unicode Bold"/>
              </a:rPr>
              <a:t>Card Transactions</a:t>
            </a:r>
          </a:p>
        </p:txBody>
      </p:sp>
      <p:sp>
        <p:nvSpPr>
          <p:cNvPr name="TextBox 43" id="43"/>
          <p:cNvSpPr txBox="true"/>
          <p:nvPr/>
        </p:nvSpPr>
        <p:spPr>
          <a:xfrm rot="0">
            <a:off x="8009560" y="7915477"/>
            <a:ext cx="2725241" cy="1143000"/>
          </a:xfrm>
          <a:prstGeom prst="rect">
            <a:avLst/>
          </a:prstGeom>
        </p:spPr>
        <p:txBody>
          <a:bodyPr anchor="t" rtlCol="false" tIns="0" lIns="0" bIns="0" rIns="0">
            <a:spAutoFit/>
          </a:bodyPr>
          <a:lstStyle/>
          <a:p>
            <a:pPr algn="ctr" marL="0" indent="0" lvl="0">
              <a:lnSpc>
                <a:spcPts val="1807"/>
              </a:lnSpc>
            </a:pPr>
            <a:r>
              <a:rPr lang="en-US" sz="1506">
                <a:solidFill>
                  <a:srgbClr val="000000"/>
                </a:solidFill>
                <a:latin typeface="Open Sans"/>
                <a:ea typeface="Open Sans"/>
                <a:cs typeface="Open Sans"/>
                <a:sym typeface="Open Sans"/>
              </a:rPr>
              <a:t>Cards are modelled as agreement access devices. Transaction reporting must cover both account level and device level granularity.</a:t>
            </a:r>
          </a:p>
        </p:txBody>
      </p:sp>
      <p:sp>
        <p:nvSpPr>
          <p:cNvPr name="TextBox 44" id="44"/>
          <p:cNvSpPr txBox="true"/>
          <p:nvPr/>
        </p:nvSpPr>
        <p:spPr>
          <a:xfrm rot="0">
            <a:off x="12138384" y="6769910"/>
            <a:ext cx="1484618" cy="465802"/>
          </a:xfrm>
          <a:prstGeom prst="rect">
            <a:avLst/>
          </a:prstGeom>
        </p:spPr>
        <p:txBody>
          <a:bodyPr anchor="t" rtlCol="false" tIns="0" lIns="0" bIns="0" rIns="0">
            <a:spAutoFit/>
          </a:bodyPr>
          <a:lstStyle/>
          <a:p>
            <a:pPr algn="ctr" marL="0" indent="0" lvl="0">
              <a:lnSpc>
                <a:spcPts val="1850"/>
              </a:lnSpc>
            </a:pPr>
            <a:r>
              <a:rPr lang="en-US" b="true" sz="1623" spc="-68">
                <a:solidFill>
                  <a:srgbClr val="FFFFFF"/>
                </a:solidFill>
                <a:latin typeface="Arial Unicode Bold"/>
                <a:ea typeface="Arial Unicode Bold"/>
                <a:cs typeface="Arial Unicode Bold"/>
                <a:sym typeface="Arial Unicode Bold"/>
              </a:rPr>
              <a:t>Reconciliation &amp; Tranche Control</a:t>
            </a:r>
          </a:p>
        </p:txBody>
      </p:sp>
      <p:sp>
        <p:nvSpPr>
          <p:cNvPr name="TextBox 45" id="45"/>
          <p:cNvSpPr txBox="true"/>
          <p:nvPr/>
        </p:nvSpPr>
        <p:spPr>
          <a:xfrm rot="0">
            <a:off x="11518073" y="7915477"/>
            <a:ext cx="2725241" cy="1143000"/>
          </a:xfrm>
          <a:prstGeom prst="rect">
            <a:avLst/>
          </a:prstGeom>
        </p:spPr>
        <p:txBody>
          <a:bodyPr anchor="t" rtlCol="false" tIns="0" lIns="0" bIns="0" rIns="0">
            <a:spAutoFit/>
          </a:bodyPr>
          <a:lstStyle/>
          <a:p>
            <a:pPr algn="ctr" marL="0" indent="0" lvl="0">
              <a:lnSpc>
                <a:spcPts val="1807"/>
              </a:lnSpc>
            </a:pPr>
            <a:r>
              <a:rPr lang="en-US" sz="1506">
                <a:solidFill>
                  <a:srgbClr val="000000"/>
                </a:solidFill>
                <a:latin typeface="Open Sans"/>
                <a:ea typeface="Open Sans"/>
                <a:cs typeface="Open Sans"/>
                <a:sym typeface="Open Sans"/>
              </a:rPr>
              <a:t>Each nightly tranche reconciles centrally back to core pillar entities. Ensures consistency and completeness across all transaction objects.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80700" y="1531390"/>
            <a:ext cx="28117141" cy="11457735"/>
          </a:xfrm>
          <a:custGeom>
            <a:avLst/>
            <a:gdLst/>
            <a:ahLst/>
            <a:cxnLst/>
            <a:rect r="r" b="b" t="t" l="l"/>
            <a:pathLst>
              <a:path h="11457735" w="28117141">
                <a:moveTo>
                  <a:pt x="0" y="0"/>
                </a:moveTo>
                <a:lnTo>
                  <a:pt x="28117142" y="0"/>
                </a:lnTo>
                <a:lnTo>
                  <a:pt x="28117142" y="11457735"/>
                </a:lnTo>
                <a:lnTo>
                  <a:pt x="0" y="11457735"/>
                </a:lnTo>
                <a:lnTo>
                  <a:pt x="0" y="0"/>
                </a:lnTo>
                <a:close/>
              </a:path>
            </a:pathLst>
          </a:custGeom>
          <a:blipFill>
            <a:blip r:embed="rId2">
              <a:alphaModFix amt="8999"/>
            </a:blip>
            <a:stretch>
              <a:fillRect l="0" t="0" r="0" b="0"/>
            </a:stretch>
          </a:blipFill>
        </p:spPr>
      </p:sp>
      <p:sp>
        <p:nvSpPr>
          <p:cNvPr name="Freeform 3" id="3"/>
          <p:cNvSpPr/>
          <p:nvPr/>
        </p:nvSpPr>
        <p:spPr>
          <a:xfrm flipH="false" flipV="false" rot="2415475">
            <a:off x="-2580434" y="-6631829"/>
            <a:ext cx="8093568" cy="12012717"/>
          </a:xfrm>
          <a:custGeom>
            <a:avLst/>
            <a:gdLst/>
            <a:ahLst/>
            <a:cxnLst/>
            <a:rect r="r" b="b" t="t" l="l"/>
            <a:pathLst>
              <a:path h="12012717" w="8093568">
                <a:moveTo>
                  <a:pt x="0" y="0"/>
                </a:moveTo>
                <a:lnTo>
                  <a:pt x="8093568" y="0"/>
                </a:lnTo>
                <a:lnTo>
                  <a:pt x="8093568" y="12012717"/>
                </a:lnTo>
                <a:lnTo>
                  <a:pt x="0" y="12012717"/>
                </a:lnTo>
                <a:lnTo>
                  <a:pt x="0" y="0"/>
                </a:lnTo>
                <a:close/>
              </a:path>
            </a:pathLst>
          </a:custGeom>
          <a:blipFill>
            <a:blip r:embed="rId3"/>
            <a:stretch>
              <a:fillRect l="0" t="0" r="0" b="0"/>
            </a:stretch>
          </a:blipFill>
        </p:spPr>
      </p:sp>
      <p:sp>
        <p:nvSpPr>
          <p:cNvPr name="Freeform 4" id="4"/>
          <p:cNvSpPr/>
          <p:nvPr/>
        </p:nvSpPr>
        <p:spPr>
          <a:xfrm flipH="false" flipV="false" rot="2094463">
            <a:off x="11822612" y="192254"/>
            <a:ext cx="9455459" cy="17510109"/>
          </a:xfrm>
          <a:custGeom>
            <a:avLst/>
            <a:gdLst/>
            <a:ahLst/>
            <a:cxnLst/>
            <a:rect r="r" b="b" t="t" l="l"/>
            <a:pathLst>
              <a:path h="17510109" w="9455459">
                <a:moveTo>
                  <a:pt x="0" y="0"/>
                </a:moveTo>
                <a:lnTo>
                  <a:pt x="9455459" y="0"/>
                </a:lnTo>
                <a:lnTo>
                  <a:pt x="9455459" y="17510109"/>
                </a:lnTo>
                <a:lnTo>
                  <a:pt x="0" y="17510109"/>
                </a:lnTo>
                <a:lnTo>
                  <a:pt x="0" y="0"/>
                </a:lnTo>
                <a:close/>
              </a:path>
            </a:pathLst>
          </a:custGeom>
          <a:blipFill>
            <a:blip r:embed="rId4"/>
            <a:stretch>
              <a:fillRect l="0" t="0" r="0" b="0"/>
            </a:stretch>
          </a:blipFill>
        </p:spPr>
      </p:sp>
      <p:grpSp>
        <p:nvGrpSpPr>
          <p:cNvPr name="Group 5" id="5"/>
          <p:cNvGrpSpPr/>
          <p:nvPr/>
        </p:nvGrpSpPr>
        <p:grpSpPr>
          <a:xfrm rot="0">
            <a:off x="706052" y="3366809"/>
            <a:ext cx="5641321" cy="5631064"/>
            <a:chOff x="0" y="0"/>
            <a:chExt cx="7521761" cy="7508085"/>
          </a:xfrm>
        </p:grpSpPr>
        <p:sp>
          <p:nvSpPr>
            <p:cNvPr name="Freeform 6" id="6"/>
            <p:cNvSpPr/>
            <p:nvPr/>
          </p:nvSpPr>
          <p:spPr>
            <a:xfrm flipH="false" flipV="false" rot="0">
              <a:off x="0" y="0"/>
              <a:ext cx="7521761" cy="7508085"/>
            </a:xfrm>
            <a:custGeom>
              <a:avLst/>
              <a:gdLst/>
              <a:ahLst/>
              <a:cxnLst/>
              <a:rect r="r" b="b" t="t" l="l"/>
              <a:pathLst>
                <a:path h="7508085" w="7521761">
                  <a:moveTo>
                    <a:pt x="0" y="0"/>
                  </a:moveTo>
                  <a:lnTo>
                    <a:pt x="7521761" y="0"/>
                  </a:lnTo>
                  <a:lnTo>
                    <a:pt x="7521761" y="7508085"/>
                  </a:lnTo>
                  <a:lnTo>
                    <a:pt x="0" y="7508085"/>
                  </a:lnTo>
                  <a:lnTo>
                    <a:pt x="0" y="0"/>
                  </a:lnTo>
                  <a:close/>
                </a:path>
              </a:pathLst>
            </a:custGeom>
            <a:blipFill>
              <a:blip r:embed="rId5"/>
              <a:stretch>
                <a:fillRect l="0" t="0" r="0" b="0"/>
              </a:stretch>
            </a:blipFill>
          </p:spPr>
        </p:sp>
        <p:grpSp>
          <p:nvGrpSpPr>
            <p:cNvPr name="Group 7" id="7"/>
            <p:cNvGrpSpPr/>
            <p:nvPr/>
          </p:nvGrpSpPr>
          <p:grpSpPr>
            <a:xfrm rot="0">
              <a:off x="536543" y="461165"/>
              <a:ext cx="6448675" cy="644867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68B23">
                      <a:alpha val="100000"/>
                    </a:srgbClr>
                  </a:gs>
                  <a:gs pos="50000">
                    <a:srgbClr val="FBA911">
                      <a:alpha val="100000"/>
                    </a:srgbClr>
                  </a:gs>
                  <a:gs pos="100000">
                    <a:srgbClr val="FFD950">
                      <a:alpha val="100000"/>
                    </a:srgbClr>
                  </a:gs>
                </a:gsLst>
                <a:lin ang="0"/>
              </a:gra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5400000">
              <a:off x="806303" y="730925"/>
              <a:ext cx="5909156" cy="590915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68B23">
                      <a:alpha val="100000"/>
                    </a:srgbClr>
                  </a:gs>
                  <a:gs pos="50000">
                    <a:srgbClr val="FBA911">
                      <a:alpha val="100000"/>
                    </a:srgbClr>
                  </a:gs>
                  <a:gs pos="100000">
                    <a:srgbClr val="FFD950">
                      <a:alpha val="100000"/>
                    </a:srgbClr>
                  </a:gs>
                </a:gsLst>
                <a:lin ang="0"/>
              </a:gra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3" id="13"/>
            <p:cNvGrpSpPr/>
            <p:nvPr/>
          </p:nvGrpSpPr>
          <p:grpSpPr>
            <a:xfrm rot="0">
              <a:off x="1023918" y="948540"/>
              <a:ext cx="5473926" cy="547392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0" t="0" r="0" b="0"/>
                </a:stretch>
              </a:blipFill>
            </p:spPr>
          </p:sp>
        </p:grpSp>
      </p:grpSp>
      <p:grpSp>
        <p:nvGrpSpPr>
          <p:cNvPr name="Group 15" id="15"/>
          <p:cNvGrpSpPr/>
          <p:nvPr/>
        </p:nvGrpSpPr>
        <p:grpSpPr>
          <a:xfrm rot="0">
            <a:off x="6347373" y="3366809"/>
            <a:ext cx="5641321" cy="5631064"/>
            <a:chOff x="0" y="0"/>
            <a:chExt cx="7521761" cy="7508085"/>
          </a:xfrm>
        </p:grpSpPr>
        <p:sp>
          <p:nvSpPr>
            <p:cNvPr name="Freeform 16" id="16"/>
            <p:cNvSpPr/>
            <p:nvPr/>
          </p:nvSpPr>
          <p:spPr>
            <a:xfrm flipH="false" flipV="false" rot="0">
              <a:off x="0" y="0"/>
              <a:ext cx="7521761" cy="7508085"/>
            </a:xfrm>
            <a:custGeom>
              <a:avLst/>
              <a:gdLst/>
              <a:ahLst/>
              <a:cxnLst/>
              <a:rect r="r" b="b" t="t" l="l"/>
              <a:pathLst>
                <a:path h="7508085" w="7521761">
                  <a:moveTo>
                    <a:pt x="0" y="0"/>
                  </a:moveTo>
                  <a:lnTo>
                    <a:pt x="7521761" y="0"/>
                  </a:lnTo>
                  <a:lnTo>
                    <a:pt x="7521761" y="7508085"/>
                  </a:lnTo>
                  <a:lnTo>
                    <a:pt x="0" y="7508085"/>
                  </a:lnTo>
                  <a:lnTo>
                    <a:pt x="0" y="0"/>
                  </a:lnTo>
                  <a:close/>
                </a:path>
              </a:pathLst>
            </a:custGeom>
            <a:blipFill>
              <a:blip r:embed="rId5"/>
              <a:stretch>
                <a:fillRect l="0" t="0" r="0" b="0"/>
              </a:stretch>
            </a:blipFill>
          </p:spPr>
        </p:sp>
        <p:grpSp>
          <p:nvGrpSpPr>
            <p:cNvPr name="Group 17" id="17"/>
            <p:cNvGrpSpPr/>
            <p:nvPr/>
          </p:nvGrpSpPr>
          <p:grpSpPr>
            <a:xfrm rot="0">
              <a:off x="536543" y="461165"/>
              <a:ext cx="6448675" cy="6448675"/>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68B23">
                      <a:alpha val="100000"/>
                    </a:srgbClr>
                  </a:gs>
                  <a:gs pos="50000">
                    <a:srgbClr val="FBA911">
                      <a:alpha val="100000"/>
                    </a:srgbClr>
                  </a:gs>
                  <a:gs pos="100000">
                    <a:srgbClr val="FFD950">
                      <a:alpha val="100000"/>
                    </a:srgbClr>
                  </a:gs>
                </a:gsLst>
                <a:lin ang="0"/>
              </a:gra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0" id="20"/>
            <p:cNvGrpSpPr/>
            <p:nvPr/>
          </p:nvGrpSpPr>
          <p:grpSpPr>
            <a:xfrm rot="5400000">
              <a:off x="806303" y="730925"/>
              <a:ext cx="5909156" cy="5909156"/>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68B23">
                      <a:alpha val="100000"/>
                    </a:srgbClr>
                  </a:gs>
                  <a:gs pos="50000">
                    <a:srgbClr val="FBA911">
                      <a:alpha val="100000"/>
                    </a:srgbClr>
                  </a:gs>
                  <a:gs pos="100000">
                    <a:srgbClr val="FFD950">
                      <a:alpha val="100000"/>
                    </a:srgbClr>
                  </a:gs>
                </a:gsLst>
                <a:lin ang="0"/>
              </a:gra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3" id="23"/>
            <p:cNvGrpSpPr/>
            <p:nvPr/>
          </p:nvGrpSpPr>
          <p:grpSpPr>
            <a:xfrm rot="0">
              <a:off x="1023918" y="948540"/>
              <a:ext cx="5473926" cy="5473926"/>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0" t="0" r="0" b="0"/>
                </a:stretch>
              </a:blipFill>
            </p:spPr>
          </p:sp>
        </p:grpSp>
      </p:grpSp>
      <p:grpSp>
        <p:nvGrpSpPr>
          <p:cNvPr name="Group 25" id="25"/>
          <p:cNvGrpSpPr/>
          <p:nvPr/>
        </p:nvGrpSpPr>
        <p:grpSpPr>
          <a:xfrm rot="0">
            <a:off x="11988694" y="3366809"/>
            <a:ext cx="5641321" cy="5631064"/>
            <a:chOff x="0" y="0"/>
            <a:chExt cx="7521761" cy="7508085"/>
          </a:xfrm>
        </p:grpSpPr>
        <p:sp>
          <p:nvSpPr>
            <p:cNvPr name="Freeform 26" id="26"/>
            <p:cNvSpPr/>
            <p:nvPr/>
          </p:nvSpPr>
          <p:spPr>
            <a:xfrm flipH="false" flipV="false" rot="0">
              <a:off x="0" y="0"/>
              <a:ext cx="7521761" cy="7508085"/>
            </a:xfrm>
            <a:custGeom>
              <a:avLst/>
              <a:gdLst/>
              <a:ahLst/>
              <a:cxnLst/>
              <a:rect r="r" b="b" t="t" l="l"/>
              <a:pathLst>
                <a:path h="7508085" w="7521761">
                  <a:moveTo>
                    <a:pt x="0" y="0"/>
                  </a:moveTo>
                  <a:lnTo>
                    <a:pt x="7521761" y="0"/>
                  </a:lnTo>
                  <a:lnTo>
                    <a:pt x="7521761" y="7508085"/>
                  </a:lnTo>
                  <a:lnTo>
                    <a:pt x="0" y="7508085"/>
                  </a:lnTo>
                  <a:lnTo>
                    <a:pt x="0" y="0"/>
                  </a:lnTo>
                  <a:close/>
                </a:path>
              </a:pathLst>
            </a:custGeom>
            <a:blipFill>
              <a:blip r:embed="rId5"/>
              <a:stretch>
                <a:fillRect l="0" t="0" r="0" b="0"/>
              </a:stretch>
            </a:blipFill>
          </p:spPr>
        </p:sp>
        <p:grpSp>
          <p:nvGrpSpPr>
            <p:cNvPr name="Group 27" id="27"/>
            <p:cNvGrpSpPr/>
            <p:nvPr/>
          </p:nvGrpSpPr>
          <p:grpSpPr>
            <a:xfrm rot="0">
              <a:off x="536543" y="461165"/>
              <a:ext cx="6448675" cy="6448675"/>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68B23">
                      <a:alpha val="100000"/>
                    </a:srgbClr>
                  </a:gs>
                  <a:gs pos="50000">
                    <a:srgbClr val="FBA911">
                      <a:alpha val="100000"/>
                    </a:srgbClr>
                  </a:gs>
                  <a:gs pos="100000">
                    <a:srgbClr val="FFD950">
                      <a:alpha val="100000"/>
                    </a:srgbClr>
                  </a:gs>
                </a:gsLst>
                <a:lin ang="0"/>
              </a:gradFill>
            </p:spPr>
          </p:sp>
          <p:sp>
            <p:nvSpPr>
              <p:cNvPr name="TextBox 29" id="29"/>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0" id="30"/>
            <p:cNvGrpSpPr/>
            <p:nvPr/>
          </p:nvGrpSpPr>
          <p:grpSpPr>
            <a:xfrm rot="5400000">
              <a:off x="806303" y="730925"/>
              <a:ext cx="5909156" cy="5909156"/>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68B23">
                      <a:alpha val="100000"/>
                    </a:srgbClr>
                  </a:gs>
                  <a:gs pos="50000">
                    <a:srgbClr val="FBA911">
                      <a:alpha val="100000"/>
                    </a:srgbClr>
                  </a:gs>
                  <a:gs pos="100000">
                    <a:srgbClr val="FFD950">
                      <a:alpha val="100000"/>
                    </a:srgbClr>
                  </a:gs>
                </a:gsLst>
                <a:lin ang="0"/>
              </a:gradFill>
            </p:spPr>
          </p:sp>
          <p:sp>
            <p:nvSpPr>
              <p:cNvPr name="TextBox 32" id="32"/>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3" id="33"/>
            <p:cNvGrpSpPr/>
            <p:nvPr/>
          </p:nvGrpSpPr>
          <p:grpSpPr>
            <a:xfrm rot="0">
              <a:off x="1023918" y="948540"/>
              <a:ext cx="5473926" cy="5473926"/>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l="0" t="0" r="0" b="0"/>
                </a:stretch>
              </a:blipFill>
            </p:spPr>
          </p:sp>
        </p:grpSp>
      </p:grpSp>
      <p:sp>
        <p:nvSpPr>
          <p:cNvPr name="Freeform 35" id="35"/>
          <p:cNvSpPr/>
          <p:nvPr/>
        </p:nvSpPr>
        <p:spPr>
          <a:xfrm flipH="false" flipV="false" rot="0">
            <a:off x="16152756" y="524747"/>
            <a:ext cx="2377474" cy="2495440"/>
          </a:xfrm>
          <a:custGeom>
            <a:avLst/>
            <a:gdLst/>
            <a:ahLst/>
            <a:cxnLst/>
            <a:rect r="r" b="b" t="t" l="l"/>
            <a:pathLst>
              <a:path h="2495440" w="2377474">
                <a:moveTo>
                  <a:pt x="0" y="0"/>
                </a:moveTo>
                <a:lnTo>
                  <a:pt x="2377474" y="0"/>
                </a:lnTo>
                <a:lnTo>
                  <a:pt x="2377474" y="2495440"/>
                </a:lnTo>
                <a:lnTo>
                  <a:pt x="0" y="2495440"/>
                </a:lnTo>
                <a:lnTo>
                  <a:pt x="0" y="0"/>
                </a:lnTo>
                <a:close/>
              </a:path>
            </a:pathLst>
          </a:custGeom>
          <a:blipFill>
            <a:blip r:embed="rId9">
              <a:alphaModFix amt="28000"/>
              <a:extLst>
                <a:ext uri="{96DAC541-7B7A-43D3-8B79-37D633B846F1}">
                  <asvg:svgBlip xmlns:asvg="http://schemas.microsoft.com/office/drawing/2016/SVG/main" r:embed="rId10"/>
                </a:ext>
              </a:extLst>
            </a:blip>
            <a:stretch>
              <a:fillRect l="0" t="0" r="0" b="0"/>
            </a:stretch>
          </a:blipFill>
        </p:spPr>
      </p:sp>
      <p:sp>
        <p:nvSpPr>
          <p:cNvPr name="TextBox 36" id="36"/>
          <p:cNvSpPr txBox="true"/>
          <p:nvPr/>
        </p:nvSpPr>
        <p:spPr>
          <a:xfrm rot="0">
            <a:off x="5371260" y="1482196"/>
            <a:ext cx="7545479" cy="1085810"/>
          </a:xfrm>
          <a:prstGeom prst="rect">
            <a:avLst/>
          </a:prstGeom>
        </p:spPr>
        <p:txBody>
          <a:bodyPr anchor="t" rtlCol="false" tIns="0" lIns="0" bIns="0" rIns="0">
            <a:spAutoFit/>
          </a:bodyPr>
          <a:lstStyle/>
          <a:p>
            <a:pPr algn="ctr" marL="0" indent="0" lvl="0">
              <a:lnSpc>
                <a:spcPts val="8543"/>
              </a:lnSpc>
            </a:pPr>
            <a:r>
              <a:rPr lang="en-US" b="true" sz="7494" spc="-314">
                <a:solidFill>
                  <a:srgbClr val="F45D14"/>
                </a:solidFill>
                <a:latin typeface="Arial Unicode Bold"/>
                <a:ea typeface="Arial Unicode Bold"/>
                <a:cs typeface="Arial Unicode Bold"/>
                <a:sym typeface="Arial Unicode Bold"/>
              </a:rPr>
              <a:t>Reference Data</a:t>
            </a:r>
          </a:p>
        </p:txBody>
      </p:sp>
      <p:sp>
        <p:nvSpPr>
          <p:cNvPr name="TextBox 37" id="37"/>
          <p:cNvSpPr txBox="true"/>
          <p:nvPr/>
        </p:nvSpPr>
        <p:spPr>
          <a:xfrm rot="0">
            <a:off x="6866503" y="2308600"/>
            <a:ext cx="4554995" cy="1085810"/>
          </a:xfrm>
          <a:prstGeom prst="rect">
            <a:avLst/>
          </a:prstGeom>
        </p:spPr>
        <p:txBody>
          <a:bodyPr anchor="t" rtlCol="false" tIns="0" lIns="0" bIns="0" rIns="0">
            <a:spAutoFit/>
          </a:bodyPr>
          <a:lstStyle/>
          <a:p>
            <a:pPr algn="ctr" marL="0" indent="0" lvl="0">
              <a:lnSpc>
                <a:spcPts val="8543"/>
              </a:lnSpc>
            </a:pPr>
            <a:r>
              <a:rPr lang="en-US" b="true" sz="7494" spc="-314">
                <a:solidFill>
                  <a:srgbClr val="2F3D47"/>
                </a:solidFill>
                <a:latin typeface="Arial Unicode Bold"/>
                <a:ea typeface="Arial Unicode Bold"/>
                <a:cs typeface="Arial Unicode Bold"/>
                <a:sym typeface="Arial Unicode Bold"/>
              </a:rPr>
              <a:t>Strategy</a:t>
            </a:r>
          </a:p>
        </p:txBody>
      </p:sp>
      <p:grpSp>
        <p:nvGrpSpPr>
          <p:cNvPr name="Group 38" id="38"/>
          <p:cNvGrpSpPr/>
          <p:nvPr/>
        </p:nvGrpSpPr>
        <p:grpSpPr>
          <a:xfrm rot="0">
            <a:off x="1271180" y="8107584"/>
            <a:ext cx="4511066" cy="634029"/>
            <a:chOff x="0" y="0"/>
            <a:chExt cx="2891504" cy="406400"/>
          </a:xfrm>
        </p:grpSpPr>
        <p:sp>
          <p:nvSpPr>
            <p:cNvPr name="Freeform 39" id="39"/>
            <p:cNvSpPr/>
            <p:nvPr/>
          </p:nvSpPr>
          <p:spPr>
            <a:xfrm flipH="false" flipV="false" rot="0">
              <a:off x="0" y="0"/>
              <a:ext cx="2891504" cy="406400"/>
            </a:xfrm>
            <a:custGeom>
              <a:avLst/>
              <a:gdLst/>
              <a:ahLst/>
              <a:cxnLst/>
              <a:rect r="r" b="b" t="t" l="l"/>
              <a:pathLst>
                <a:path h="406400" w="2891504">
                  <a:moveTo>
                    <a:pt x="2688304" y="0"/>
                  </a:moveTo>
                  <a:cubicBezTo>
                    <a:pt x="2800528" y="0"/>
                    <a:pt x="2891504" y="90976"/>
                    <a:pt x="2891504" y="203200"/>
                  </a:cubicBezTo>
                  <a:cubicBezTo>
                    <a:pt x="2891504" y="315424"/>
                    <a:pt x="2800528" y="406400"/>
                    <a:pt x="2688304" y="406400"/>
                  </a:cubicBezTo>
                  <a:lnTo>
                    <a:pt x="203200" y="406400"/>
                  </a:lnTo>
                  <a:cubicBezTo>
                    <a:pt x="90976" y="406400"/>
                    <a:pt x="0" y="315424"/>
                    <a:pt x="0" y="203200"/>
                  </a:cubicBezTo>
                  <a:cubicBezTo>
                    <a:pt x="0" y="90976"/>
                    <a:pt x="90976" y="0"/>
                    <a:pt x="203200" y="0"/>
                  </a:cubicBezTo>
                  <a:close/>
                </a:path>
              </a:pathLst>
            </a:custGeom>
            <a:solidFill>
              <a:srgbClr val="2F3D47"/>
            </a:solidFill>
          </p:spPr>
        </p:sp>
        <p:sp>
          <p:nvSpPr>
            <p:cNvPr name="TextBox 40" id="40"/>
            <p:cNvSpPr txBox="true"/>
            <p:nvPr/>
          </p:nvSpPr>
          <p:spPr>
            <a:xfrm>
              <a:off x="0" y="-38100"/>
              <a:ext cx="2891504" cy="444500"/>
            </a:xfrm>
            <a:prstGeom prst="rect">
              <a:avLst/>
            </a:prstGeom>
          </p:spPr>
          <p:txBody>
            <a:bodyPr anchor="ctr" rtlCol="false" tIns="50800" lIns="50800" bIns="50800" rIns="50800"/>
            <a:lstStyle/>
            <a:p>
              <a:pPr algn="ctr" marL="0" indent="0" lvl="0">
                <a:lnSpc>
                  <a:spcPts val="2659"/>
                </a:lnSpc>
              </a:pPr>
            </a:p>
          </p:txBody>
        </p:sp>
      </p:grpSp>
      <p:grpSp>
        <p:nvGrpSpPr>
          <p:cNvPr name="Group 41" id="41"/>
          <p:cNvGrpSpPr/>
          <p:nvPr/>
        </p:nvGrpSpPr>
        <p:grpSpPr>
          <a:xfrm rot="0">
            <a:off x="6912500" y="8107584"/>
            <a:ext cx="4511066" cy="634029"/>
            <a:chOff x="0" y="0"/>
            <a:chExt cx="2891504" cy="406400"/>
          </a:xfrm>
        </p:grpSpPr>
        <p:sp>
          <p:nvSpPr>
            <p:cNvPr name="Freeform 42" id="42"/>
            <p:cNvSpPr/>
            <p:nvPr/>
          </p:nvSpPr>
          <p:spPr>
            <a:xfrm flipH="false" flipV="false" rot="0">
              <a:off x="0" y="0"/>
              <a:ext cx="2891504" cy="406400"/>
            </a:xfrm>
            <a:custGeom>
              <a:avLst/>
              <a:gdLst/>
              <a:ahLst/>
              <a:cxnLst/>
              <a:rect r="r" b="b" t="t" l="l"/>
              <a:pathLst>
                <a:path h="406400" w="2891504">
                  <a:moveTo>
                    <a:pt x="2688304" y="0"/>
                  </a:moveTo>
                  <a:cubicBezTo>
                    <a:pt x="2800528" y="0"/>
                    <a:pt x="2891504" y="90976"/>
                    <a:pt x="2891504" y="203200"/>
                  </a:cubicBezTo>
                  <a:cubicBezTo>
                    <a:pt x="2891504" y="315424"/>
                    <a:pt x="2800528" y="406400"/>
                    <a:pt x="2688304" y="406400"/>
                  </a:cubicBezTo>
                  <a:lnTo>
                    <a:pt x="203200" y="406400"/>
                  </a:lnTo>
                  <a:cubicBezTo>
                    <a:pt x="90976" y="406400"/>
                    <a:pt x="0" y="315424"/>
                    <a:pt x="0" y="203200"/>
                  </a:cubicBezTo>
                  <a:cubicBezTo>
                    <a:pt x="0" y="90976"/>
                    <a:pt x="90976" y="0"/>
                    <a:pt x="203200" y="0"/>
                  </a:cubicBezTo>
                  <a:close/>
                </a:path>
              </a:pathLst>
            </a:custGeom>
            <a:solidFill>
              <a:srgbClr val="2F3D47"/>
            </a:solidFill>
          </p:spPr>
        </p:sp>
        <p:sp>
          <p:nvSpPr>
            <p:cNvPr name="TextBox 43" id="43"/>
            <p:cNvSpPr txBox="true"/>
            <p:nvPr/>
          </p:nvSpPr>
          <p:spPr>
            <a:xfrm>
              <a:off x="0" y="-38100"/>
              <a:ext cx="2891504" cy="444500"/>
            </a:xfrm>
            <a:prstGeom prst="rect">
              <a:avLst/>
            </a:prstGeom>
          </p:spPr>
          <p:txBody>
            <a:bodyPr anchor="ctr" rtlCol="false" tIns="50800" lIns="50800" bIns="50800" rIns="50800"/>
            <a:lstStyle/>
            <a:p>
              <a:pPr algn="ctr" marL="0" indent="0" lvl="0">
                <a:lnSpc>
                  <a:spcPts val="2659"/>
                </a:lnSpc>
              </a:pPr>
            </a:p>
          </p:txBody>
        </p:sp>
      </p:grpSp>
      <p:grpSp>
        <p:nvGrpSpPr>
          <p:cNvPr name="Group 44" id="44"/>
          <p:cNvGrpSpPr/>
          <p:nvPr/>
        </p:nvGrpSpPr>
        <p:grpSpPr>
          <a:xfrm rot="0">
            <a:off x="12553821" y="8107584"/>
            <a:ext cx="4511066" cy="634029"/>
            <a:chOff x="0" y="0"/>
            <a:chExt cx="2891504" cy="406400"/>
          </a:xfrm>
        </p:grpSpPr>
        <p:sp>
          <p:nvSpPr>
            <p:cNvPr name="Freeform 45" id="45"/>
            <p:cNvSpPr/>
            <p:nvPr/>
          </p:nvSpPr>
          <p:spPr>
            <a:xfrm flipH="false" flipV="false" rot="0">
              <a:off x="0" y="0"/>
              <a:ext cx="2891504" cy="406400"/>
            </a:xfrm>
            <a:custGeom>
              <a:avLst/>
              <a:gdLst/>
              <a:ahLst/>
              <a:cxnLst/>
              <a:rect r="r" b="b" t="t" l="l"/>
              <a:pathLst>
                <a:path h="406400" w="2891504">
                  <a:moveTo>
                    <a:pt x="2688304" y="0"/>
                  </a:moveTo>
                  <a:cubicBezTo>
                    <a:pt x="2800528" y="0"/>
                    <a:pt x="2891504" y="90976"/>
                    <a:pt x="2891504" y="203200"/>
                  </a:cubicBezTo>
                  <a:cubicBezTo>
                    <a:pt x="2891504" y="315424"/>
                    <a:pt x="2800528" y="406400"/>
                    <a:pt x="2688304" y="406400"/>
                  </a:cubicBezTo>
                  <a:lnTo>
                    <a:pt x="203200" y="406400"/>
                  </a:lnTo>
                  <a:cubicBezTo>
                    <a:pt x="90976" y="406400"/>
                    <a:pt x="0" y="315424"/>
                    <a:pt x="0" y="203200"/>
                  </a:cubicBezTo>
                  <a:cubicBezTo>
                    <a:pt x="0" y="90976"/>
                    <a:pt x="90976" y="0"/>
                    <a:pt x="203200" y="0"/>
                  </a:cubicBezTo>
                  <a:close/>
                </a:path>
              </a:pathLst>
            </a:custGeom>
            <a:solidFill>
              <a:srgbClr val="2F3D47"/>
            </a:solidFill>
          </p:spPr>
        </p:sp>
        <p:sp>
          <p:nvSpPr>
            <p:cNvPr name="TextBox 46" id="46"/>
            <p:cNvSpPr txBox="true"/>
            <p:nvPr/>
          </p:nvSpPr>
          <p:spPr>
            <a:xfrm>
              <a:off x="0" y="-38100"/>
              <a:ext cx="2891504" cy="444500"/>
            </a:xfrm>
            <a:prstGeom prst="rect">
              <a:avLst/>
            </a:prstGeom>
          </p:spPr>
          <p:txBody>
            <a:bodyPr anchor="ctr" rtlCol="false" tIns="50800" lIns="50800" bIns="50800" rIns="50800"/>
            <a:lstStyle/>
            <a:p>
              <a:pPr algn="ctr" marL="0" indent="0" lvl="0">
                <a:lnSpc>
                  <a:spcPts val="2659"/>
                </a:lnSpc>
              </a:pPr>
            </a:p>
          </p:txBody>
        </p:sp>
      </p:grpSp>
      <p:sp>
        <p:nvSpPr>
          <p:cNvPr name="TextBox 47" id="47"/>
          <p:cNvSpPr txBox="true"/>
          <p:nvPr/>
        </p:nvSpPr>
        <p:spPr>
          <a:xfrm rot="0">
            <a:off x="1660930" y="8117109"/>
            <a:ext cx="3764679" cy="518493"/>
          </a:xfrm>
          <a:prstGeom prst="rect">
            <a:avLst/>
          </a:prstGeom>
        </p:spPr>
        <p:txBody>
          <a:bodyPr anchor="t" rtlCol="false" tIns="0" lIns="0" bIns="0" rIns="0">
            <a:spAutoFit/>
          </a:bodyPr>
          <a:lstStyle/>
          <a:p>
            <a:pPr algn="ctr" marL="0" indent="0" lvl="0">
              <a:lnSpc>
                <a:spcPts val="2044"/>
              </a:lnSpc>
            </a:pPr>
            <a:r>
              <a:rPr lang="en-US" b="true" sz="1793" spc="-75">
                <a:solidFill>
                  <a:srgbClr val="FFFFFF"/>
                </a:solidFill>
                <a:latin typeface="Arial Unicode Bold"/>
                <a:ea typeface="Arial Unicode Bold"/>
                <a:cs typeface="Arial Unicode Bold"/>
                <a:sym typeface="Arial Unicode Bold"/>
              </a:rPr>
              <a:t>Consolidated</a:t>
            </a:r>
          </a:p>
          <a:p>
            <a:pPr algn="ctr" marL="0" indent="0" lvl="0">
              <a:lnSpc>
                <a:spcPts val="2044"/>
              </a:lnSpc>
            </a:pPr>
            <a:r>
              <a:rPr lang="en-US" b="true" sz="1793" spc="-75">
                <a:solidFill>
                  <a:srgbClr val="FFFFFF"/>
                </a:solidFill>
                <a:latin typeface="Arial Unicode Bold"/>
                <a:ea typeface="Arial Unicode Bold"/>
                <a:cs typeface="Arial Unicode Bold"/>
                <a:sym typeface="Arial Unicode Bold"/>
              </a:rPr>
              <a:t>Dataset?</a:t>
            </a:r>
          </a:p>
        </p:txBody>
      </p:sp>
      <p:sp>
        <p:nvSpPr>
          <p:cNvPr name="TextBox 48" id="48"/>
          <p:cNvSpPr txBox="true"/>
          <p:nvPr/>
        </p:nvSpPr>
        <p:spPr>
          <a:xfrm rot="0">
            <a:off x="7205659" y="8117109"/>
            <a:ext cx="3957862" cy="518493"/>
          </a:xfrm>
          <a:prstGeom prst="rect">
            <a:avLst/>
          </a:prstGeom>
        </p:spPr>
        <p:txBody>
          <a:bodyPr anchor="t" rtlCol="false" tIns="0" lIns="0" bIns="0" rIns="0">
            <a:spAutoFit/>
          </a:bodyPr>
          <a:lstStyle/>
          <a:p>
            <a:pPr algn="ctr" marL="0" indent="0" lvl="0">
              <a:lnSpc>
                <a:spcPts val="2044"/>
              </a:lnSpc>
            </a:pPr>
            <a:r>
              <a:rPr lang="en-US" b="true" sz="1793" spc="-75">
                <a:solidFill>
                  <a:srgbClr val="FFFFFF"/>
                </a:solidFill>
                <a:latin typeface="Arial Unicode Bold"/>
                <a:ea typeface="Arial Unicode Bold"/>
                <a:cs typeface="Arial Unicode Bold"/>
                <a:sym typeface="Arial Unicode Bold"/>
              </a:rPr>
              <a:t>Full File</a:t>
            </a:r>
          </a:p>
          <a:p>
            <a:pPr algn="ctr" marL="0" indent="0" lvl="0">
              <a:lnSpc>
                <a:spcPts val="2044"/>
              </a:lnSpc>
            </a:pPr>
            <a:r>
              <a:rPr lang="en-US" b="true" sz="1793" spc="-75">
                <a:solidFill>
                  <a:srgbClr val="FFFFFF"/>
                </a:solidFill>
                <a:latin typeface="Arial Unicode Bold"/>
                <a:ea typeface="Arial Unicode Bold"/>
                <a:cs typeface="Arial Unicode Bold"/>
                <a:sym typeface="Arial Unicode Bold"/>
              </a:rPr>
              <a:t>Extraction?</a:t>
            </a:r>
          </a:p>
        </p:txBody>
      </p:sp>
      <p:sp>
        <p:nvSpPr>
          <p:cNvPr name="TextBox 49" id="49"/>
          <p:cNvSpPr txBox="true"/>
          <p:nvPr/>
        </p:nvSpPr>
        <p:spPr>
          <a:xfrm rot="0">
            <a:off x="12943572" y="8117109"/>
            <a:ext cx="3764679" cy="518493"/>
          </a:xfrm>
          <a:prstGeom prst="rect">
            <a:avLst/>
          </a:prstGeom>
        </p:spPr>
        <p:txBody>
          <a:bodyPr anchor="t" rtlCol="false" tIns="0" lIns="0" bIns="0" rIns="0">
            <a:spAutoFit/>
          </a:bodyPr>
          <a:lstStyle/>
          <a:p>
            <a:pPr algn="ctr" marL="0" indent="0" lvl="0">
              <a:lnSpc>
                <a:spcPts val="2044"/>
              </a:lnSpc>
            </a:pPr>
            <a:r>
              <a:rPr lang="en-US" b="true" sz="1793" spc="-75">
                <a:solidFill>
                  <a:srgbClr val="FFFFFF"/>
                </a:solidFill>
                <a:latin typeface="Arial Unicode Bold"/>
                <a:ea typeface="Arial Unicode Bold"/>
                <a:cs typeface="Arial Unicode Bold"/>
                <a:sym typeface="Arial Unicode Bold"/>
              </a:rPr>
              <a:t>Reporting</a:t>
            </a:r>
          </a:p>
          <a:p>
            <a:pPr algn="ctr" marL="0" indent="0" lvl="0">
              <a:lnSpc>
                <a:spcPts val="2044"/>
              </a:lnSpc>
            </a:pPr>
            <a:r>
              <a:rPr lang="en-US" b="true" sz="1793" spc="-75">
                <a:solidFill>
                  <a:srgbClr val="FFFFFF"/>
                </a:solidFill>
                <a:latin typeface="Arial Unicode Bold"/>
                <a:ea typeface="Arial Unicode Bold"/>
                <a:cs typeface="Arial Unicode Bold"/>
                <a:sym typeface="Arial Unicode Bold"/>
              </a:rPr>
              <a:t>Alignment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0982255" y="5143500"/>
            <a:ext cx="31045746" cy="5574178"/>
          </a:xfrm>
          <a:custGeom>
            <a:avLst/>
            <a:gdLst/>
            <a:ahLst/>
            <a:cxnLst/>
            <a:rect r="r" b="b" t="t" l="l"/>
            <a:pathLst>
              <a:path h="5574178" w="31045746">
                <a:moveTo>
                  <a:pt x="31045746" y="0"/>
                </a:moveTo>
                <a:lnTo>
                  <a:pt x="0" y="0"/>
                </a:lnTo>
                <a:lnTo>
                  <a:pt x="0" y="5574178"/>
                </a:lnTo>
                <a:lnTo>
                  <a:pt x="31045746" y="5574178"/>
                </a:lnTo>
                <a:lnTo>
                  <a:pt x="31045746"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1483172">
            <a:off x="-1973571" y="-2412248"/>
            <a:ext cx="7371980" cy="8275758"/>
          </a:xfrm>
          <a:custGeom>
            <a:avLst/>
            <a:gdLst/>
            <a:ahLst/>
            <a:cxnLst/>
            <a:rect r="r" b="b" t="t" l="l"/>
            <a:pathLst>
              <a:path h="8275758" w="7371980">
                <a:moveTo>
                  <a:pt x="0" y="8275758"/>
                </a:moveTo>
                <a:lnTo>
                  <a:pt x="7371980" y="8275758"/>
                </a:lnTo>
                <a:lnTo>
                  <a:pt x="7371980" y="0"/>
                </a:lnTo>
                <a:lnTo>
                  <a:pt x="0" y="0"/>
                </a:lnTo>
                <a:lnTo>
                  <a:pt x="0" y="8275758"/>
                </a:lnTo>
                <a:close/>
              </a:path>
            </a:pathLst>
          </a:custGeom>
          <a:blipFill>
            <a:blip r:embed="rId4"/>
            <a:stretch>
              <a:fillRect l="0" t="-74203" r="-15543" b="0"/>
            </a:stretch>
          </a:blipFill>
        </p:spPr>
      </p:sp>
      <p:sp>
        <p:nvSpPr>
          <p:cNvPr name="Freeform 4" id="4"/>
          <p:cNvSpPr/>
          <p:nvPr/>
        </p:nvSpPr>
        <p:spPr>
          <a:xfrm flipH="true" flipV="true" rot="-1481999">
            <a:off x="12890347" y="-2412248"/>
            <a:ext cx="7371980" cy="8275758"/>
          </a:xfrm>
          <a:custGeom>
            <a:avLst/>
            <a:gdLst/>
            <a:ahLst/>
            <a:cxnLst/>
            <a:rect r="r" b="b" t="t" l="l"/>
            <a:pathLst>
              <a:path h="8275758" w="7371980">
                <a:moveTo>
                  <a:pt x="7371980" y="8275758"/>
                </a:moveTo>
                <a:lnTo>
                  <a:pt x="0" y="8275758"/>
                </a:lnTo>
                <a:lnTo>
                  <a:pt x="0" y="0"/>
                </a:lnTo>
                <a:lnTo>
                  <a:pt x="7371980" y="0"/>
                </a:lnTo>
                <a:lnTo>
                  <a:pt x="7371980" y="8275758"/>
                </a:lnTo>
                <a:close/>
              </a:path>
            </a:pathLst>
          </a:custGeom>
          <a:blipFill>
            <a:blip r:embed="rId4"/>
            <a:stretch>
              <a:fillRect l="0" t="-74203" r="-15543" b="0"/>
            </a:stretch>
          </a:blipFill>
        </p:spPr>
      </p:sp>
      <p:sp>
        <p:nvSpPr>
          <p:cNvPr name="Freeform 5" id="5"/>
          <p:cNvSpPr/>
          <p:nvPr/>
        </p:nvSpPr>
        <p:spPr>
          <a:xfrm flipH="false" flipV="false" rot="0">
            <a:off x="16106855" y="6400955"/>
            <a:ext cx="2914648" cy="3059268"/>
          </a:xfrm>
          <a:custGeom>
            <a:avLst/>
            <a:gdLst/>
            <a:ahLst/>
            <a:cxnLst/>
            <a:rect r="r" b="b" t="t" l="l"/>
            <a:pathLst>
              <a:path h="3059268" w="2914648">
                <a:moveTo>
                  <a:pt x="0" y="0"/>
                </a:moveTo>
                <a:lnTo>
                  <a:pt x="2914648" y="0"/>
                </a:lnTo>
                <a:lnTo>
                  <a:pt x="2914648" y="3059268"/>
                </a:lnTo>
                <a:lnTo>
                  <a:pt x="0" y="3059268"/>
                </a:lnTo>
                <a:lnTo>
                  <a:pt x="0" y="0"/>
                </a:lnTo>
                <a:close/>
              </a:path>
            </a:pathLst>
          </a:custGeom>
          <a:blipFill>
            <a:blip r:embed="rId5">
              <a:alphaModFix amt="28000"/>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733503" y="6400955"/>
            <a:ext cx="2914648" cy="3059268"/>
          </a:xfrm>
          <a:custGeom>
            <a:avLst/>
            <a:gdLst/>
            <a:ahLst/>
            <a:cxnLst/>
            <a:rect r="r" b="b" t="t" l="l"/>
            <a:pathLst>
              <a:path h="3059268" w="2914648">
                <a:moveTo>
                  <a:pt x="2914648" y="0"/>
                </a:moveTo>
                <a:lnTo>
                  <a:pt x="0" y="0"/>
                </a:lnTo>
                <a:lnTo>
                  <a:pt x="0" y="3059268"/>
                </a:lnTo>
                <a:lnTo>
                  <a:pt x="2914648" y="3059268"/>
                </a:lnTo>
                <a:lnTo>
                  <a:pt x="2914648" y="0"/>
                </a:lnTo>
                <a:close/>
              </a:path>
            </a:pathLst>
          </a:custGeom>
          <a:blipFill>
            <a:blip r:embed="rId5">
              <a:alphaModFix amt="28000"/>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5036324" y="1458734"/>
            <a:ext cx="8215351" cy="1085810"/>
          </a:xfrm>
          <a:prstGeom prst="rect">
            <a:avLst/>
          </a:prstGeom>
        </p:spPr>
        <p:txBody>
          <a:bodyPr anchor="t" rtlCol="false" tIns="0" lIns="0" bIns="0" rIns="0">
            <a:spAutoFit/>
          </a:bodyPr>
          <a:lstStyle/>
          <a:p>
            <a:pPr algn="ctr" marL="0" indent="0" lvl="0">
              <a:lnSpc>
                <a:spcPts val="8543"/>
              </a:lnSpc>
            </a:pPr>
            <a:r>
              <a:rPr lang="en-US" b="true" sz="7494" spc="-314">
                <a:solidFill>
                  <a:srgbClr val="F45D14"/>
                </a:solidFill>
                <a:latin typeface="Arial Unicode Bold"/>
                <a:ea typeface="Arial Unicode Bold"/>
                <a:cs typeface="Arial Unicode Bold"/>
                <a:sym typeface="Arial Unicode Bold"/>
              </a:rPr>
              <a:t>Key Decisions &amp;</a:t>
            </a:r>
          </a:p>
        </p:txBody>
      </p:sp>
      <p:sp>
        <p:nvSpPr>
          <p:cNvPr name="TextBox 8" id="8"/>
          <p:cNvSpPr txBox="true"/>
          <p:nvPr/>
        </p:nvSpPr>
        <p:spPr>
          <a:xfrm rot="0">
            <a:off x="6012890" y="2285138"/>
            <a:ext cx="6262220" cy="1085810"/>
          </a:xfrm>
          <a:prstGeom prst="rect">
            <a:avLst/>
          </a:prstGeom>
        </p:spPr>
        <p:txBody>
          <a:bodyPr anchor="t" rtlCol="false" tIns="0" lIns="0" bIns="0" rIns="0">
            <a:spAutoFit/>
          </a:bodyPr>
          <a:lstStyle/>
          <a:p>
            <a:pPr algn="ctr" marL="0" indent="0" lvl="0">
              <a:lnSpc>
                <a:spcPts val="8543"/>
              </a:lnSpc>
            </a:pPr>
            <a:r>
              <a:rPr lang="en-US" b="true" sz="7494" spc="-314">
                <a:solidFill>
                  <a:srgbClr val="2F3D47"/>
                </a:solidFill>
                <a:latin typeface="Arial Unicode Bold"/>
                <a:ea typeface="Arial Unicode Bold"/>
                <a:cs typeface="Arial Unicode Bold"/>
                <a:sym typeface="Arial Unicode Bold"/>
              </a:rPr>
              <a:t>Next Steps</a:t>
            </a:r>
          </a:p>
        </p:txBody>
      </p:sp>
      <p:sp>
        <p:nvSpPr>
          <p:cNvPr name="TextBox 9" id="9"/>
          <p:cNvSpPr txBox="true"/>
          <p:nvPr/>
        </p:nvSpPr>
        <p:spPr>
          <a:xfrm rot="0">
            <a:off x="9144000" y="3648279"/>
            <a:ext cx="8091025" cy="1470819"/>
          </a:xfrm>
          <a:prstGeom prst="rect">
            <a:avLst/>
          </a:prstGeom>
        </p:spPr>
        <p:txBody>
          <a:bodyPr anchor="t" rtlCol="false" tIns="0" lIns="0" bIns="0" rIns="0">
            <a:spAutoFit/>
          </a:bodyPr>
          <a:lstStyle/>
          <a:p>
            <a:pPr algn="l" marL="0" indent="0" lvl="0">
              <a:lnSpc>
                <a:spcPts val="2931"/>
              </a:lnSpc>
              <a:spcBef>
                <a:spcPct val="0"/>
              </a:spcBef>
            </a:pPr>
            <a:r>
              <a:rPr lang="en-US" sz="2093">
                <a:solidFill>
                  <a:srgbClr val="000000"/>
                </a:solidFill>
                <a:latin typeface="Open Sans"/>
                <a:ea typeface="Open Sans"/>
                <a:cs typeface="Open Sans"/>
                <a:sym typeface="Open Sans"/>
              </a:rPr>
              <a:t>Critical decisions are required to finalise the BAWAG nightly file integration architecture. Alignment is needed on data scope, reference data strategy, transaction object consolidation, and the phased tranche delivery timeline before build can commence.</a:t>
            </a:r>
          </a:p>
        </p:txBody>
      </p:sp>
      <p:pic>
        <p:nvPicPr>
          <p:cNvPr name="Picture 10" id="10"/>
          <p:cNvPicPr>
            <a:picLocks noChangeAspect="true"/>
          </p:cNvPicPr>
          <p:nvPr/>
        </p:nvPicPr>
        <p:blipFill>
          <a:blip r:embed="rId7"/>
          <a:stretch>
            <a:fillRect/>
          </a:stretch>
        </p:blipFill>
        <p:spPr>
          <a:xfrm rot="0">
            <a:off x="285642" y="2943321"/>
            <a:ext cx="8916691" cy="7039017"/>
          </a:xfrm>
          <a:prstGeom prst="rect">
            <a:avLst/>
          </a:prstGeom>
        </p:spPr>
      </p:pic>
      <p:grpSp>
        <p:nvGrpSpPr>
          <p:cNvPr name="Group 11" id="11"/>
          <p:cNvGrpSpPr/>
          <p:nvPr/>
        </p:nvGrpSpPr>
        <p:grpSpPr>
          <a:xfrm rot="0">
            <a:off x="9144000" y="5735667"/>
            <a:ext cx="3963028" cy="1325608"/>
            <a:chOff x="0" y="0"/>
            <a:chExt cx="1214971" cy="406400"/>
          </a:xfrm>
        </p:grpSpPr>
        <p:sp>
          <p:nvSpPr>
            <p:cNvPr name="Freeform 12" id="12"/>
            <p:cNvSpPr/>
            <p:nvPr/>
          </p:nvSpPr>
          <p:spPr>
            <a:xfrm flipH="false" flipV="false" rot="0">
              <a:off x="0" y="0"/>
              <a:ext cx="1214971" cy="406400"/>
            </a:xfrm>
            <a:custGeom>
              <a:avLst/>
              <a:gdLst/>
              <a:ahLst/>
              <a:cxnLst/>
              <a:rect r="r" b="b" t="t" l="l"/>
              <a:pathLst>
                <a:path h="406400" w="1214971">
                  <a:moveTo>
                    <a:pt x="1011771" y="0"/>
                  </a:moveTo>
                  <a:cubicBezTo>
                    <a:pt x="1123995" y="0"/>
                    <a:pt x="1214971" y="90976"/>
                    <a:pt x="1214971" y="203200"/>
                  </a:cubicBezTo>
                  <a:cubicBezTo>
                    <a:pt x="1214971" y="315424"/>
                    <a:pt x="1123995" y="406400"/>
                    <a:pt x="101177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F6C25">
                    <a:alpha val="100000"/>
                  </a:srgbClr>
                </a:gs>
                <a:gs pos="100000">
                  <a:srgbClr val="F89C22">
                    <a:alpha val="100000"/>
                  </a:srgbClr>
                </a:gs>
              </a:gsLst>
              <a:lin ang="0"/>
            </a:gradFill>
          </p:spPr>
        </p:sp>
        <p:sp>
          <p:nvSpPr>
            <p:cNvPr name="TextBox 13" id="13"/>
            <p:cNvSpPr txBox="true"/>
            <p:nvPr/>
          </p:nvSpPr>
          <p:spPr>
            <a:xfrm>
              <a:off x="0" y="-38100"/>
              <a:ext cx="1214971" cy="444500"/>
            </a:xfrm>
            <a:prstGeom prst="rect">
              <a:avLst/>
            </a:prstGeom>
          </p:spPr>
          <p:txBody>
            <a:bodyPr anchor="ctr" rtlCol="false" tIns="50800" lIns="50800" bIns="50800" rIns="50800"/>
            <a:lstStyle/>
            <a:p>
              <a:pPr algn="ctr" marL="0" indent="0" lvl="0">
                <a:lnSpc>
                  <a:spcPts val="2659"/>
                </a:lnSpc>
              </a:pPr>
            </a:p>
          </p:txBody>
        </p:sp>
      </p:grpSp>
      <p:grpSp>
        <p:nvGrpSpPr>
          <p:cNvPr name="Group 14" id="14"/>
          <p:cNvGrpSpPr/>
          <p:nvPr/>
        </p:nvGrpSpPr>
        <p:grpSpPr>
          <a:xfrm rot="0">
            <a:off x="9144000" y="7375600"/>
            <a:ext cx="3963028" cy="1325608"/>
            <a:chOff x="0" y="0"/>
            <a:chExt cx="1214971" cy="406400"/>
          </a:xfrm>
        </p:grpSpPr>
        <p:sp>
          <p:nvSpPr>
            <p:cNvPr name="Freeform 15" id="15"/>
            <p:cNvSpPr/>
            <p:nvPr/>
          </p:nvSpPr>
          <p:spPr>
            <a:xfrm flipH="false" flipV="false" rot="0">
              <a:off x="0" y="0"/>
              <a:ext cx="1214971" cy="406400"/>
            </a:xfrm>
            <a:custGeom>
              <a:avLst/>
              <a:gdLst/>
              <a:ahLst/>
              <a:cxnLst/>
              <a:rect r="r" b="b" t="t" l="l"/>
              <a:pathLst>
                <a:path h="406400" w="1214971">
                  <a:moveTo>
                    <a:pt x="1011771" y="0"/>
                  </a:moveTo>
                  <a:cubicBezTo>
                    <a:pt x="1123995" y="0"/>
                    <a:pt x="1214971" y="90976"/>
                    <a:pt x="1214971" y="203200"/>
                  </a:cubicBezTo>
                  <a:cubicBezTo>
                    <a:pt x="1214971" y="315424"/>
                    <a:pt x="1123995" y="406400"/>
                    <a:pt x="1011771" y="406400"/>
                  </a:cubicBezTo>
                  <a:lnTo>
                    <a:pt x="203200" y="406400"/>
                  </a:lnTo>
                  <a:cubicBezTo>
                    <a:pt x="90976" y="406400"/>
                    <a:pt x="0" y="315424"/>
                    <a:pt x="0" y="203200"/>
                  </a:cubicBezTo>
                  <a:cubicBezTo>
                    <a:pt x="0" y="90976"/>
                    <a:pt x="90976" y="0"/>
                    <a:pt x="203200" y="0"/>
                  </a:cubicBezTo>
                  <a:close/>
                </a:path>
              </a:pathLst>
            </a:custGeom>
            <a:solidFill>
              <a:srgbClr val="2F3D47"/>
            </a:solidFill>
          </p:spPr>
        </p:sp>
        <p:sp>
          <p:nvSpPr>
            <p:cNvPr name="TextBox 16" id="16"/>
            <p:cNvSpPr txBox="true"/>
            <p:nvPr/>
          </p:nvSpPr>
          <p:spPr>
            <a:xfrm>
              <a:off x="0" y="-38100"/>
              <a:ext cx="1214971" cy="444500"/>
            </a:xfrm>
            <a:prstGeom prst="rect">
              <a:avLst/>
            </a:prstGeom>
          </p:spPr>
          <p:txBody>
            <a:bodyPr anchor="ctr" rtlCol="false" tIns="50800" lIns="50800" bIns="50800" rIns="50800"/>
            <a:lstStyle/>
            <a:p>
              <a:pPr algn="ctr" marL="0" indent="0" lvl="0">
                <a:lnSpc>
                  <a:spcPts val="2659"/>
                </a:lnSpc>
              </a:pPr>
            </a:p>
          </p:txBody>
        </p:sp>
      </p:grpSp>
      <p:grpSp>
        <p:nvGrpSpPr>
          <p:cNvPr name="Group 17" id="17"/>
          <p:cNvGrpSpPr/>
          <p:nvPr/>
        </p:nvGrpSpPr>
        <p:grpSpPr>
          <a:xfrm rot="0">
            <a:off x="13296272" y="5735667"/>
            <a:ext cx="3963028" cy="1325608"/>
            <a:chOff x="0" y="0"/>
            <a:chExt cx="1214971" cy="406400"/>
          </a:xfrm>
        </p:grpSpPr>
        <p:sp>
          <p:nvSpPr>
            <p:cNvPr name="Freeform 18" id="18"/>
            <p:cNvSpPr/>
            <p:nvPr/>
          </p:nvSpPr>
          <p:spPr>
            <a:xfrm flipH="false" flipV="false" rot="0">
              <a:off x="0" y="0"/>
              <a:ext cx="1214971" cy="406400"/>
            </a:xfrm>
            <a:custGeom>
              <a:avLst/>
              <a:gdLst/>
              <a:ahLst/>
              <a:cxnLst/>
              <a:rect r="r" b="b" t="t" l="l"/>
              <a:pathLst>
                <a:path h="406400" w="1214971">
                  <a:moveTo>
                    <a:pt x="1011771" y="0"/>
                  </a:moveTo>
                  <a:cubicBezTo>
                    <a:pt x="1123995" y="0"/>
                    <a:pt x="1214971" y="90976"/>
                    <a:pt x="1214971" y="203200"/>
                  </a:cubicBezTo>
                  <a:cubicBezTo>
                    <a:pt x="1214971" y="315424"/>
                    <a:pt x="1123995" y="406400"/>
                    <a:pt x="1011771" y="406400"/>
                  </a:cubicBezTo>
                  <a:lnTo>
                    <a:pt x="203200" y="406400"/>
                  </a:lnTo>
                  <a:cubicBezTo>
                    <a:pt x="90976" y="406400"/>
                    <a:pt x="0" y="315424"/>
                    <a:pt x="0" y="203200"/>
                  </a:cubicBezTo>
                  <a:cubicBezTo>
                    <a:pt x="0" y="90976"/>
                    <a:pt x="90976" y="0"/>
                    <a:pt x="203200" y="0"/>
                  </a:cubicBezTo>
                  <a:close/>
                </a:path>
              </a:pathLst>
            </a:custGeom>
            <a:solidFill>
              <a:srgbClr val="2F3D47"/>
            </a:solidFill>
          </p:spPr>
        </p:sp>
        <p:sp>
          <p:nvSpPr>
            <p:cNvPr name="TextBox 19" id="19"/>
            <p:cNvSpPr txBox="true"/>
            <p:nvPr/>
          </p:nvSpPr>
          <p:spPr>
            <a:xfrm>
              <a:off x="0" y="-38100"/>
              <a:ext cx="1214971" cy="444500"/>
            </a:xfrm>
            <a:prstGeom prst="rect">
              <a:avLst/>
            </a:prstGeom>
          </p:spPr>
          <p:txBody>
            <a:bodyPr anchor="ctr" rtlCol="false" tIns="50800" lIns="50800" bIns="50800" rIns="50800"/>
            <a:lstStyle/>
            <a:p>
              <a:pPr algn="ctr" marL="0" indent="0" lvl="0">
                <a:lnSpc>
                  <a:spcPts val="2659"/>
                </a:lnSpc>
              </a:pPr>
            </a:p>
          </p:txBody>
        </p:sp>
      </p:grpSp>
      <p:grpSp>
        <p:nvGrpSpPr>
          <p:cNvPr name="Group 20" id="20"/>
          <p:cNvGrpSpPr/>
          <p:nvPr/>
        </p:nvGrpSpPr>
        <p:grpSpPr>
          <a:xfrm rot="0">
            <a:off x="13296272" y="7375600"/>
            <a:ext cx="3963028" cy="1325608"/>
            <a:chOff x="0" y="0"/>
            <a:chExt cx="1214971" cy="406400"/>
          </a:xfrm>
        </p:grpSpPr>
        <p:sp>
          <p:nvSpPr>
            <p:cNvPr name="Freeform 21" id="21"/>
            <p:cNvSpPr/>
            <p:nvPr/>
          </p:nvSpPr>
          <p:spPr>
            <a:xfrm flipH="false" flipV="false" rot="0">
              <a:off x="0" y="0"/>
              <a:ext cx="1214971" cy="406400"/>
            </a:xfrm>
            <a:custGeom>
              <a:avLst/>
              <a:gdLst/>
              <a:ahLst/>
              <a:cxnLst/>
              <a:rect r="r" b="b" t="t" l="l"/>
              <a:pathLst>
                <a:path h="406400" w="1214971">
                  <a:moveTo>
                    <a:pt x="1011771" y="0"/>
                  </a:moveTo>
                  <a:cubicBezTo>
                    <a:pt x="1123995" y="0"/>
                    <a:pt x="1214971" y="90976"/>
                    <a:pt x="1214971" y="203200"/>
                  </a:cubicBezTo>
                  <a:cubicBezTo>
                    <a:pt x="1214971" y="315424"/>
                    <a:pt x="1123995" y="406400"/>
                    <a:pt x="101177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F6C25">
                    <a:alpha val="100000"/>
                  </a:srgbClr>
                </a:gs>
                <a:gs pos="100000">
                  <a:srgbClr val="F89C22">
                    <a:alpha val="100000"/>
                  </a:srgbClr>
                </a:gs>
              </a:gsLst>
              <a:lin ang="0"/>
            </a:gradFill>
          </p:spPr>
        </p:sp>
        <p:sp>
          <p:nvSpPr>
            <p:cNvPr name="TextBox 22" id="22"/>
            <p:cNvSpPr txBox="true"/>
            <p:nvPr/>
          </p:nvSpPr>
          <p:spPr>
            <a:xfrm>
              <a:off x="0" y="-38100"/>
              <a:ext cx="1214971" cy="444500"/>
            </a:xfrm>
            <a:prstGeom prst="rect">
              <a:avLst/>
            </a:prstGeom>
          </p:spPr>
          <p:txBody>
            <a:bodyPr anchor="ctr" rtlCol="false" tIns="50800" lIns="50800" bIns="50800" rIns="50800"/>
            <a:lstStyle/>
            <a:p>
              <a:pPr algn="ctr" marL="0" indent="0" lvl="0">
                <a:lnSpc>
                  <a:spcPts val="2659"/>
                </a:lnSpc>
              </a:pPr>
            </a:p>
          </p:txBody>
        </p:sp>
      </p:grpSp>
      <p:sp>
        <p:nvSpPr>
          <p:cNvPr name="TextBox 23" id="23"/>
          <p:cNvSpPr txBox="true"/>
          <p:nvPr/>
        </p:nvSpPr>
        <p:spPr>
          <a:xfrm rot="0">
            <a:off x="9788821" y="5971204"/>
            <a:ext cx="2673386" cy="782570"/>
          </a:xfrm>
          <a:prstGeom prst="rect">
            <a:avLst/>
          </a:prstGeom>
        </p:spPr>
        <p:txBody>
          <a:bodyPr anchor="t" rtlCol="false" tIns="0" lIns="0" bIns="0" rIns="0">
            <a:spAutoFit/>
          </a:bodyPr>
          <a:lstStyle/>
          <a:p>
            <a:pPr algn="ctr" marL="0" indent="0" lvl="0">
              <a:lnSpc>
                <a:spcPts val="3077"/>
              </a:lnSpc>
            </a:pPr>
            <a:r>
              <a:rPr lang="en-US" b="true" sz="2699" spc="-113">
                <a:solidFill>
                  <a:srgbClr val="000000"/>
                </a:solidFill>
                <a:latin typeface="Arial Unicode Bold"/>
                <a:ea typeface="Arial Unicode Bold"/>
                <a:cs typeface="Arial Unicode Bold"/>
                <a:sym typeface="Arial Unicode Bold"/>
              </a:rPr>
              <a:t>Data Scope</a:t>
            </a:r>
          </a:p>
          <a:p>
            <a:pPr algn="ctr" marL="0" indent="0" lvl="0">
              <a:lnSpc>
                <a:spcPts val="3077"/>
              </a:lnSpc>
            </a:pPr>
            <a:r>
              <a:rPr lang="en-US" b="true" sz="2699" spc="-113">
                <a:solidFill>
                  <a:srgbClr val="000000"/>
                </a:solidFill>
                <a:latin typeface="Arial Unicode Bold"/>
                <a:ea typeface="Arial Unicode Bold"/>
                <a:cs typeface="Arial Unicode Bold"/>
                <a:sym typeface="Arial Unicode Bold"/>
              </a:rPr>
              <a:t>Decision</a:t>
            </a:r>
          </a:p>
        </p:txBody>
      </p:sp>
      <p:sp>
        <p:nvSpPr>
          <p:cNvPr name="TextBox 24" id="24"/>
          <p:cNvSpPr txBox="true"/>
          <p:nvPr/>
        </p:nvSpPr>
        <p:spPr>
          <a:xfrm rot="0">
            <a:off x="9975918" y="7611137"/>
            <a:ext cx="2299192" cy="782570"/>
          </a:xfrm>
          <a:prstGeom prst="rect">
            <a:avLst/>
          </a:prstGeom>
        </p:spPr>
        <p:txBody>
          <a:bodyPr anchor="t" rtlCol="false" tIns="0" lIns="0" bIns="0" rIns="0">
            <a:spAutoFit/>
          </a:bodyPr>
          <a:lstStyle/>
          <a:p>
            <a:pPr algn="ctr" marL="0" indent="0" lvl="0">
              <a:lnSpc>
                <a:spcPts val="3077"/>
              </a:lnSpc>
            </a:pPr>
            <a:r>
              <a:rPr lang="en-US" b="true" sz="2699" spc="-113">
                <a:solidFill>
                  <a:srgbClr val="FFFFFF"/>
                </a:solidFill>
                <a:latin typeface="Arial Unicode Bold"/>
                <a:ea typeface="Arial Unicode Bold"/>
                <a:cs typeface="Arial Unicode Bold"/>
                <a:sym typeface="Arial Unicode Bold"/>
              </a:rPr>
              <a:t>Reference Data</a:t>
            </a:r>
          </a:p>
          <a:p>
            <a:pPr algn="ctr" marL="0" indent="0" lvl="0">
              <a:lnSpc>
                <a:spcPts val="3077"/>
              </a:lnSpc>
            </a:pPr>
            <a:r>
              <a:rPr lang="en-US" b="true" sz="2699" spc="-113">
                <a:solidFill>
                  <a:srgbClr val="FFFFFF"/>
                </a:solidFill>
                <a:latin typeface="Arial Unicode Bold"/>
                <a:ea typeface="Arial Unicode Bold"/>
                <a:cs typeface="Arial Unicode Bold"/>
                <a:sym typeface="Arial Unicode Bold"/>
              </a:rPr>
              <a:t>Strategy</a:t>
            </a:r>
          </a:p>
        </p:txBody>
      </p:sp>
      <p:sp>
        <p:nvSpPr>
          <p:cNvPr name="TextBox 25" id="25"/>
          <p:cNvSpPr txBox="true"/>
          <p:nvPr/>
        </p:nvSpPr>
        <p:spPr>
          <a:xfrm rot="0">
            <a:off x="13979235" y="5971204"/>
            <a:ext cx="2597102" cy="782570"/>
          </a:xfrm>
          <a:prstGeom prst="rect">
            <a:avLst/>
          </a:prstGeom>
        </p:spPr>
        <p:txBody>
          <a:bodyPr anchor="t" rtlCol="false" tIns="0" lIns="0" bIns="0" rIns="0">
            <a:spAutoFit/>
          </a:bodyPr>
          <a:lstStyle/>
          <a:p>
            <a:pPr algn="ctr" marL="0" indent="0" lvl="0">
              <a:lnSpc>
                <a:spcPts val="3077"/>
              </a:lnSpc>
            </a:pPr>
            <a:r>
              <a:rPr lang="en-US" b="true" sz="2699" spc="-113">
                <a:solidFill>
                  <a:srgbClr val="FFFFFF"/>
                </a:solidFill>
                <a:latin typeface="Arial Unicode Bold"/>
                <a:ea typeface="Arial Unicode Bold"/>
                <a:cs typeface="Arial Unicode Bold"/>
                <a:sym typeface="Arial Unicode Bold"/>
              </a:rPr>
              <a:t>Transaction</a:t>
            </a:r>
          </a:p>
          <a:p>
            <a:pPr algn="ctr" marL="0" indent="0" lvl="0">
              <a:lnSpc>
                <a:spcPts val="3077"/>
              </a:lnSpc>
            </a:pPr>
            <a:r>
              <a:rPr lang="en-US" b="true" sz="2699" spc="-113">
                <a:solidFill>
                  <a:srgbClr val="FFFFFF"/>
                </a:solidFill>
                <a:latin typeface="Arial Unicode Bold"/>
                <a:ea typeface="Arial Unicode Bold"/>
                <a:cs typeface="Arial Unicode Bold"/>
                <a:sym typeface="Arial Unicode Bold"/>
              </a:rPr>
              <a:t>Consolidation</a:t>
            </a:r>
          </a:p>
        </p:txBody>
      </p:sp>
      <p:sp>
        <p:nvSpPr>
          <p:cNvPr name="TextBox 26" id="26"/>
          <p:cNvSpPr txBox="true"/>
          <p:nvPr/>
        </p:nvSpPr>
        <p:spPr>
          <a:xfrm rot="0">
            <a:off x="13979235" y="7611137"/>
            <a:ext cx="2597102" cy="782570"/>
          </a:xfrm>
          <a:prstGeom prst="rect">
            <a:avLst/>
          </a:prstGeom>
        </p:spPr>
        <p:txBody>
          <a:bodyPr anchor="t" rtlCol="false" tIns="0" lIns="0" bIns="0" rIns="0">
            <a:spAutoFit/>
          </a:bodyPr>
          <a:lstStyle/>
          <a:p>
            <a:pPr algn="ctr" marL="0" indent="0" lvl="0">
              <a:lnSpc>
                <a:spcPts val="3077"/>
              </a:lnSpc>
            </a:pPr>
            <a:r>
              <a:rPr lang="en-US" b="true" sz="2699" spc="-113">
                <a:solidFill>
                  <a:srgbClr val="000000"/>
                </a:solidFill>
                <a:latin typeface="Arial Unicode Bold"/>
                <a:ea typeface="Arial Unicode Bold"/>
                <a:cs typeface="Arial Unicode Bold"/>
                <a:sym typeface="Arial Unicode Bold"/>
              </a:rPr>
              <a:t>Integration</a:t>
            </a:r>
          </a:p>
          <a:p>
            <a:pPr algn="ctr" marL="0" indent="0" lvl="0">
              <a:lnSpc>
                <a:spcPts val="3077"/>
              </a:lnSpc>
            </a:pPr>
            <a:r>
              <a:rPr lang="en-US" b="true" sz="2699" spc="-113">
                <a:solidFill>
                  <a:srgbClr val="000000"/>
                </a:solidFill>
                <a:latin typeface="Arial Unicode Bold"/>
                <a:ea typeface="Arial Unicode Bold"/>
                <a:cs typeface="Arial Unicode Bold"/>
                <a:sym typeface="Arial Unicode Bold"/>
              </a:rPr>
              <a:t>Timeline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345479" y="5192036"/>
            <a:ext cx="31045746" cy="5574178"/>
          </a:xfrm>
          <a:custGeom>
            <a:avLst/>
            <a:gdLst/>
            <a:ahLst/>
            <a:cxnLst/>
            <a:rect r="r" b="b" t="t" l="l"/>
            <a:pathLst>
              <a:path h="5574178" w="31045746">
                <a:moveTo>
                  <a:pt x="0" y="0"/>
                </a:moveTo>
                <a:lnTo>
                  <a:pt x="31045746" y="0"/>
                </a:lnTo>
                <a:lnTo>
                  <a:pt x="31045746" y="5574178"/>
                </a:lnTo>
                <a:lnTo>
                  <a:pt x="0" y="5574178"/>
                </a:lnTo>
                <a:lnTo>
                  <a:pt x="0"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172950" y="7091389"/>
            <a:ext cx="2587317" cy="2715695"/>
          </a:xfrm>
          <a:custGeom>
            <a:avLst/>
            <a:gdLst/>
            <a:ahLst/>
            <a:cxnLst/>
            <a:rect r="r" b="b" t="t" l="l"/>
            <a:pathLst>
              <a:path h="2715695" w="2587317">
                <a:moveTo>
                  <a:pt x="0" y="0"/>
                </a:moveTo>
                <a:lnTo>
                  <a:pt x="2587317" y="0"/>
                </a:lnTo>
                <a:lnTo>
                  <a:pt x="2587317" y="2715695"/>
                </a:lnTo>
                <a:lnTo>
                  <a:pt x="0" y="2715695"/>
                </a:lnTo>
                <a:lnTo>
                  <a:pt x="0" y="0"/>
                </a:lnTo>
                <a:close/>
              </a:path>
            </a:pathLst>
          </a:custGeom>
          <a:blipFill>
            <a:blip r:embed="rId4">
              <a:alphaModFix amt="28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74553">
            <a:off x="-2850713" y="-2627802"/>
            <a:ext cx="10935162" cy="16994145"/>
          </a:xfrm>
          <a:custGeom>
            <a:avLst/>
            <a:gdLst/>
            <a:ahLst/>
            <a:cxnLst/>
            <a:rect r="r" b="b" t="t" l="l"/>
            <a:pathLst>
              <a:path h="16994145" w="10935162">
                <a:moveTo>
                  <a:pt x="0" y="0"/>
                </a:moveTo>
                <a:lnTo>
                  <a:pt x="10935163" y="0"/>
                </a:lnTo>
                <a:lnTo>
                  <a:pt x="10935163" y="16994146"/>
                </a:lnTo>
                <a:lnTo>
                  <a:pt x="0" y="16994146"/>
                </a:lnTo>
                <a:lnTo>
                  <a:pt x="0" y="0"/>
                </a:lnTo>
                <a:close/>
              </a:path>
            </a:pathLst>
          </a:custGeom>
          <a:blipFill>
            <a:blip r:embed="rId6"/>
            <a:stretch>
              <a:fillRect l="0" t="-46772" r="-34767" b="0"/>
            </a:stretch>
          </a:blipFill>
        </p:spPr>
      </p:sp>
      <p:sp>
        <p:nvSpPr>
          <p:cNvPr name="Freeform 5" id="5"/>
          <p:cNvSpPr/>
          <p:nvPr/>
        </p:nvSpPr>
        <p:spPr>
          <a:xfrm flipH="false" flipV="false" rot="0">
            <a:off x="5469266" y="788299"/>
            <a:ext cx="3242997" cy="3403909"/>
          </a:xfrm>
          <a:custGeom>
            <a:avLst/>
            <a:gdLst/>
            <a:ahLst/>
            <a:cxnLst/>
            <a:rect r="r" b="b" t="t" l="l"/>
            <a:pathLst>
              <a:path h="3403909" w="3242997">
                <a:moveTo>
                  <a:pt x="0" y="0"/>
                </a:moveTo>
                <a:lnTo>
                  <a:pt x="3242997" y="0"/>
                </a:lnTo>
                <a:lnTo>
                  <a:pt x="3242997" y="3403910"/>
                </a:lnTo>
                <a:lnTo>
                  <a:pt x="0" y="3403910"/>
                </a:lnTo>
                <a:lnTo>
                  <a:pt x="0" y="0"/>
                </a:lnTo>
                <a:close/>
              </a:path>
            </a:pathLst>
          </a:custGeom>
          <a:blipFill>
            <a:blip r:embed="rId4">
              <a:alphaModFix amt="28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true" rot="2506068">
            <a:off x="-667528" y="-4359305"/>
            <a:ext cx="6126527" cy="9521129"/>
          </a:xfrm>
          <a:custGeom>
            <a:avLst/>
            <a:gdLst/>
            <a:ahLst/>
            <a:cxnLst/>
            <a:rect r="r" b="b" t="t" l="l"/>
            <a:pathLst>
              <a:path h="9521129" w="6126527">
                <a:moveTo>
                  <a:pt x="0" y="9521128"/>
                </a:moveTo>
                <a:lnTo>
                  <a:pt x="6126527" y="9521128"/>
                </a:lnTo>
                <a:lnTo>
                  <a:pt x="6126527" y="0"/>
                </a:lnTo>
                <a:lnTo>
                  <a:pt x="0" y="0"/>
                </a:lnTo>
                <a:lnTo>
                  <a:pt x="0" y="9521128"/>
                </a:lnTo>
                <a:close/>
              </a:path>
            </a:pathLst>
          </a:custGeom>
          <a:blipFill>
            <a:blip r:embed="rId6"/>
            <a:stretch>
              <a:fillRect l="0" t="-46772" r="-34767" b="0"/>
            </a:stretch>
          </a:blipFill>
        </p:spPr>
      </p:sp>
      <p:sp>
        <p:nvSpPr>
          <p:cNvPr name="Freeform 7" id="7"/>
          <p:cNvSpPr/>
          <p:nvPr/>
        </p:nvSpPr>
        <p:spPr>
          <a:xfrm flipH="false" flipV="false" rot="0">
            <a:off x="-495368" y="1028700"/>
            <a:ext cx="8496974" cy="8481525"/>
          </a:xfrm>
          <a:custGeom>
            <a:avLst/>
            <a:gdLst/>
            <a:ahLst/>
            <a:cxnLst/>
            <a:rect r="r" b="b" t="t" l="l"/>
            <a:pathLst>
              <a:path h="8481525" w="8496974">
                <a:moveTo>
                  <a:pt x="0" y="0"/>
                </a:moveTo>
                <a:lnTo>
                  <a:pt x="8496974" y="0"/>
                </a:lnTo>
                <a:lnTo>
                  <a:pt x="8496974" y="8481525"/>
                </a:lnTo>
                <a:lnTo>
                  <a:pt x="0" y="8481525"/>
                </a:lnTo>
                <a:lnTo>
                  <a:pt x="0" y="0"/>
                </a:lnTo>
                <a:close/>
              </a:path>
            </a:pathLst>
          </a:custGeom>
          <a:blipFill>
            <a:blip r:embed="rId7"/>
            <a:stretch>
              <a:fillRect l="0" t="0" r="0" b="0"/>
            </a:stretch>
          </a:blipFill>
        </p:spPr>
      </p:sp>
      <p:grpSp>
        <p:nvGrpSpPr>
          <p:cNvPr name="Group 8" id="8"/>
          <p:cNvGrpSpPr/>
          <p:nvPr/>
        </p:nvGrpSpPr>
        <p:grpSpPr>
          <a:xfrm rot="0">
            <a:off x="110739" y="1549656"/>
            <a:ext cx="7284760" cy="728476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68B23">
                    <a:alpha val="100000"/>
                  </a:srgbClr>
                </a:gs>
                <a:gs pos="50000">
                  <a:srgbClr val="FBA911">
                    <a:alpha val="100000"/>
                  </a:srgbClr>
                </a:gs>
                <a:gs pos="100000">
                  <a:srgbClr val="FFD950">
                    <a:alpha val="100000"/>
                  </a:srgbClr>
                </a:gs>
              </a:gsLst>
              <a:lin ang="0"/>
            </a:gra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5400000">
            <a:off x="415473" y="1854391"/>
            <a:ext cx="6675291" cy="667529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68B23">
                    <a:alpha val="100000"/>
                  </a:srgbClr>
                </a:gs>
                <a:gs pos="50000">
                  <a:srgbClr val="FBA911">
                    <a:alpha val="100000"/>
                  </a:srgbClr>
                </a:gs>
                <a:gs pos="100000">
                  <a:srgbClr val="FFD950">
                    <a:alpha val="100000"/>
                  </a:srgbClr>
                </a:gs>
              </a:gsLst>
              <a:lin ang="0"/>
            </a:gra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4" id="14"/>
          <p:cNvGrpSpPr/>
          <p:nvPr/>
        </p:nvGrpSpPr>
        <p:grpSpPr>
          <a:xfrm rot="0">
            <a:off x="661303" y="2100220"/>
            <a:ext cx="6183633" cy="6183633"/>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l="0" t="0" r="0" b="0"/>
              </a:stretch>
            </a:blipFill>
          </p:spPr>
        </p:sp>
      </p:grpSp>
      <p:sp>
        <p:nvSpPr>
          <p:cNvPr name="Freeform 16" id="16"/>
          <p:cNvSpPr/>
          <p:nvPr/>
        </p:nvSpPr>
        <p:spPr>
          <a:xfrm flipH="false" flipV="false" rot="0">
            <a:off x="4146975" y="5642256"/>
            <a:ext cx="4423171" cy="4415129"/>
          </a:xfrm>
          <a:custGeom>
            <a:avLst/>
            <a:gdLst/>
            <a:ahLst/>
            <a:cxnLst/>
            <a:rect r="r" b="b" t="t" l="l"/>
            <a:pathLst>
              <a:path h="4415129" w="4423171">
                <a:moveTo>
                  <a:pt x="0" y="0"/>
                </a:moveTo>
                <a:lnTo>
                  <a:pt x="4423171" y="0"/>
                </a:lnTo>
                <a:lnTo>
                  <a:pt x="4423171" y="4415129"/>
                </a:lnTo>
                <a:lnTo>
                  <a:pt x="0" y="4415129"/>
                </a:lnTo>
                <a:lnTo>
                  <a:pt x="0" y="0"/>
                </a:lnTo>
                <a:close/>
              </a:path>
            </a:pathLst>
          </a:custGeom>
          <a:blipFill>
            <a:blip r:embed="rId7"/>
            <a:stretch>
              <a:fillRect l="0" t="0" r="0" b="0"/>
            </a:stretch>
          </a:blipFill>
        </p:spPr>
      </p:sp>
      <p:grpSp>
        <p:nvGrpSpPr>
          <p:cNvPr name="Group 17" id="17"/>
          <p:cNvGrpSpPr/>
          <p:nvPr/>
        </p:nvGrpSpPr>
        <p:grpSpPr>
          <a:xfrm rot="0">
            <a:off x="4510442" y="5962416"/>
            <a:ext cx="3696238" cy="3696238"/>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68B23">
                    <a:alpha val="100000"/>
                  </a:srgbClr>
                </a:gs>
                <a:gs pos="50000">
                  <a:srgbClr val="FBA911">
                    <a:alpha val="100000"/>
                  </a:srgbClr>
                </a:gs>
                <a:gs pos="100000">
                  <a:srgbClr val="FFD950">
                    <a:alpha val="100000"/>
                  </a:srgbClr>
                </a:gs>
              </a:gsLst>
              <a:lin ang="0"/>
            </a:gra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0" id="20"/>
          <p:cNvGrpSpPr/>
          <p:nvPr/>
        </p:nvGrpSpPr>
        <p:grpSpPr>
          <a:xfrm rot="5400000">
            <a:off x="4665062" y="6117037"/>
            <a:ext cx="3386997" cy="3386997"/>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68B23">
                    <a:alpha val="100000"/>
                  </a:srgbClr>
                </a:gs>
                <a:gs pos="50000">
                  <a:srgbClr val="FBA911">
                    <a:alpha val="100000"/>
                  </a:srgbClr>
                </a:gs>
                <a:gs pos="100000">
                  <a:srgbClr val="FFD950">
                    <a:alpha val="100000"/>
                  </a:srgbClr>
                </a:gs>
              </a:gsLst>
              <a:lin ang="0"/>
            </a:gra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3" id="23"/>
          <p:cNvGrpSpPr/>
          <p:nvPr/>
        </p:nvGrpSpPr>
        <p:grpSpPr>
          <a:xfrm rot="0">
            <a:off x="4789794" y="6241769"/>
            <a:ext cx="3137533" cy="3137533"/>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9"/>
              <a:stretch>
                <a:fillRect l="0" t="0" r="0" b="0"/>
              </a:stretch>
            </a:blipFill>
          </p:spPr>
        </p:sp>
      </p:grpSp>
      <p:sp>
        <p:nvSpPr>
          <p:cNvPr name="Freeform 25" id="25"/>
          <p:cNvSpPr/>
          <p:nvPr/>
        </p:nvSpPr>
        <p:spPr>
          <a:xfrm flipH="false" flipV="false" rot="0">
            <a:off x="16627134" y="1028700"/>
            <a:ext cx="632166" cy="589878"/>
          </a:xfrm>
          <a:custGeom>
            <a:avLst/>
            <a:gdLst/>
            <a:ahLst/>
            <a:cxnLst/>
            <a:rect r="r" b="b" t="t" l="l"/>
            <a:pathLst>
              <a:path h="589878" w="632166">
                <a:moveTo>
                  <a:pt x="0" y="0"/>
                </a:moveTo>
                <a:lnTo>
                  <a:pt x="632166" y="0"/>
                </a:lnTo>
                <a:lnTo>
                  <a:pt x="632166" y="589878"/>
                </a:lnTo>
                <a:lnTo>
                  <a:pt x="0" y="58987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6" id="26"/>
          <p:cNvGrpSpPr/>
          <p:nvPr/>
        </p:nvGrpSpPr>
        <p:grpSpPr>
          <a:xfrm rot="0">
            <a:off x="12177627" y="8450263"/>
            <a:ext cx="8899014" cy="808037"/>
            <a:chOff x="0" y="0"/>
            <a:chExt cx="4475736" cy="406400"/>
          </a:xfrm>
        </p:grpSpPr>
        <p:sp>
          <p:nvSpPr>
            <p:cNvPr name="Freeform 27" id="27"/>
            <p:cNvSpPr/>
            <p:nvPr/>
          </p:nvSpPr>
          <p:spPr>
            <a:xfrm flipH="false" flipV="false" rot="0">
              <a:off x="0" y="0"/>
              <a:ext cx="4475736" cy="406400"/>
            </a:xfrm>
            <a:custGeom>
              <a:avLst/>
              <a:gdLst/>
              <a:ahLst/>
              <a:cxnLst/>
              <a:rect r="r" b="b" t="t" l="l"/>
              <a:pathLst>
                <a:path h="406400" w="4475736">
                  <a:moveTo>
                    <a:pt x="4272536" y="0"/>
                  </a:moveTo>
                  <a:cubicBezTo>
                    <a:pt x="4384760" y="0"/>
                    <a:pt x="4475736" y="90976"/>
                    <a:pt x="4475736" y="203200"/>
                  </a:cubicBezTo>
                  <a:cubicBezTo>
                    <a:pt x="4475736" y="315424"/>
                    <a:pt x="4384760" y="406400"/>
                    <a:pt x="4272536"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68B23">
                    <a:alpha val="100000"/>
                  </a:srgbClr>
                </a:gs>
                <a:gs pos="50000">
                  <a:srgbClr val="FBA911">
                    <a:alpha val="100000"/>
                  </a:srgbClr>
                </a:gs>
                <a:gs pos="100000">
                  <a:srgbClr val="FFD950">
                    <a:alpha val="100000"/>
                  </a:srgbClr>
                </a:gs>
              </a:gsLst>
              <a:lin ang="0"/>
            </a:gradFill>
          </p:spPr>
        </p:sp>
        <p:sp>
          <p:nvSpPr>
            <p:cNvPr name="TextBox 28" id="28"/>
            <p:cNvSpPr txBox="true"/>
            <p:nvPr/>
          </p:nvSpPr>
          <p:spPr>
            <a:xfrm>
              <a:off x="0" y="-38100"/>
              <a:ext cx="4475736" cy="444500"/>
            </a:xfrm>
            <a:prstGeom prst="rect">
              <a:avLst/>
            </a:prstGeom>
          </p:spPr>
          <p:txBody>
            <a:bodyPr anchor="ctr" rtlCol="false" tIns="50800" lIns="50800" bIns="50800" rIns="50800"/>
            <a:lstStyle/>
            <a:p>
              <a:pPr algn="ctr" marL="0" indent="0" lvl="0">
                <a:lnSpc>
                  <a:spcPts val="2659"/>
                </a:lnSpc>
              </a:pPr>
            </a:p>
          </p:txBody>
        </p:sp>
      </p:grpSp>
      <p:sp>
        <p:nvSpPr>
          <p:cNvPr name="Freeform 29" id="29"/>
          <p:cNvSpPr/>
          <p:nvPr/>
        </p:nvSpPr>
        <p:spPr>
          <a:xfrm flipH="false" flipV="false" rot="0">
            <a:off x="16722203" y="8565868"/>
            <a:ext cx="537097" cy="537097"/>
          </a:xfrm>
          <a:custGeom>
            <a:avLst/>
            <a:gdLst/>
            <a:ahLst/>
            <a:cxnLst/>
            <a:rect r="r" b="b" t="t" l="l"/>
            <a:pathLst>
              <a:path h="537097" w="537097">
                <a:moveTo>
                  <a:pt x="0" y="0"/>
                </a:moveTo>
                <a:lnTo>
                  <a:pt x="537097" y="0"/>
                </a:lnTo>
                <a:lnTo>
                  <a:pt x="537097" y="537097"/>
                </a:lnTo>
                <a:lnTo>
                  <a:pt x="0" y="53709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0" id="30"/>
          <p:cNvSpPr/>
          <p:nvPr/>
        </p:nvSpPr>
        <p:spPr>
          <a:xfrm flipH="false" flipV="false" rot="0">
            <a:off x="9741586" y="7091389"/>
            <a:ext cx="717894" cy="719146"/>
          </a:xfrm>
          <a:custGeom>
            <a:avLst/>
            <a:gdLst/>
            <a:ahLst/>
            <a:cxnLst/>
            <a:rect r="r" b="b" t="t" l="l"/>
            <a:pathLst>
              <a:path h="719146" w="717894">
                <a:moveTo>
                  <a:pt x="0" y="0"/>
                </a:moveTo>
                <a:lnTo>
                  <a:pt x="717894" y="0"/>
                </a:lnTo>
                <a:lnTo>
                  <a:pt x="717894" y="719146"/>
                </a:lnTo>
                <a:lnTo>
                  <a:pt x="0" y="719146"/>
                </a:lnTo>
                <a:lnTo>
                  <a:pt x="0" y="0"/>
                </a:lnTo>
                <a:close/>
              </a:path>
            </a:pathLst>
          </a:custGeom>
          <a:blipFill>
            <a:blip r:embed="rId14">
              <a:extLst>
                <a:ext uri="{96DAC541-7B7A-43D3-8B79-37D633B846F1}">
                  <asvg:svgBlip xmlns:asvg="http://schemas.microsoft.com/office/drawing/2016/SVG/main" r:embed="rId15"/>
                </a:ext>
              </a:extLst>
            </a:blip>
            <a:stretch>
              <a:fillRect l="0" t="0" r="-109190" b="-110355"/>
            </a:stretch>
          </a:blipFill>
        </p:spPr>
      </p:sp>
      <p:sp>
        <p:nvSpPr>
          <p:cNvPr name="TextBox 31" id="31"/>
          <p:cNvSpPr txBox="true"/>
          <p:nvPr/>
        </p:nvSpPr>
        <p:spPr>
          <a:xfrm rot="0">
            <a:off x="7210348" y="2267244"/>
            <a:ext cx="10048952" cy="3296023"/>
          </a:xfrm>
          <a:prstGeom prst="rect">
            <a:avLst/>
          </a:prstGeom>
        </p:spPr>
        <p:txBody>
          <a:bodyPr anchor="t" rtlCol="false" tIns="0" lIns="0" bIns="0" rIns="0">
            <a:spAutoFit/>
          </a:bodyPr>
          <a:lstStyle/>
          <a:p>
            <a:pPr algn="r" marL="0" indent="0" lvl="0">
              <a:lnSpc>
                <a:spcPts val="25705"/>
              </a:lnSpc>
            </a:pPr>
            <a:r>
              <a:rPr lang="en-US" b="true" sz="22548" spc="-947">
                <a:solidFill>
                  <a:srgbClr val="F45D14"/>
                </a:solidFill>
                <a:latin typeface="Arial Unicode Bold"/>
                <a:ea typeface="Arial Unicode Bold"/>
                <a:cs typeface="Arial Unicode Bold"/>
                <a:sym typeface="Arial Unicode Bold"/>
              </a:rPr>
              <a:t>THANK</a:t>
            </a:r>
          </a:p>
        </p:txBody>
      </p:sp>
      <p:sp>
        <p:nvSpPr>
          <p:cNvPr name="Freeform 32" id="32"/>
          <p:cNvSpPr/>
          <p:nvPr/>
        </p:nvSpPr>
        <p:spPr>
          <a:xfrm flipH="false" flipV="false" rot="0">
            <a:off x="9780732" y="1513576"/>
            <a:ext cx="1723909" cy="210003"/>
          </a:xfrm>
          <a:custGeom>
            <a:avLst/>
            <a:gdLst/>
            <a:ahLst/>
            <a:cxnLst/>
            <a:rect r="r" b="b" t="t" l="l"/>
            <a:pathLst>
              <a:path h="210003" w="1723909">
                <a:moveTo>
                  <a:pt x="0" y="0"/>
                </a:moveTo>
                <a:lnTo>
                  <a:pt x="1723909" y="0"/>
                </a:lnTo>
                <a:lnTo>
                  <a:pt x="1723909" y="210004"/>
                </a:lnTo>
                <a:lnTo>
                  <a:pt x="0" y="21000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33" id="33"/>
          <p:cNvSpPr txBox="true"/>
          <p:nvPr/>
        </p:nvSpPr>
        <p:spPr>
          <a:xfrm rot="0">
            <a:off x="10005372" y="4629858"/>
            <a:ext cx="7253928" cy="3296023"/>
          </a:xfrm>
          <a:prstGeom prst="rect">
            <a:avLst/>
          </a:prstGeom>
        </p:spPr>
        <p:txBody>
          <a:bodyPr anchor="t" rtlCol="false" tIns="0" lIns="0" bIns="0" rIns="0">
            <a:spAutoFit/>
          </a:bodyPr>
          <a:lstStyle/>
          <a:p>
            <a:pPr algn="r" marL="0" indent="0" lvl="0">
              <a:lnSpc>
                <a:spcPts val="25705"/>
              </a:lnSpc>
            </a:pPr>
            <a:r>
              <a:rPr lang="en-US" b="true" sz="22548" spc="-947">
                <a:solidFill>
                  <a:srgbClr val="2F3D47"/>
                </a:solidFill>
                <a:latin typeface="Arial Unicode Bold"/>
                <a:ea typeface="Arial Unicode Bold"/>
                <a:cs typeface="Arial Unicode Bold"/>
                <a:sym typeface="Arial Unicode Bold"/>
              </a:rPr>
              <a:t>YOU</a:t>
            </a:r>
          </a:p>
        </p:txBody>
      </p:sp>
      <p:sp>
        <p:nvSpPr>
          <p:cNvPr name="TextBox 34" id="34"/>
          <p:cNvSpPr txBox="true"/>
          <p:nvPr/>
        </p:nvSpPr>
        <p:spPr>
          <a:xfrm rot="0">
            <a:off x="13301502" y="1088689"/>
            <a:ext cx="3222642" cy="341362"/>
          </a:xfrm>
          <a:prstGeom prst="rect">
            <a:avLst/>
          </a:prstGeom>
        </p:spPr>
        <p:txBody>
          <a:bodyPr anchor="t" rtlCol="false" tIns="0" lIns="0" bIns="0" rIns="0">
            <a:spAutoFit/>
          </a:bodyPr>
          <a:lstStyle/>
          <a:p>
            <a:pPr algn="r" marL="0" indent="0" lvl="0">
              <a:lnSpc>
                <a:spcPts val="2709"/>
              </a:lnSpc>
              <a:spcBef>
                <a:spcPct val="0"/>
              </a:spcBef>
            </a:pPr>
            <a:r>
              <a:rPr lang="en-US" sz="1935">
                <a:solidFill>
                  <a:srgbClr val="2F3D47"/>
                </a:solidFill>
                <a:latin typeface="Open Sans"/>
                <a:ea typeface="Open Sans"/>
                <a:cs typeface="Open Sans"/>
                <a:sym typeface="Open Sans"/>
              </a:rPr>
              <a:t>BAWAG Architecture Review</a:t>
            </a:r>
          </a:p>
        </p:txBody>
      </p:sp>
      <p:sp>
        <p:nvSpPr>
          <p:cNvPr name="TextBox 35" id="35"/>
          <p:cNvSpPr txBox="true"/>
          <p:nvPr/>
        </p:nvSpPr>
        <p:spPr>
          <a:xfrm rot="0">
            <a:off x="12348263" y="8618517"/>
            <a:ext cx="4223415" cy="280670"/>
          </a:xfrm>
          <a:prstGeom prst="rect">
            <a:avLst/>
          </a:prstGeom>
        </p:spPr>
        <p:txBody>
          <a:bodyPr anchor="t" rtlCol="false" tIns="0" lIns="0" bIns="0" rIns="0">
            <a:spAutoFit/>
          </a:bodyPr>
          <a:lstStyle/>
          <a:p>
            <a:pPr algn="r" marL="0" indent="0" lvl="0">
              <a:lnSpc>
                <a:spcPts val="2379"/>
              </a:lnSpc>
              <a:spcBef>
                <a:spcPct val="0"/>
              </a:spcBef>
            </a:pPr>
            <a:r>
              <a:rPr lang="en-US" b="true" sz="1699">
                <a:solidFill>
                  <a:srgbClr val="2F3D47"/>
                </a:solidFill>
                <a:latin typeface="Open Sans Bold"/>
                <a:ea typeface="Open Sans Bold"/>
                <a:cs typeface="Open Sans Bold"/>
                <a:sym typeface="Open Sans Bold"/>
              </a:rPr>
              <a:t>Data Architecture &amp; Integration Design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DAHMLpL34Ro</dc:identifier>
  <dcterms:modified xsi:type="dcterms:W3CDTF">2011-08-01T06:04:30Z</dcterms:modified>
  <cp:revision>1</cp:revision>
  <dc:title>Work202606</dc:title>
</cp:coreProperties>
</file>