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ntique Olive" charset="1" panose="020B0603020204030204"/>
      <p:regular r:id="rId26"/>
    </p:embeddedFont>
    <p:embeddedFont>
      <p:font typeface="TT Interphases" charset="1" panose="02000503020000020004"/>
      <p:regular r:id="rId27"/>
    </p:embeddedFont>
    <p:embeddedFont>
      <p:font typeface="TT Interphases Bold" charset="1" panose="0200080306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6729" y="-570885"/>
            <a:ext cx="7754521" cy="10191135"/>
            <a:chOff x="0" y="0"/>
            <a:chExt cx="1201378" cy="15788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1378" cy="1578874"/>
            </a:xfrm>
            <a:custGeom>
              <a:avLst/>
              <a:gdLst/>
              <a:ahLst/>
              <a:cxnLst/>
              <a:rect r="r" b="b" t="t" l="l"/>
              <a:pathLst>
                <a:path h="1578874" w="1201378">
                  <a:moveTo>
                    <a:pt x="49919" y="0"/>
                  </a:moveTo>
                  <a:lnTo>
                    <a:pt x="1151459" y="0"/>
                  </a:lnTo>
                  <a:cubicBezTo>
                    <a:pt x="1164699" y="0"/>
                    <a:pt x="1177396" y="5259"/>
                    <a:pt x="1186757" y="14621"/>
                  </a:cubicBezTo>
                  <a:cubicBezTo>
                    <a:pt x="1196119" y="23982"/>
                    <a:pt x="1201378" y="36679"/>
                    <a:pt x="1201378" y="49919"/>
                  </a:cubicBezTo>
                  <a:lnTo>
                    <a:pt x="1201378" y="1528955"/>
                  </a:lnTo>
                  <a:cubicBezTo>
                    <a:pt x="1201378" y="1556524"/>
                    <a:pt x="1179029" y="1578874"/>
                    <a:pt x="1151459" y="1578874"/>
                  </a:cubicBezTo>
                  <a:lnTo>
                    <a:pt x="49919" y="1578874"/>
                  </a:lnTo>
                  <a:cubicBezTo>
                    <a:pt x="22349" y="1578874"/>
                    <a:pt x="0" y="1556524"/>
                    <a:pt x="0" y="1528955"/>
                  </a:cubicBezTo>
                  <a:lnTo>
                    <a:pt x="0" y="49919"/>
                  </a:lnTo>
                  <a:cubicBezTo>
                    <a:pt x="0" y="22349"/>
                    <a:pt x="22349" y="0"/>
                    <a:pt x="499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4" r="0" b="-22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66750" y="666750"/>
            <a:ext cx="1133475" cy="1133475"/>
          </a:xfrm>
          <a:custGeom>
            <a:avLst/>
            <a:gdLst/>
            <a:ahLst/>
            <a:cxnLst/>
            <a:rect r="r" b="b" t="t" l="l"/>
            <a:pathLst>
              <a:path h="1133475" w="1133475">
                <a:moveTo>
                  <a:pt x="0" y="0"/>
                </a:moveTo>
                <a:lnTo>
                  <a:pt x="1133475" y="0"/>
                </a:lnTo>
                <a:lnTo>
                  <a:pt x="113347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2543175"/>
            <a:ext cx="8324850" cy="258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10000" spc="-100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ETL Data Delivery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9248775"/>
            <a:ext cx="6886575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Presented by [name here]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42660"/>
            <a:ext cx="6886575" cy="2148840"/>
            <a:chOff x="0" y="0"/>
            <a:chExt cx="9182100" cy="2865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ENHANCE ENGAGEMENT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By providing tailored content through apps and SMS, banks can create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meaningful connections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with customers, fostering loyalty and enhancing overall engagement.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152650"/>
            <a:chOff x="0" y="0"/>
            <a:chExt cx="9182100" cy="2870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INCREASE REVENUE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Personalized communications not only improve customer satisfaction but also lead to increased revenue, as clients are more likely to respond to targeted offers and services.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381255"/>
            <a:chOff x="0" y="0"/>
            <a:chExt cx="22606000" cy="3175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660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Introduction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82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DELIVERING PERSONALIZED EXPERIENCES IN BANKING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6711" y="666750"/>
            <a:ext cx="10248417" cy="8967788"/>
            <a:chOff x="0" y="0"/>
            <a:chExt cx="1587748" cy="1389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748" cy="1389345"/>
            </a:xfrm>
            <a:custGeom>
              <a:avLst/>
              <a:gdLst/>
              <a:ahLst/>
              <a:cxnLst/>
              <a:rect r="r" b="b" t="t" l="l"/>
              <a:pathLst>
                <a:path h="1389345" w="1587748">
                  <a:moveTo>
                    <a:pt x="37771" y="0"/>
                  </a:moveTo>
                  <a:lnTo>
                    <a:pt x="1549977" y="0"/>
                  </a:lnTo>
                  <a:cubicBezTo>
                    <a:pt x="1570837" y="0"/>
                    <a:pt x="1587748" y="16911"/>
                    <a:pt x="1587748" y="37771"/>
                  </a:cubicBezTo>
                  <a:lnTo>
                    <a:pt x="1587748" y="1351574"/>
                  </a:lnTo>
                  <a:cubicBezTo>
                    <a:pt x="1587748" y="1361591"/>
                    <a:pt x="1583769" y="1371198"/>
                    <a:pt x="1576685" y="1378282"/>
                  </a:cubicBezTo>
                  <a:cubicBezTo>
                    <a:pt x="1569602" y="1385366"/>
                    <a:pt x="1559994" y="1389345"/>
                    <a:pt x="1549977" y="1389345"/>
                  </a:cubicBezTo>
                  <a:lnTo>
                    <a:pt x="37771" y="1389345"/>
                  </a:lnTo>
                  <a:cubicBezTo>
                    <a:pt x="16911" y="1389345"/>
                    <a:pt x="0" y="1372434"/>
                    <a:pt x="0" y="1351574"/>
                  </a:cubicBezTo>
                  <a:lnTo>
                    <a:pt x="0" y="37771"/>
                  </a:lnTo>
                  <a:cubicBezTo>
                    <a:pt x="0" y="16911"/>
                    <a:pt x="16911" y="0"/>
                    <a:pt x="377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2543175"/>
            <a:ext cx="6886575" cy="37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10000" spc="-100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Data Delivery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96400" y="15525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96400" y="423862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96400" y="6924675"/>
            <a:ext cx="113588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720027" y="1562100"/>
            <a:ext cx="6901223" cy="1314450"/>
            <a:chOff x="0" y="0"/>
            <a:chExt cx="9201631" cy="17526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APP CONTENT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Engaging users through personalized app experiences.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20027" y="4248150"/>
            <a:ext cx="6901223" cy="895350"/>
            <a:chOff x="0" y="0"/>
            <a:chExt cx="9201631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SMS CONTENT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59130"/>
              <a:ext cx="9201631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Instant updates and promotions via SMS delivery.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20027" y="6934200"/>
            <a:ext cx="6901223" cy="1314450"/>
            <a:chOff x="0" y="0"/>
            <a:chExt cx="9201631" cy="17526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9201631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TARGETED OFFERS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659130"/>
              <a:ext cx="9201631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Tailored promotions based on customer preferences.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52475"/>
            <a:ext cx="6886575" cy="37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10000" spc="-100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Data Delivery Methods</a:t>
            </a:r>
          </a:p>
        </p:txBody>
      </p:sp>
      <p:sp>
        <p:nvSpPr>
          <p:cNvPr name="AutoShape 15" id="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6400" y="666750"/>
            <a:ext cx="8324850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447925"/>
            <a:ext cx="6886575" cy="406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00"/>
              </a:lnSpc>
            </a:pPr>
            <a:r>
              <a:rPr lang="en-US" sz="10000" strike="noStrike" u="none">
                <a:solidFill>
                  <a:srgbClr val="333333"/>
                </a:solidFill>
                <a:latin typeface="Antique Olive"/>
                <a:ea typeface="Antique Olive"/>
                <a:cs typeface="Antique Olive"/>
                <a:sym typeface="Antique Olive"/>
              </a:rPr>
              <a:t>Data Security in Delivery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8886825"/>
            <a:ext cx="68865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333333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PROTECTING CUSTOMER INFORMATION EFFECTIVELY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04329" y="666750"/>
            <a:ext cx="10318877" cy="8953500"/>
            <a:chOff x="0" y="0"/>
            <a:chExt cx="1598664" cy="13871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866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598664">
                  <a:moveTo>
                    <a:pt x="37513" y="0"/>
                  </a:moveTo>
                  <a:lnTo>
                    <a:pt x="1561151" y="0"/>
                  </a:lnTo>
                  <a:cubicBezTo>
                    <a:pt x="1571100" y="0"/>
                    <a:pt x="1580642" y="3952"/>
                    <a:pt x="1587677" y="10987"/>
                  </a:cubicBezTo>
                  <a:cubicBezTo>
                    <a:pt x="1594712" y="18023"/>
                    <a:pt x="1598664" y="27564"/>
                    <a:pt x="1598664" y="37513"/>
                  </a:cubicBezTo>
                  <a:lnTo>
                    <a:pt x="1598664" y="1349618"/>
                  </a:lnTo>
                  <a:cubicBezTo>
                    <a:pt x="1598664" y="1359567"/>
                    <a:pt x="1594712" y="1369109"/>
                    <a:pt x="1587677" y="1376144"/>
                  </a:cubicBezTo>
                  <a:cubicBezTo>
                    <a:pt x="1580642" y="1383179"/>
                    <a:pt x="1571100" y="1387131"/>
                    <a:pt x="1561151" y="1387131"/>
                  </a:cubicBezTo>
                  <a:lnTo>
                    <a:pt x="37513" y="1387131"/>
                  </a:lnTo>
                  <a:cubicBezTo>
                    <a:pt x="16795" y="1387131"/>
                    <a:pt x="0" y="1370336"/>
                    <a:pt x="0" y="1349618"/>
                  </a:cubicBezTo>
                  <a:lnTo>
                    <a:pt x="0" y="37513"/>
                  </a:lnTo>
                  <a:cubicBezTo>
                    <a:pt x="0" y="27564"/>
                    <a:pt x="3952" y="18023"/>
                    <a:pt x="10987" y="10987"/>
                  </a:cubicBezTo>
                  <a:cubicBezTo>
                    <a:pt x="18023" y="3952"/>
                    <a:pt x="27564" y="0"/>
                    <a:pt x="37513" y="0"/>
                  </a:cubicBezTo>
                  <a:close/>
                </a:path>
              </a:pathLst>
            </a:custGeom>
            <a:blipFill>
              <a:blip r:embed="rId2"/>
              <a:stretch>
                <a:fillRect l="-227" t="0" r="-227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6711" y="666750"/>
            <a:ext cx="10248417" cy="8967788"/>
            <a:chOff x="0" y="0"/>
            <a:chExt cx="1587748" cy="1389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748" cy="1389345"/>
            </a:xfrm>
            <a:custGeom>
              <a:avLst/>
              <a:gdLst/>
              <a:ahLst/>
              <a:cxnLst/>
              <a:rect r="r" b="b" t="t" l="l"/>
              <a:pathLst>
                <a:path h="1389345" w="1587748">
                  <a:moveTo>
                    <a:pt x="37771" y="0"/>
                  </a:moveTo>
                  <a:lnTo>
                    <a:pt x="1549977" y="0"/>
                  </a:lnTo>
                  <a:cubicBezTo>
                    <a:pt x="1570837" y="0"/>
                    <a:pt x="1587748" y="16911"/>
                    <a:pt x="1587748" y="37771"/>
                  </a:cubicBezTo>
                  <a:lnTo>
                    <a:pt x="1587748" y="1351574"/>
                  </a:lnTo>
                  <a:cubicBezTo>
                    <a:pt x="1587748" y="1361591"/>
                    <a:pt x="1583769" y="1371198"/>
                    <a:pt x="1576685" y="1378282"/>
                  </a:cubicBezTo>
                  <a:cubicBezTo>
                    <a:pt x="1569602" y="1385366"/>
                    <a:pt x="1559994" y="1389345"/>
                    <a:pt x="1549977" y="1389345"/>
                  </a:cubicBezTo>
                  <a:lnTo>
                    <a:pt x="37771" y="1389345"/>
                  </a:lnTo>
                  <a:cubicBezTo>
                    <a:pt x="16911" y="1389345"/>
                    <a:pt x="0" y="1372434"/>
                    <a:pt x="0" y="1351574"/>
                  </a:cubicBezTo>
                  <a:lnTo>
                    <a:pt x="0" y="37771"/>
                  </a:lnTo>
                  <a:cubicBezTo>
                    <a:pt x="0" y="16911"/>
                    <a:pt x="16911" y="0"/>
                    <a:pt x="377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2543175"/>
            <a:ext cx="6886575" cy="37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sz="10000" spc="-100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ETL Process Overview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5443085"/>
            <a:chOff x="0" y="0"/>
            <a:chExt cx="844084" cy="843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648" t="0" r="-6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5143500"/>
            <a:ext cx="5448300" cy="5443085"/>
            <a:chOff x="0" y="0"/>
            <a:chExt cx="844084" cy="843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648" t="0" r="-64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5143500"/>
            <a:ext cx="5448300" cy="5443085"/>
            <a:chOff x="0" y="0"/>
            <a:chExt cx="844084" cy="8432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648" t="0" r="-64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81038"/>
            <a:ext cx="16954500" cy="3274409"/>
            <a:chOff x="0" y="0"/>
            <a:chExt cx="22606000" cy="436587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Key ETL Steps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03753"/>
              <a:ext cx="149352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EXTRACTION, TRANSFORMATION, LOADING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272408"/>
              <a:ext cx="149352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ETL processes is crucial for effective data management and ensuring </a:t>
              </a:r>
              <a:r>
                <a:rPr lang="en-US" b="true" sz="2400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seamless integration</a:t>
              </a: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of customer data across platforms.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248150"/>
            <a:ext cx="6886575" cy="2510790"/>
            <a:chOff x="0" y="0"/>
            <a:chExt cx="9182100" cy="3347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ENSURING ACCURACY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3665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Ensuring data accuracy is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crucial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for effective decision-making and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customer trust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. Regular audits and validation processes help maintain data integrity and reduce discrepancies.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4248150"/>
            <a:ext cx="6886575" cy="2929890"/>
            <a:chOff x="0" y="0"/>
            <a:chExt cx="9182100" cy="390652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MINIMIZING ERRORS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36650"/>
              <a:ext cx="91821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Implementing robust validation rules and automated checks can significantly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minimize errors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data processing, leading to enhanced operational efficiency and better customer experiences.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71525"/>
            <a:ext cx="16954500" cy="2874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79"/>
              </a:lnSpc>
              <a:spcBef>
                <a:spcPct val="0"/>
              </a:spcBef>
            </a:pPr>
            <a:r>
              <a:rPr lang="en-US" sz="11199" spc="-111" strike="noStrike" u="none">
                <a:solidFill>
                  <a:srgbClr val="FF6600"/>
                </a:solidFill>
                <a:latin typeface="Antique Olive"/>
                <a:ea typeface="Antique Olive"/>
                <a:cs typeface="Antique Olive"/>
                <a:sym typeface="Antique Olive"/>
              </a:rPr>
              <a:t>Data Quality and Validation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457450"/>
            <a:ext cx="6886575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75"/>
              </a:lnSpc>
            </a:pPr>
            <a:r>
              <a:rPr lang="en-US" sz="8175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Scalability and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8886825"/>
            <a:ext cx="68865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HIGH-CAPACITY SERVERS FOR DATA PROCESSING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04329" y="666750"/>
            <a:ext cx="10318877" cy="8953500"/>
            <a:chOff x="0" y="0"/>
            <a:chExt cx="1598664" cy="13871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866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598664">
                  <a:moveTo>
                    <a:pt x="37513" y="0"/>
                  </a:moveTo>
                  <a:lnTo>
                    <a:pt x="1561151" y="0"/>
                  </a:lnTo>
                  <a:cubicBezTo>
                    <a:pt x="1571100" y="0"/>
                    <a:pt x="1580642" y="3952"/>
                    <a:pt x="1587677" y="10987"/>
                  </a:cubicBezTo>
                  <a:cubicBezTo>
                    <a:pt x="1594712" y="18023"/>
                    <a:pt x="1598664" y="27564"/>
                    <a:pt x="1598664" y="37513"/>
                  </a:cubicBezTo>
                  <a:lnTo>
                    <a:pt x="1598664" y="1349618"/>
                  </a:lnTo>
                  <a:cubicBezTo>
                    <a:pt x="1598664" y="1359567"/>
                    <a:pt x="1594712" y="1369109"/>
                    <a:pt x="1587677" y="1376144"/>
                  </a:cubicBezTo>
                  <a:cubicBezTo>
                    <a:pt x="1580642" y="1383179"/>
                    <a:pt x="1571100" y="1387131"/>
                    <a:pt x="1561151" y="1387131"/>
                  </a:cubicBezTo>
                  <a:lnTo>
                    <a:pt x="37513" y="1387131"/>
                  </a:lnTo>
                  <a:cubicBezTo>
                    <a:pt x="16795" y="1387131"/>
                    <a:pt x="0" y="1370336"/>
                    <a:pt x="0" y="1349618"/>
                  </a:cubicBezTo>
                  <a:lnTo>
                    <a:pt x="0" y="37513"/>
                  </a:lnTo>
                  <a:cubicBezTo>
                    <a:pt x="0" y="27564"/>
                    <a:pt x="3952" y="18023"/>
                    <a:pt x="10987" y="10987"/>
                  </a:cubicBezTo>
                  <a:cubicBezTo>
                    <a:pt x="18023" y="3952"/>
                    <a:pt x="27564" y="0"/>
                    <a:pt x="37513" y="0"/>
                  </a:cubicBezTo>
                  <a:close/>
                </a:path>
              </a:pathLst>
            </a:custGeom>
            <a:blipFill>
              <a:blip r:embed="rId2"/>
              <a:stretch>
                <a:fillRect l="-227" t="0" r="-227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6711" y="666750"/>
            <a:ext cx="10248417" cy="8967788"/>
            <a:chOff x="0" y="0"/>
            <a:chExt cx="1587748" cy="1389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748" cy="1389345"/>
            </a:xfrm>
            <a:custGeom>
              <a:avLst/>
              <a:gdLst/>
              <a:ahLst/>
              <a:cxnLst/>
              <a:rect r="r" b="b" t="t" l="l"/>
              <a:pathLst>
                <a:path h="1389345" w="1587748">
                  <a:moveTo>
                    <a:pt x="37771" y="0"/>
                  </a:moveTo>
                  <a:lnTo>
                    <a:pt x="1549977" y="0"/>
                  </a:lnTo>
                  <a:cubicBezTo>
                    <a:pt x="1570837" y="0"/>
                    <a:pt x="1587748" y="16911"/>
                    <a:pt x="1587748" y="37771"/>
                  </a:cubicBezTo>
                  <a:lnTo>
                    <a:pt x="1587748" y="1351574"/>
                  </a:lnTo>
                  <a:cubicBezTo>
                    <a:pt x="1587748" y="1361591"/>
                    <a:pt x="1583769" y="1371198"/>
                    <a:pt x="1576685" y="1378282"/>
                  </a:cubicBezTo>
                  <a:cubicBezTo>
                    <a:pt x="1569602" y="1385366"/>
                    <a:pt x="1559994" y="1389345"/>
                    <a:pt x="1549977" y="1389345"/>
                  </a:cubicBezTo>
                  <a:lnTo>
                    <a:pt x="37771" y="1389345"/>
                  </a:lnTo>
                  <a:cubicBezTo>
                    <a:pt x="16911" y="1389345"/>
                    <a:pt x="0" y="1372434"/>
                    <a:pt x="0" y="1351574"/>
                  </a:cubicBezTo>
                  <a:lnTo>
                    <a:pt x="0" y="37771"/>
                  </a:lnTo>
                  <a:cubicBezTo>
                    <a:pt x="0" y="16911"/>
                    <a:pt x="16911" y="0"/>
                    <a:pt x="377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2543175"/>
            <a:ext cx="6886575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9600" spc="-96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Data Replication Techniques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5443085"/>
            <a:chOff x="0" y="0"/>
            <a:chExt cx="844084" cy="843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648" t="0" r="-6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5143500"/>
            <a:ext cx="5448300" cy="5443085"/>
            <a:chOff x="0" y="0"/>
            <a:chExt cx="844084" cy="843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648" t="0" r="-64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5143500"/>
            <a:ext cx="5448300" cy="5443085"/>
            <a:chOff x="0" y="0"/>
            <a:chExt cx="844084" cy="8432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648" t="0" r="-64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81038"/>
            <a:ext cx="16954500" cy="3274409"/>
            <a:chOff x="0" y="0"/>
            <a:chExt cx="22606000" cy="436587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333333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Replication Techniques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03753"/>
              <a:ext cx="149352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METHODS FOR DATA SYNCHRONIZATION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272408"/>
              <a:ext cx="14935200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Understanding replication techniques is crucial for maintaining data consistency and availability across multiple systems in retail banking environments.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42660"/>
            <a:ext cx="6886575" cy="2148840"/>
            <a:chOff x="0" y="0"/>
            <a:chExt cx="9182100" cy="2865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DISASTER RECOVERY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Data replication ensures rapid recovery during unexpected failures, minimizing downtime and providing a reliable backup to restore systems effectively and efficiently when needed.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152650"/>
            <a:chOff x="0" y="0"/>
            <a:chExt cx="9182100" cy="2870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IMPROVED PERFORMANCE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By distributing data across multiple locations, replication enhances access speed and performance, allowing for quicker data retrieval and reducing latency for end-users.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3524255"/>
            <a:chOff x="0" y="0"/>
            <a:chExt cx="22606000" cy="4699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3470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Benefits of Data Replication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206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ENSURING RELIABILITY AND PERFORMANCE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6711" y="666750"/>
            <a:ext cx="10248417" cy="8967788"/>
            <a:chOff x="0" y="0"/>
            <a:chExt cx="1587748" cy="1389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748" cy="1389345"/>
            </a:xfrm>
            <a:custGeom>
              <a:avLst/>
              <a:gdLst/>
              <a:ahLst/>
              <a:cxnLst/>
              <a:rect r="r" b="b" t="t" l="l"/>
              <a:pathLst>
                <a:path h="1389345" w="1587748">
                  <a:moveTo>
                    <a:pt x="37771" y="0"/>
                  </a:moveTo>
                  <a:lnTo>
                    <a:pt x="1549977" y="0"/>
                  </a:lnTo>
                  <a:cubicBezTo>
                    <a:pt x="1570837" y="0"/>
                    <a:pt x="1587748" y="16911"/>
                    <a:pt x="1587748" y="37771"/>
                  </a:cubicBezTo>
                  <a:lnTo>
                    <a:pt x="1587748" y="1351574"/>
                  </a:lnTo>
                  <a:cubicBezTo>
                    <a:pt x="1587748" y="1361591"/>
                    <a:pt x="1583769" y="1371198"/>
                    <a:pt x="1576685" y="1378282"/>
                  </a:cubicBezTo>
                  <a:cubicBezTo>
                    <a:pt x="1569602" y="1385366"/>
                    <a:pt x="1559994" y="1389345"/>
                    <a:pt x="1549977" y="1389345"/>
                  </a:cubicBezTo>
                  <a:lnTo>
                    <a:pt x="37771" y="1389345"/>
                  </a:lnTo>
                  <a:cubicBezTo>
                    <a:pt x="16911" y="1389345"/>
                    <a:pt x="0" y="1372434"/>
                    <a:pt x="0" y="1351574"/>
                  </a:cubicBezTo>
                  <a:lnTo>
                    <a:pt x="0" y="37771"/>
                  </a:lnTo>
                  <a:cubicBezTo>
                    <a:pt x="0" y="16911"/>
                    <a:pt x="16911" y="0"/>
                    <a:pt x="377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2543175"/>
            <a:ext cx="6886575" cy="356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sz="9600" spc="-96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Section 4: Data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5443085"/>
            <a:chOff x="0" y="0"/>
            <a:chExt cx="844084" cy="843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648" t="0" r="-6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5143500"/>
            <a:ext cx="5448300" cy="5443085"/>
            <a:chOff x="0" y="0"/>
            <a:chExt cx="844084" cy="843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648" t="0" r="-64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5143500"/>
            <a:ext cx="5448300" cy="5443085"/>
            <a:chOff x="0" y="0"/>
            <a:chExt cx="844084" cy="8432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648" t="0" r="-64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81038"/>
            <a:ext cx="16954500" cy="3693509"/>
            <a:chOff x="0" y="0"/>
            <a:chExt cx="22606000" cy="4924678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333333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Integration Strategies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03753"/>
              <a:ext cx="149352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EFFECTIVE DATA MANAGEMENT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272408"/>
              <a:ext cx="14935200" cy="165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data warehousing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data lakes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and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APIs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optimizes data storage, enhances accessibility, and ensures seamless integration across retail banking platforms.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42660"/>
            <a:ext cx="6886575" cy="2148840"/>
            <a:chOff x="0" y="0"/>
            <a:chExt cx="9182100" cy="2865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STANDARDIZING DATA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The </a:t>
              </a:r>
              <a:r>
                <a:rPr lang="en-US" b="true" sz="2400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process of standardizing data</a:t>
              </a: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ensures consistent formats, allowing for seamless integration and analysis, which enhances reliability across all banking applications and systems.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152650"/>
            <a:chOff x="0" y="0"/>
            <a:chExt cx="9182100" cy="2870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MANAGING CONFLICTS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Effective conflict management strategies are essential for maintaining data integrity, enabling swift resolution of discrepancies to preserve trust and accuracy in customer interactions.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381255"/>
            <a:chOff x="0" y="0"/>
            <a:chExt cx="22606000" cy="3175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Ensuring Data Consistency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82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STANDARDIZING DATA AND MANAGING CONFLICTS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6711" y="666750"/>
            <a:ext cx="10248417" cy="8967788"/>
            <a:chOff x="0" y="0"/>
            <a:chExt cx="1587748" cy="13893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7748" cy="1389345"/>
            </a:xfrm>
            <a:custGeom>
              <a:avLst/>
              <a:gdLst/>
              <a:ahLst/>
              <a:cxnLst/>
              <a:rect r="r" b="b" t="t" l="l"/>
              <a:pathLst>
                <a:path h="1389345" w="1587748">
                  <a:moveTo>
                    <a:pt x="37771" y="0"/>
                  </a:moveTo>
                  <a:lnTo>
                    <a:pt x="1549977" y="0"/>
                  </a:lnTo>
                  <a:cubicBezTo>
                    <a:pt x="1570837" y="0"/>
                    <a:pt x="1587748" y="16911"/>
                    <a:pt x="1587748" y="37771"/>
                  </a:cubicBezTo>
                  <a:lnTo>
                    <a:pt x="1587748" y="1351574"/>
                  </a:lnTo>
                  <a:cubicBezTo>
                    <a:pt x="1587748" y="1361591"/>
                    <a:pt x="1583769" y="1371198"/>
                    <a:pt x="1576685" y="1378282"/>
                  </a:cubicBezTo>
                  <a:cubicBezTo>
                    <a:pt x="1569602" y="1385366"/>
                    <a:pt x="1559994" y="1389345"/>
                    <a:pt x="1549977" y="1389345"/>
                  </a:cubicBezTo>
                  <a:lnTo>
                    <a:pt x="37771" y="1389345"/>
                  </a:lnTo>
                  <a:cubicBezTo>
                    <a:pt x="16911" y="1389345"/>
                    <a:pt x="0" y="1372434"/>
                    <a:pt x="0" y="1351574"/>
                  </a:cubicBezTo>
                  <a:lnTo>
                    <a:pt x="0" y="37771"/>
                  </a:lnTo>
                  <a:cubicBezTo>
                    <a:pt x="0" y="16911"/>
                    <a:pt x="16911" y="0"/>
                    <a:pt x="3777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4675" y="2533650"/>
            <a:ext cx="6886575" cy="313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27"/>
              </a:lnSpc>
              <a:spcBef>
                <a:spcPct val="0"/>
              </a:spcBef>
            </a:pPr>
            <a:r>
              <a:rPr lang="en-US" sz="8475" spc="-84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Personalized Content Delivery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143500"/>
            <a:ext cx="5448300" cy="5443085"/>
            <a:chOff x="0" y="0"/>
            <a:chExt cx="844084" cy="843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648" t="0" r="-64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19850" y="5143500"/>
            <a:ext cx="5448300" cy="5443085"/>
            <a:chOff x="0" y="0"/>
            <a:chExt cx="844084" cy="8432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648" t="0" r="-64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72950" y="5143500"/>
            <a:ext cx="5448300" cy="5443085"/>
            <a:chOff x="0" y="0"/>
            <a:chExt cx="844084" cy="8432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4084" cy="843276"/>
            </a:xfrm>
            <a:custGeom>
              <a:avLst/>
              <a:gdLst/>
              <a:ahLst/>
              <a:cxnLst/>
              <a:rect r="r" b="b" t="t" l="l"/>
              <a:pathLst>
                <a:path h="843276" w="844084">
                  <a:moveTo>
                    <a:pt x="71049" y="0"/>
                  </a:moveTo>
                  <a:lnTo>
                    <a:pt x="773035" y="0"/>
                  </a:lnTo>
                  <a:cubicBezTo>
                    <a:pt x="791879" y="0"/>
                    <a:pt x="809950" y="7485"/>
                    <a:pt x="823274" y="20810"/>
                  </a:cubicBezTo>
                  <a:cubicBezTo>
                    <a:pt x="836599" y="34134"/>
                    <a:pt x="844084" y="52206"/>
                    <a:pt x="844084" y="71049"/>
                  </a:cubicBezTo>
                  <a:lnTo>
                    <a:pt x="844084" y="772227"/>
                  </a:lnTo>
                  <a:cubicBezTo>
                    <a:pt x="844084" y="791071"/>
                    <a:pt x="836599" y="809142"/>
                    <a:pt x="823274" y="822467"/>
                  </a:cubicBezTo>
                  <a:cubicBezTo>
                    <a:pt x="809950" y="835791"/>
                    <a:pt x="791879" y="843276"/>
                    <a:pt x="773035" y="843276"/>
                  </a:cubicBezTo>
                  <a:lnTo>
                    <a:pt x="71049" y="843276"/>
                  </a:lnTo>
                  <a:cubicBezTo>
                    <a:pt x="52206" y="843276"/>
                    <a:pt x="34134" y="835791"/>
                    <a:pt x="20810" y="822467"/>
                  </a:cubicBezTo>
                  <a:cubicBezTo>
                    <a:pt x="7485" y="809142"/>
                    <a:pt x="0" y="791071"/>
                    <a:pt x="0" y="772227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648" t="0" r="-64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6750" y="681038"/>
            <a:ext cx="16954500" cy="3123504"/>
            <a:chOff x="0" y="0"/>
            <a:chExt cx="22606000" cy="416467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898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31"/>
                </a:lnSpc>
                <a:spcBef>
                  <a:spcPct val="0"/>
                </a:spcBef>
              </a:pPr>
              <a:r>
                <a:rPr lang="en-US" sz="9812" spc="-98" strike="noStrike" u="none">
                  <a:solidFill>
                    <a:srgbClr val="333333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Personalization Techniques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556128"/>
              <a:ext cx="14935200" cy="479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b="true" sz="2370" spc="118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TAILORED CUSTOMER EXPERIENCES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231133"/>
              <a:ext cx="14935200" cy="9335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3"/>
                </a:lnSpc>
                <a:spcBef>
                  <a:spcPct val="0"/>
                </a:spcBef>
              </a:pPr>
              <a:r>
                <a:rPr lang="en-US" sz="2059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</a:t>
              </a:r>
              <a:r>
                <a:rPr lang="en-US" b="true" sz="2059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segmentation</a:t>
              </a:r>
              <a:r>
                <a:rPr lang="en-US" sz="2059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recommendation engines, and predictive analytics ensures personalized content delivery enhances customer engagement and satisfaction in retail banking.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2447925"/>
            <a:ext cx="6886575" cy="330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sz="8100" strike="noStrike" u="none">
                <a:solidFill>
                  <a:srgbClr val="FFFFFF"/>
                </a:solidFill>
                <a:latin typeface="Antique Olive"/>
                <a:ea typeface="Antique Olive"/>
                <a:cs typeface="Antique Olive"/>
                <a:sym typeface="Antique Olive"/>
              </a:rPr>
              <a:t>Measuring Content Effectiveness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8886825"/>
            <a:ext cx="68865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pc="12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ANALYTICS DASHBOARD FOR PERFORMANCE INSIGHTS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404329" y="666750"/>
            <a:ext cx="10318877" cy="8953500"/>
            <a:chOff x="0" y="0"/>
            <a:chExt cx="1598664" cy="13871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8664" cy="1387131"/>
            </a:xfrm>
            <a:custGeom>
              <a:avLst/>
              <a:gdLst/>
              <a:ahLst/>
              <a:cxnLst/>
              <a:rect r="r" b="b" t="t" l="l"/>
              <a:pathLst>
                <a:path h="1387131" w="1598664">
                  <a:moveTo>
                    <a:pt x="37513" y="0"/>
                  </a:moveTo>
                  <a:lnTo>
                    <a:pt x="1561151" y="0"/>
                  </a:lnTo>
                  <a:cubicBezTo>
                    <a:pt x="1571100" y="0"/>
                    <a:pt x="1580642" y="3952"/>
                    <a:pt x="1587677" y="10987"/>
                  </a:cubicBezTo>
                  <a:cubicBezTo>
                    <a:pt x="1594712" y="18023"/>
                    <a:pt x="1598664" y="27564"/>
                    <a:pt x="1598664" y="37513"/>
                  </a:cubicBezTo>
                  <a:lnTo>
                    <a:pt x="1598664" y="1349618"/>
                  </a:lnTo>
                  <a:cubicBezTo>
                    <a:pt x="1598664" y="1359567"/>
                    <a:pt x="1594712" y="1369109"/>
                    <a:pt x="1587677" y="1376144"/>
                  </a:cubicBezTo>
                  <a:cubicBezTo>
                    <a:pt x="1580642" y="1383179"/>
                    <a:pt x="1571100" y="1387131"/>
                    <a:pt x="1561151" y="1387131"/>
                  </a:cubicBezTo>
                  <a:lnTo>
                    <a:pt x="37513" y="1387131"/>
                  </a:lnTo>
                  <a:cubicBezTo>
                    <a:pt x="16795" y="1387131"/>
                    <a:pt x="0" y="1370336"/>
                    <a:pt x="0" y="1349618"/>
                  </a:cubicBezTo>
                  <a:lnTo>
                    <a:pt x="0" y="37513"/>
                  </a:lnTo>
                  <a:cubicBezTo>
                    <a:pt x="0" y="27564"/>
                    <a:pt x="3952" y="18023"/>
                    <a:pt x="10987" y="10987"/>
                  </a:cubicBezTo>
                  <a:cubicBezTo>
                    <a:pt x="18023" y="3952"/>
                    <a:pt x="27564" y="0"/>
                    <a:pt x="37513" y="0"/>
                  </a:cubicBezTo>
                  <a:close/>
                </a:path>
              </a:pathLst>
            </a:custGeom>
            <a:blipFill>
              <a:blip r:embed="rId2"/>
              <a:stretch>
                <a:fillRect l="-227" t="0" r="-227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42660"/>
            <a:ext cx="6886575" cy="2148840"/>
            <a:chOff x="0" y="0"/>
            <a:chExt cx="9182100" cy="28651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AI-DRIVEN PERSONALIZATION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Artificial intelligence</a:t>
              </a: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can create tailored experiences for customers, analyzing behavior and preferences to deliver relevant content, enhancing engagement, and driving satisfaction levels.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152650"/>
            <a:chOff x="0" y="0"/>
            <a:chExt cx="9182100" cy="28702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REAL-TIME ANALYTICS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2211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</a:t>
              </a:r>
              <a:r>
                <a:rPr lang="en-US" b="true" sz="2400" u="none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real-time analytics</a:t>
              </a:r>
              <a:r>
                <a:rPr lang="en-US" sz="2400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allows banks to rapidly process data, enabling immediate insights and timely adjustments to marketing strategies, ensuring responsiveness to customer needs.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381255"/>
            <a:chOff x="0" y="0"/>
            <a:chExt cx="22606000" cy="3175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FFFF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Future Trends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82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FFFFFF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EXPLORING INNOVATION IN DATA DELIVERY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42660"/>
            <a:ext cx="6886575" cy="2567940"/>
            <a:chOff x="0" y="0"/>
            <a:chExt cx="9182100" cy="34239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CUSTOMER ENGAGEMENT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54050"/>
              <a:ext cx="91821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By leveraging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personalized data delivery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, banks can enhance customer engagement. Tailored content fosters stronger connections and increases customer satisfaction, leading to long-term loyalty.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2571750"/>
            <a:chOff x="0" y="0"/>
            <a:chExt cx="9182100" cy="342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BUSINESS GROWTH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59130"/>
              <a:ext cx="9182100" cy="2769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Utilizing effective data integration strategies drives </a:t>
              </a:r>
              <a:r>
                <a:rPr lang="en-US" b="true" sz="2400" u="none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business growth</a:t>
              </a:r>
              <a:r>
                <a:rPr lang="en-US" sz="2400" u="none">
                  <a:solidFill>
                    <a:srgbClr val="333333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in retail banking. Improved customer experiences and targeted marketing efforts translate into higher revenue and overall success.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381255"/>
            <a:chOff x="0" y="0"/>
            <a:chExt cx="22606000" cy="317500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5725"/>
              <a:ext cx="22606000" cy="19462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0"/>
                </a:lnSpc>
                <a:spcBef>
                  <a:spcPct val="0"/>
                </a:spcBef>
              </a:pPr>
              <a:r>
                <a:rPr lang="en-US" sz="10000" spc="-100" strike="noStrike" u="none">
                  <a:solidFill>
                    <a:srgbClr val="FF6600"/>
                  </a:solidFill>
                  <a:latin typeface="Antique Olive"/>
                  <a:ea typeface="Antique Olive"/>
                  <a:cs typeface="Antique Olive"/>
                  <a:sym typeface="Antique Olive"/>
                </a:rPr>
                <a:t>Conclusion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682881"/>
              <a:ext cx="2260600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pc="120">
                  <a:solidFill>
                    <a:srgbClr val="333333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ENHANCING CUSTOMER ENGAGEMENT AND GROWTH</a:t>
              </a:r>
            </a:p>
          </p:txBody>
        </p:sp>
      </p:grpSp>
      <p:sp>
        <p:nvSpPr>
          <p:cNvPr name="AutoShape 11" id="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750" y="681038"/>
            <a:ext cx="16954500" cy="0"/>
          </a:xfrm>
          <a:prstGeom prst="line">
            <a:avLst/>
          </a:prstGeom>
          <a:ln cap="rnd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DAHCQvi_P90</dc:identifier>
  <dcterms:modified xsi:type="dcterms:W3CDTF">2011-08-01T06:04:30Z</dcterms:modified>
  <cp:revision>1</cp:revision>
  <dc:title>Etl data integration </dc:title>
</cp:coreProperties>
</file>